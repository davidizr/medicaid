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83521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24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22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-1094.6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Deviance:                       1926.2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12:03:10   Pearson chi2:                 1.91e+03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T              0.8611      0.001   1268.717      0.000       0.860       0.862</a:t>
            </a:r>
          </a:p>
          <a:p>
            <a:pPr>
              <a:defRPr sz="800">
                <a:latin typeface="Consolas"/>
              </a:defRPr>
            </a:pPr>
            <a:r>
              <a:t>X_t           -0.1550   9.66e-05  -1605.653      0.000      -0.155      -0.155</a:t>
            </a:r>
          </a:p>
          <a:p>
            <a:pPr>
              <a:defRPr sz="800">
                <a:latin typeface="Consolas"/>
              </a:defRPr>
            </a:pPr>
            <a:r>
              <a:t>post_time     -0.8443      0.000  -2166.694      0.000      -0.845      -0.844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83521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>
                <a:latin typeface="Consolas"/>
              </a:defRPr>
            </a:pPr>
            <a:r>
              <a:t>Model could not be fit:</a:t>
            </a:r>
          </a:p>
          <a:p>
            <a:pPr>
              <a:defRPr sz="1200">
                <a:latin typeface="Consolas"/>
              </a:defRPr>
            </a:pPr>
            <a:r>
              <a:t>Singular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83521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5062575"/>
                <a:gridCol w="506257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8.54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10.79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8.48–8.59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10.73–10.85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86334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-4055.5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Deviance:                       7329.4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12:03:10   Pearson chi2:                 7.35e+03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-8.9823      0.003  -2855.866      0.000      -8.988      -8.976</a:t>
            </a:r>
          </a:p>
          <a:p>
            <a:pPr>
              <a:defRPr sz="800">
                <a:latin typeface="Consolas"/>
              </a:defRPr>
            </a:pPr>
            <a:r>
              <a:t>T              0.0066      0.000     46.081      0.000       0.006       0.007</a:t>
            </a:r>
          </a:p>
          <a:p>
            <a:pPr>
              <a:defRPr sz="800">
                <a:latin typeface="Consolas"/>
              </a:defRPr>
            </a:pPr>
            <a:r>
              <a:t>X_t            0.0395      0.004      9.506      0.000       0.031       0.048</a:t>
            </a:r>
          </a:p>
          <a:p>
            <a:pPr>
              <a:defRPr sz="800">
                <a:latin typeface="Consolas"/>
              </a:defRPr>
            </a:pPr>
            <a:r>
              <a:t>post_time     -0.0043      0.000    -21.499      0.000      -0.005      -0.004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86334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Pseudo R-squ.:                 0.05435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12:03:11   Log-Likelihood:                -586.60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-620.32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1.511e-14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-8.9897      0.029   -307.925      0.000      -9.047      -8.932</a:t>
            </a:r>
          </a:p>
          <a:p>
            <a:pPr>
              <a:defRPr sz="800">
                <a:latin typeface="Consolas"/>
              </a:defRPr>
            </a:pPr>
            <a:r>
              <a:t>T              0.0071      0.001      5.040      0.000       0.004       0.010</a:t>
            </a:r>
          </a:p>
          <a:p>
            <a:pPr>
              <a:defRPr sz="800">
                <a:latin typeface="Consolas"/>
              </a:defRPr>
            </a:pPr>
            <a:r>
              <a:t>X_t            0.0314      0.044      0.712      0.476      -0.055       0.118</a:t>
            </a:r>
          </a:p>
          <a:p>
            <a:pPr>
              <a:defRPr sz="800">
                <a:latin typeface="Consolas"/>
              </a:defRPr>
            </a:pPr>
            <a:r>
              <a:t>post_time     -0.0049      0.002     -2.345      0.019      -0.009      -0.001</a:t>
            </a:r>
          </a:p>
          <a:p>
            <a:pPr>
              <a:defRPr sz="800">
                <a:latin typeface="Consolas"/>
              </a:defRPr>
            </a:pPr>
            <a:r>
              <a:t>alpha          0.0080      0.001      5.823      0.000       0.005       0.011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86334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12.28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15.08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15.32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16.62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16.71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18.32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12.21–12.35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15.00–15.16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15.23–15.41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16.54–16.70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16.64–16.79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18.24–18.39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84165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-6450.8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Deviance:                       12075.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12:03:11   Pearson chi2:                 1.21e+04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-8.0869      0.002  -3845.280      0.000      -8.091      -8.083</a:t>
            </a:r>
          </a:p>
          <a:p>
            <a:pPr>
              <a:defRPr sz="800">
                <a:latin typeface="Consolas"/>
              </a:defRPr>
            </a:pPr>
            <a:r>
              <a:t>T             -0.0035      0.000    -34.399      0.000      -0.004      -0.003</a:t>
            </a:r>
          </a:p>
          <a:p>
            <a:pPr>
              <a:defRPr sz="800">
                <a:latin typeface="Consolas"/>
              </a:defRPr>
            </a:pPr>
            <a:r>
              <a:t>X_t            0.1267      0.003     41.140      0.000       0.121       0.133</a:t>
            </a:r>
          </a:p>
          <a:p>
            <a:pPr>
              <a:defRPr sz="800">
                <a:latin typeface="Consolas"/>
              </a:defRPr>
            </a:pPr>
            <a:r>
              <a:t>post_time      0.0046      0.000     32.107      0.000       0.004       0.005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84165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Pseudo R-squ.:                 0.01656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12:03:11   Log-Likelihood:                -625.47</a:t>
            </a:r>
          </a:p>
          <a:p>
            <a:pPr>
              <a:defRPr sz="800">
                <a:latin typeface="Consolas"/>
              </a:defRPr>
            </a:pPr>
            <a:r>
              <a:t>converged:                       True   LL-Null:                       -636.00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0.0001022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-8.0877      0.026   -310.436      0.000      -8.139      -8.037</a:t>
            </a:r>
          </a:p>
          <a:p>
            <a:pPr>
              <a:defRPr sz="800">
                <a:latin typeface="Consolas"/>
              </a:defRPr>
            </a:pPr>
            <a:r>
              <a:t>T             -0.0034      0.001     -2.769      0.006      -0.006      -0.001</a:t>
            </a:r>
          </a:p>
          <a:p>
            <a:pPr>
              <a:defRPr sz="800">
                <a:latin typeface="Consolas"/>
              </a:defRPr>
            </a:pPr>
            <a:r>
              <a:t>X_t            0.1292      0.040      3.247      0.001       0.051       0.207</a:t>
            </a:r>
          </a:p>
          <a:p>
            <a:pPr>
              <a:defRPr sz="800">
                <a:latin typeface="Consolas"/>
              </a:defRPr>
            </a:pPr>
            <a:r>
              <a:t>post_time      0.0045      0.002      2.355      0.019       0.001       0.008</a:t>
            </a:r>
          </a:p>
          <a:p>
            <a:pPr>
              <a:defRPr sz="800">
                <a:latin typeface="Consolas"/>
              </a:defRPr>
            </a:pPr>
            <a:r>
              <a:t>alpha          0.0067      0.001      5.846      0.000       0.004       0.009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84165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30.64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27.95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28.15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30.50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30.26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32.74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30.52–30.75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27.84–28.06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28.03–28.27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30.40–30.61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30.16–30.36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32.64–32.85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HCPCS 84155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-15283.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Deviance:                       29656.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12:03:12   Pearson chi2:                 3.02e+04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-6.9270      0.001  -5997.801      0.000      -6.929      -6.925</a:t>
            </a:r>
          </a:p>
          <a:p>
            <a:pPr>
              <a:defRPr sz="800">
                <a:latin typeface="Consolas"/>
              </a:defRPr>
            </a:pPr>
            <a:r>
              <a:t>T              0.0009   5.39e-05     16.761      0.000       0.001       0.001</a:t>
            </a:r>
          </a:p>
          <a:p>
            <a:pPr>
              <a:defRPr sz="800">
                <a:latin typeface="Consolas"/>
              </a:defRPr>
            </a:pPr>
            <a:r>
              <a:t>X_t            0.0667      0.002     40.526      0.000       0.063       0.070</a:t>
            </a:r>
          </a:p>
          <a:p>
            <a:pPr>
              <a:defRPr sz="800">
                <a:latin typeface="Consolas"/>
              </a:defRPr>
            </a:pPr>
            <a:r>
              <a:t>post_time     -0.0045   7.86e-05    -56.891      0.000      -0.005      -0.004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HCPCS 84155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Pseudo R-squ.:                0.007761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12:03:12   Log-Likelihood:                -696.73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-702.17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0.01228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-6.9276      0.022   -314.697      0.000      -6.971      -6.884</a:t>
            </a:r>
          </a:p>
          <a:p>
            <a:pPr>
              <a:defRPr sz="800">
                <a:latin typeface="Consolas"/>
              </a:defRPr>
            </a:pPr>
            <a:r>
              <a:t>T              0.0010      0.001      0.915      0.360      -0.001       0.003</a:t>
            </a:r>
          </a:p>
          <a:p>
            <a:pPr>
              <a:defRPr sz="800">
                <a:latin typeface="Consolas"/>
              </a:defRPr>
            </a:pPr>
            <a:r>
              <a:t>X_t            0.0665      0.034      1.980      0.048       0.001       0.132</a:t>
            </a:r>
          </a:p>
          <a:p>
            <a:pPr>
              <a:defRPr sz="800">
                <a:latin typeface="Consolas"/>
              </a:defRPr>
            </a:pPr>
            <a:r>
              <a:t>post_time     -0.0046      0.002     -2.906      0.004      -0.008      -0.002</a:t>
            </a:r>
          </a:p>
          <a:p>
            <a:pPr>
              <a:defRPr sz="800">
                <a:latin typeface="Consolas"/>
              </a:defRPr>
            </a:pPr>
            <a:r>
              <a:t>alpha          0.0047      0.001      5.864      0.000       0.003       0.006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HCPCS 84155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97.12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100.19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102.19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105.82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99.24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100.51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96.92–97.32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99.99–100.40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101.96–102.42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105.62–106.01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99.05–99.42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100.32–100.69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Poisson ITS (per 100,000 member-months): SPEP Aggregate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800">
                <a:latin typeface="Consolas"/>
              </a:defRPr>
            </a:pPr>
            <a:r>
              <a:t>Method:                          IRLS   Log-Likelihood:                -19086.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Deviance:                       37243.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12:03:12   Pearson chi2:                 3.77e+04</a:t>
            </a:r>
          </a:p>
          <a:p>
            <a:pPr>
              <a:defRPr sz="8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-6.6546      0.001  -6573.632      0.000      -6.657      -6.653</a:t>
            </a:r>
          </a:p>
          <a:p>
            <a:pPr>
              <a:defRPr sz="800">
                <a:latin typeface="Consolas"/>
              </a:defRPr>
            </a:pPr>
            <a:r>
              <a:t>T          -7.377e-05   4.75e-05     -1.553      0.120      -0.000    1.93e-05</a:t>
            </a:r>
          </a:p>
          <a:p>
            <a:pPr>
              <a:defRPr sz="800">
                <a:latin typeface="Consolas"/>
              </a:defRPr>
            </a:pPr>
            <a:r>
              <a:t>X_t            0.0795      0.001     54.810      0.000       0.077       0.082</a:t>
            </a:r>
          </a:p>
          <a:p>
            <a:pPr>
              <a:defRPr sz="800">
                <a:latin typeface="Consolas"/>
              </a:defRPr>
            </a:pPr>
            <a:r>
              <a:t>post_time     -0.0024    6.9e-05    -34.500      0.000      -0.003      -0.002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30936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Aptos"/>
              </a:defRPr>
            </a:pPr>
            <a:r>
              <a:t>Codes in aggregation: 84165, 84155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Normalized Negative Binomial ITS (per 100,000 member-months): SPEP Aggregate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640080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03720" y="914400"/>
            <a:ext cx="4937760" cy="5120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8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8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800">
                <a:latin typeface="Consolas"/>
              </a:defRPr>
            </a:pPr>
            <a:r>
              <a:t>Date:                Tue, 08 Sep 2026   Pseudo R-squ.:                0.005971</a:t>
            </a:r>
          </a:p>
          <a:p>
            <a:pPr>
              <a:defRPr sz="800">
                <a:latin typeface="Consolas"/>
              </a:defRPr>
            </a:pPr>
            <a:r>
              <a:t>Time:                        12:03:12   Log-Likelihood:                -713.99</a:t>
            </a:r>
          </a:p>
          <a:p>
            <a:pPr>
              <a:defRPr sz="800">
                <a:latin typeface="Consolas"/>
              </a:defRPr>
            </a:pPr>
            <a:r>
              <a:t>converged:                      False   LL-Null:                       -718.27</a:t>
            </a:r>
          </a:p>
          <a:p>
            <a:pPr>
              <a:defRPr sz="800">
                <a:latin typeface="Consolas"/>
              </a:defRPr>
            </a:pPr>
            <a:r>
              <a:t>Covariance Type:            nonrobust   LLR p-value:                   0.03548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8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8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800">
                <a:latin typeface="Consolas"/>
              </a:defRPr>
            </a:pPr>
            <a:r>
              <a:t>const         -6.6550      0.022   -306.413      0.000      -6.698      -6.612</a:t>
            </a:r>
          </a:p>
          <a:p>
            <a:pPr>
              <a:defRPr sz="800">
                <a:latin typeface="Consolas"/>
              </a:defRPr>
            </a:pPr>
            <a:r>
              <a:t>T          -4.107e-05      0.001     -0.040      0.968      -0.002       0.002</a:t>
            </a:r>
          </a:p>
          <a:p>
            <a:pPr>
              <a:defRPr sz="800">
                <a:latin typeface="Consolas"/>
              </a:defRPr>
            </a:pPr>
            <a:r>
              <a:t>X_t            0.0800      0.033      2.414      0.016       0.015       0.145</a:t>
            </a:r>
          </a:p>
          <a:p>
            <a:pPr>
              <a:defRPr sz="800">
                <a:latin typeface="Consolas"/>
              </a:defRPr>
            </a:pPr>
            <a:r>
              <a:t>post_time     -0.0025      0.002     -1.600      0.110      -0.006       0.001</a:t>
            </a:r>
          </a:p>
          <a:p>
            <a:pPr>
              <a:defRPr sz="800">
                <a:latin typeface="Consolas"/>
              </a:defRPr>
            </a:pPr>
            <a:r>
              <a:t>alpha          0.0046      0.001      5.867      0.000       0.003       0.006</a:t>
            </a:r>
          </a:p>
          <a:p>
            <a:pPr>
              <a:defRPr sz="8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309360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Aptos"/>
              </a:defRPr>
            </a:pPr>
            <a:r>
              <a:t>Codes in aggregation: 84165, 84155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516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latin typeface="Aptos"/>
              </a:defRPr>
            </a:pPr>
            <a:r>
              <a:t>Quarterly rate per 100,000 member-months: SPEP Aggregate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4305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" y="5742432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ptos"/>
              </a:defRPr>
            </a:pPr>
            <a:r>
              <a:t>Error bars show exact 95% Poisson confidence intervals. Codes in aggregation: 84165, 84155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961888"/>
            <a:ext cx="113138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latin typeface="Aptos"/>
              </a:defRPr>
            </a:pPr>
            <a:r>
              <a:t>Yearly rate per 100,000 member-months (exact 95% Poisson CIs):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6163056"/>
          <a:ext cx="11313870" cy="640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687525"/>
                <a:gridCol w="1687525"/>
                <a:gridCol w="1687525"/>
                <a:gridCol w="1687525"/>
                <a:gridCol w="1687525"/>
                <a:gridCol w="1687525"/>
              </a:tblGrid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25400" marR="25400" marT="12700" marB="12700">
                    <a:solidFill>
                      <a:srgbClr val="2638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2018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2019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2020</a:t>
                      </a:r>
                    </a:p>
                  </a:txBody>
                  <a:tcPr marL="25400" marR="25400" marT="12700" marB="127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2021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2022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Aptos"/>
                        </a:rPr>
                        <a:t>2023</a:t>
                      </a:r>
                    </a:p>
                  </a:txBody>
                  <a:tcPr marL="25400" marR="25400" marT="12700" marB="12700">
                    <a:solidFill>
                      <a:srgbClr val="F2DEDE"/>
                    </a:solidFill>
                  </a:tcPr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127.75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128.14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130.34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136.32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129.49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latin typeface="Aptos"/>
                        </a:rPr>
                        <a:t>133.25</a:t>
                      </a:r>
                    </a:p>
                  </a:txBody>
                  <a:tcPr marL="25400" marR="25400" marT="12700" marB="12700"/>
                </a:tc>
              </a:tr>
              <a:tr h="2133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95% CI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127.52–127.99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127.91–128.38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130.08–130.60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136.09–136.54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129.29–129.70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latin typeface="Aptos"/>
                        </a:rPr>
                        <a:t>133.04–133.46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