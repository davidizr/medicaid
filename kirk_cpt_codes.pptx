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Poisson ITS (per 100,000 member-months): HCPCS 93452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64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60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-405.50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Deviance:                       726.18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14:01:55   Pearson chi2:                 1.01e+03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6   Pseudo R-squ. (CS):             0.8337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-16.0117      0.132   -121.246      0.000     -16.271     -15.753</a:t>
            </a:r>
          </a:p>
          <a:p>
            <a:pPr>
              <a:defRPr sz="800">
                <a:latin typeface="Consolas"/>
              </a:defRPr>
            </a:pPr>
            <a:r>
              <a:t>T             -0.0475      0.008     -5.783      0.000      -0.064      -0.031</a:t>
            </a:r>
          </a:p>
          <a:p>
            <a:pPr>
              <a:defRPr sz="800">
                <a:latin typeface="Consolas"/>
              </a:defRPr>
            </a:pPr>
            <a:r>
              <a:t>X_t            2.2597      0.251      8.994      0.000       1.767       2.752</a:t>
            </a:r>
          </a:p>
          <a:p>
            <a:pPr>
              <a:defRPr sz="800">
                <a:latin typeface="Consolas"/>
              </a:defRPr>
            </a:pPr>
            <a:r>
              <a:t>post_time     -0.0349      0.013     -2.680      0.007      -0.060      -0.009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Negative Binomial ITS (per 100,000 member-months): HCPCS 93452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64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60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Pseudo R-squ.:                0.006169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14:01:56   Log-Likelihood:                -117.80</a:t>
            </a:r>
          </a:p>
          <a:p>
            <a:pPr>
              <a:defRPr sz="800">
                <a:latin typeface="Consolas"/>
              </a:defRPr>
            </a:pPr>
            <a:r>
              <a:t>converged:                       True   LL-Null:                       -118.53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   0.6910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-16.1450      0.960    -16.811      0.000     -18.027     -14.263</a:t>
            </a:r>
          </a:p>
          <a:p>
            <a:pPr>
              <a:defRPr sz="800">
                <a:latin typeface="Consolas"/>
              </a:defRPr>
            </a:pPr>
            <a:r>
              <a:t>T             -0.0390      0.044     -0.876      0.381      -0.126       0.048</a:t>
            </a:r>
          </a:p>
          <a:p>
            <a:pPr>
              <a:defRPr sz="800">
                <a:latin typeface="Consolas"/>
              </a:defRPr>
            </a:pPr>
            <a:r>
              <a:t>X_t            1.6341      1.427      1.146      0.252      -1.162       4.430</a:t>
            </a:r>
          </a:p>
          <a:p>
            <a:pPr>
              <a:defRPr sz="800">
                <a:latin typeface="Consolas"/>
              </a:defRPr>
            </a:pPr>
            <a:r>
              <a:t>post_time     -0.0070      0.069     -0.102      0.919      -0.142       0.128</a:t>
            </a:r>
          </a:p>
          <a:p>
            <a:pPr>
              <a:defRPr sz="800">
                <a:latin typeface="Consolas"/>
              </a:defRPr>
            </a:pPr>
            <a:r>
              <a:t>alpha         10.5080      3.000      3.503      0.000       4.628      16.388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Quarterly rate per 100,000 member-months: HCPCS 93452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0.0088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0.0035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0.0028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0.013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0.0015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0.0055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0.0069–0.011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0.0023–0.0049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0.0017–0.0043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0.011–0.015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0.0009–0.0024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0.0039–0.0075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Poisson ITS (per 100,000 member-months): HCPCS 93456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25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21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-64.541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Deviance:                       111.36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14:01:56   Pearson chi2:                     121.</a:t>
            </a:r>
          </a:p>
          <a:p>
            <a:pPr>
              <a:defRPr sz="800">
                <a:latin typeface="Consolas"/>
              </a:defRPr>
            </a:pPr>
            <a:r>
              <a:t>No. Iterations:                   100   Pseudo R-squ. (CS):             0.9624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-15.5679      0.277    -56.124      0.000     -16.112     -15.024</a:t>
            </a:r>
          </a:p>
          <a:p>
            <a:pPr>
              <a:defRPr sz="800">
                <a:latin typeface="Consolas"/>
              </a:defRPr>
            </a:pPr>
            <a:r>
              <a:t>T             -5.2374      0.021   -248.746      0.000      -5.279      -5.196</a:t>
            </a:r>
          </a:p>
          <a:p>
            <a:pPr>
              <a:defRPr sz="800">
                <a:latin typeface="Consolas"/>
              </a:defRPr>
            </a:pPr>
            <a:r>
              <a:t>X_t           77.0968      0.367    209.787      0.000      76.377      77.817</a:t>
            </a:r>
          </a:p>
          <a:p>
            <a:pPr>
              <a:defRPr sz="800">
                <a:latin typeface="Consolas"/>
              </a:defRPr>
            </a:pPr>
            <a:r>
              <a:t>post_time      5.2266      0.050    103.661      0.000       5.128       5.325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Negative Binomial ITS (per 100,000 member-months): HCPCS 93456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25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21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Pseudo R-squ.:                     nan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14:01:56   Log-Likelihood:                    nan</a:t>
            </a:r>
          </a:p>
          <a:p>
            <a:pPr>
              <a:defRPr sz="800">
                <a:latin typeface="Consolas"/>
              </a:defRPr>
            </a:pPr>
            <a:r>
              <a:t>converged:                      False   LL-Null:                       -27.623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      nan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-15.5631      1.218    -12.780      0.000     -17.950     -13.176</a:t>
            </a:r>
          </a:p>
          <a:p>
            <a:pPr>
              <a:defRPr sz="800">
                <a:latin typeface="Consolas"/>
              </a:defRPr>
            </a:pPr>
            <a:r>
              <a:t>T            -14.2538    346.170     -0.041      0.967    -692.735     664.227</a:t>
            </a:r>
          </a:p>
          <a:p>
            <a:pPr>
              <a:defRPr sz="800">
                <a:latin typeface="Consolas"/>
              </a:defRPr>
            </a:pPr>
            <a:r>
              <a:t>X_t          212.4353   5192.550      0.041      0.967   -9964.776    1.04e+04</a:t>
            </a:r>
          </a:p>
          <a:p>
            <a:pPr>
              <a:defRPr sz="800">
                <a:latin typeface="Consolas"/>
              </a:defRPr>
            </a:pPr>
            <a:r>
              <a:t>post_time     14.2570    346.170      0.041      0.967    -664.224     692.738</a:t>
            </a:r>
          </a:p>
          <a:p>
            <a:pPr>
              <a:defRPr sz="800">
                <a:latin typeface="Consolas"/>
              </a:defRPr>
            </a:pPr>
            <a:r>
              <a:t>alpha          1.4061      0.443      3.171      0.002       0.537       2.275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Quarterly rate per 100,000 member-months: HCPCS 93456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68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1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1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12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0.0087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0.0026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0.0070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0.0046–0.015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0–0.0005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0.0017–0.0037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0.0038–0.012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Poisson ITS (per 100,000 member-months): HCPCS 93460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67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63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-724.18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Deviance:                       1267.0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14:01:57   Pearson chi2:                 1.20e+03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5   Pseudo R-squ. (CS):             0.6037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-15.1130      0.082   -184.986      0.000     -15.273     -14.953</a:t>
            </a:r>
          </a:p>
          <a:p>
            <a:pPr>
              <a:defRPr sz="800">
                <a:latin typeface="Consolas"/>
              </a:defRPr>
            </a:pPr>
            <a:r>
              <a:t>T             -0.0368      0.005     -7.599      0.000      -0.046      -0.027</a:t>
            </a:r>
          </a:p>
          <a:p>
            <a:pPr>
              <a:defRPr sz="800">
                <a:latin typeface="Consolas"/>
              </a:defRPr>
            </a:pPr>
            <a:r>
              <a:t>X_t            0.7657      0.153      5.007      0.000       0.466       1.065</a:t>
            </a:r>
          </a:p>
          <a:p>
            <a:pPr>
              <a:defRPr sz="800">
                <a:latin typeface="Consolas"/>
              </a:defRPr>
            </a:pPr>
            <a:r>
              <a:t>post_time      0.0384      0.007      5.653      0.000       0.025       0.052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Negative Binomial ITS (per 100,000 member-months): HCPCS 93460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67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63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Pseudo R-squ.:                0.003553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14:01:57   Log-Likelihood:                -215.53</a:t>
            </a:r>
          </a:p>
          <a:p>
            <a:pPr>
              <a:defRPr sz="800">
                <a:latin typeface="Consolas"/>
              </a:defRPr>
            </a:pPr>
            <a:r>
              <a:t>converged:                       True   LL-Null:                       -216.30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   0.6737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-14.9904      0.696    -21.531      0.000     -16.355     -13.626</a:t>
            </a:r>
          </a:p>
          <a:p>
            <a:pPr>
              <a:defRPr sz="800">
                <a:latin typeface="Consolas"/>
              </a:defRPr>
            </a:pPr>
            <a:r>
              <a:t>T             -0.0444      0.035     -1.259      0.208      -0.114       0.025</a:t>
            </a:r>
          </a:p>
          <a:p>
            <a:pPr>
              <a:defRPr sz="800">
                <a:latin typeface="Consolas"/>
              </a:defRPr>
            </a:pPr>
            <a:r>
              <a:t>X_t            0.9444      0.985      0.958      0.338      -0.987       2.876</a:t>
            </a:r>
          </a:p>
          <a:p>
            <a:pPr>
              <a:defRPr sz="800">
                <a:latin typeface="Consolas"/>
              </a:defRPr>
            </a:pPr>
            <a:r>
              <a:t>post_time      0.0446      0.048      0.937      0.349      -0.049       0.138</a:t>
            </a:r>
          </a:p>
          <a:p>
            <a:pPr>
              <a:defRPr sz="800">
                <a:latin typeface="Consolas"/>
              </a:defRPr>
            </a:pPr>
            <a:r>
              <a:t>alpha          3.8506      0.807      4.774      0.000       2.270       5.431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Quarterly rate per 100,000 member-months: HCPCS 93460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0.020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0.019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0.0093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0.016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0.0089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0.021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0.017–0.023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0.016–0.022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0.0072–0.012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0.014–0.018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0.0072–0.011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0.019–0.024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Poisson ITS (per 100,000 member-months): HCPCS 84484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-77793.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Deviance:                   1.5456e+05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14:01:57   Pearson chi2:                 1.55e+05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-5.3289      0.001  -1.03e+04      0.000      -5.330      -5.328</a:t>
            </a:r>
          </a:p>
          <a:p>
            <a:pPr>
              <a:defRPr sz="800">
                <a:latin typeface="Consolas"/>
              </a:defRPr>
            </a:pPr>
            <a:r>
              <a:t>T              0.0012   2.42e-05     48.238      0.000       0.001       0.001</a:t>
            </a:r>
          </a:p>
          <a:p>
            <a:pPr>
              <a:defRPr sz="800">
                <a:latin typeface="Consolas"/>
              </a:defRPr>
            </a:pPr>
            <a:r>
              <a:t>X_t            0.0370      0.001     50.238      0.000       0.036       0.038</a:t>
            </a:r>
          </a:p>
          <a:p>
            <a:pPr>
              <a:defRPr sz="800">
                <a:latin typeface="Consolas"/>
              </a:defRPr>
            </a:pPr>
            <a:r>
              <a:t>post_time     -0.0016    3.5e-05    -44.715      0.000      -0.002      -0.001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Negative Binomial ITS (per 100,000 member-months): HCPCS 84484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Pseudo R-squ.:                0.005583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14:01:58   Log-Likelihood:                -813.34</a:t>
            </a:r>
          </a:p>
          <a:p>
            <a:pPr>
              <a:defRPr sz="800">
                <a:latin typeface="Consolas"/>
              </a:defRPr>
            </a:pPr>
            <a:r>
              <a:t>converged:                      False   LL-Null:                       -817.91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  0.02757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-5.3315      0.024   -222.237      0.000      -5.379      -5.285</a:t>
            </a:r>
          </a:p>
          <a:p>
            <a:pPr>
              <a:defRPr sz="800">
                <a:latin typeface="Consolas"/>
              </a:defRPr>
            </a:pPr>
            <a:r>
              <a:t>T              0.0014      0.001      1.237      0.216      -0.001       0.004</a:t>
            </a:r>
          </a:p>
          <a:p>
            <a:pPr>
              <a:defRPr sz="800">
                <a:latin typeface="Consolas"/>
              </a:defRPr>
            </a:pPr>
            <a:r>
              <a:t>X_t            0.0318      0.036      0.880      0.379      -0.039       0.103</a:t>
            </a:r>
          </a:p>
          <a:p>
            <a:pPr>
              <a:defRPr sz="800">
                <a:latin typeface="Consolas"/>
              </a:defRPr>
            </a:pPr>
            <a:r>
              <a:t>post_time     -0.0019      0.002     -1.111      0.266      -0.005       0.001</a:t>
            </a:r>
          </a:p>
          <a:p>
            <a:pPr>
              <a:defRPr sz="800">
                <a:latin typeface="Consolas"/>
              </a:defRPr>
            </a:pPr>
            <a:r>
              <a:t>alpha          0.0055      0.001      5.876      0.000       0.004       0.007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Quarterly rate per 100,000 member-months: HCPCS 84484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457.99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539.78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492.49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521.90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505.21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530.67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457.55–458.43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539.30–540.26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491.98–493.00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521.47–522.34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504.80–505.63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530.25–531.09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Poisson ITS (per 100,000 member-months): HCPCS 84512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-1513.0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Deviance:                       2470.2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14:01:58   Pearson chi2:                 2.52e+03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-11.1433      0.011  -1045.024      0.000     -11.164     -11.122</a:t>
            </a:r>
          </a:p>
          <a:p>
            <a:pPr>
              <a:defRPr sz="800">
                <a:latin typeface="Consolas"/>
              </a:defRPr>
            </a:pPr>
            <a:r>
              <a:t>T             -0.0261      0.001    -44.958      0.000      -0.027      -0.025</a:t>
            </a:r>
          </a:p>
          <a:p>
            <a:pPr>
              <a:defRPr sz="800">
                <a:latin typeface="Consolas"/>
              </a:defRPr>
            </a:pPr>
            <a:r>
              <a:t>X_t           -0.1943      0.023     -8.475      0.000      -0.239      -0.149</a:t>
            </a:r>
          </a:p>
          <a:p>
            <a:pPr>
              <a:defRPr sz="800">
                <a:latin typeface="Consolas"/>
              </a:defRPr>
            </a:pPr>
            <a:r>
              <a:t>post_time      0.0193      0.001     17.900      0.000       0.017       0.021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Negative Binomial ITS (per 100,000 member-months): HCPCS 84512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Pseudo R-squ.:                  0.1128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14:01:58   Log-Likelihood:                -431.31</a:t>
            </a:r>
          </a:p>
          <a:p>
            <a:pPr>
              <a:defRPr sz="800">
                <a:latin typeface="Consolas"/>
              </a:defRPr>
            </a:pPr>
            <a:r>
              <a:t>converged:                       True   LL-Null:                       -486.17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1.257e-23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-11.0383      0.086   -128.474      0.000     -11.207     -10.870</a:t>
            </a:r>
          </a:p>
          <a:p>
            <a:pPr>
              <a:defRPr sz="800">
                <a:latin typeface="Consolas"/>
              </a:defRPr>
            </a:pPr>
            <a:r>
              <a:t>T             -0.0320      0.004     -7.539      0.000      -0.040      -0.024</a:t>
            </a:r>
          </a:p>
          <a:p>
            <a:pPr>
              <a:defRPr sz="800">
                <a:latin typeface="Consolas"/>
              </a:defRPr>
            </a:pPr>
            <a:r>
              <a:t>X_t           -0.0805      0.127     -0.636      0.524      -0.328       0.167</a:t>
            </a:r>
          </a:p>
          <a:p>
            <a:pPr>
              <a:defRPr sz="800">
                <a:latin typeface="Consolas"/>
              </a:defRPr>
            </a:pPr>
            <a:r>
              <a:t>post_time      0.0253      0.006      4.166      0.000       0.013       0.037</a:t>
            </a:r>
          </a:p>
          <a:p>
            <a:pPr>
              <a:defRPr sz="800">
                <a:latin typeface="Consolas"/>
              </a:defRPr>
            </a:pPr>
            <a:r>
              <a:t>alpha          0.0594      0.010      5.753      0.000       0.039       0.080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Quarterly rate per 100,000 member-months: HCPCS 84512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1.10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1.19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0.568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0.424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0.403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0.381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1.08–1.12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1.17–1.22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0.550–0.585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0.412–0.437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0.391–0.415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0.370–0.392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Poisson ITS (per 100,000 member-months): HCPCS 75571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-1190.0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Deviance:                       2012.2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14:01:59   Pearson chi2:                 2.14e+03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-14.6354      0.056   -259.556      0.000     -14.746     -14.525</a:t>
            </a:r>
          </a:p>
          <a:p>
            <a:pPr>
              <a:defRPr sz="800">
                <a:latin typeface="Consolas"/>
              </a:defRPr>
            </a:pPr>
            <a:r>
              <a:t>T             -0.0068      0.003     -2.471      0.013      -0.012      -0.001</a:t>
            </a:r>
          </a:p>
          <a:p>
            <a:pPr>
              <a:defRPr sz="800">
                <a:latin typeface="Consolas"/>
              </a:defRPr>
            </a:pPr>
            <a:r>
              <a:t>X_t            0.7434      0.074     10.061      0.000       0.599       0.888</a:t>
            </a:r>
          </a:p>
          <a:p>
            <a:pPr>
              <a:defRPr sz="800">
                <a:latin typeface="Consolas"/>
              </a:defRPr>
            </a:pPr>
            <a:r>
              <a:t>post_time      0.0265      0.003      8.069      0.000       0.020       0.033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Negative Binomial ITS (per 100,000 member-months): HCPCS 75571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Pseudo R-squ.:                 0.02988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14:01:59   Log-Likelihood:                -342.18</a:t>
            </a:r>
          </a:p>
          <a:p>
            <a:pPr>
              <a:defRPr sz="800">
                <a:latin typeface="Consolas"/>
              </a:defRPr>
            </a:pPr>
            <a:r>
              <a:t>converged:                       True   LL-Null:                       -352.72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0.0001015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-14.6073      0.294    -49.609      0.000     -15.184     -14.030</a:t>
            </a:r>
          </a:p>
          <a:p>
            <a:pPr>
              <a:defRPr sz="800">
                <a:latin typeface="Consolas"/>
              </a:defRPr>
            </a:pPr>
            <a:r>
              <a:t>T             -0.0080      0.015     -0.546      0.585      -0.037       0.021</a:t>
            </a:r>
          </a:p>
          <a:p>
            <a:pPr>
              <a:defRPr sz="800">
                <a:latin typeface="Consolas"/>
              </a:defRPr>
            </a:pPr>
            <a:r>
              <a:t>X_t            0.8761      0.407      2.153      0.031       0.079       1.674</a:t>
            </a:r>
          </a:p>
          <a:p>
            <a:pPr>
              <a:defRPr sz="800">
                <a:latin typeface="Consolas"/>
              </a:defRPr>
            </a:pPr>
            <a:r>
              <a:t>post_time      0.0218      0.019      1.137      0.255      -0.016       0.059</a:t>
            </a:r>
          </a:p>
          <a:p>
            <a:pPr>
              <a:defRPr sz="800">
                <a:latin typeface="Consolas"/>
              </a:defRPr>
            </a:pPr>
            <a:r>
              <a:t>alpha          0.6614      0.120      5.523      0.000       0.427       0.896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Quarterly rate per 100,000 member-months: HCPCS 75571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0.028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0.063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0.031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0.087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0.060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0.149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0.025–0.032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0.058–0.068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0.027–0.035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0.082–0.093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0.056–0.065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0.142–0.156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Poisson ITS (per 100,000 member-months): Heart Catheterization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68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64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-794.85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Deviance:                       1366.7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14:01:59   Pearson chi2:                 1.20e+03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5   Pseudo R-squ. (CS):             0.8271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-14.8517      0.070   -212.224      0.000     -14.989     -14.715</a:t>
            </a:r>
          </a:p>
          <a:p>
            <a:pPr>
              <a:defRPr sz="800">
                <a:latin typeface="Consolas"/>
              </a:defRPr>
            </a:pPr>
            <a:r>
              <a:t>T             -0.0330      0.004     -8.302      0.000      -0.041      -0.025</a:t>
            </a:r>
          </a:p>
          <a:p>
            <a:pPr>
              <a:defRPr sz="800">
                <a:latin typeface="Consolas"/>
              </a:defRPr>
            </a:pPr>
            <a:r>
              <a:t>X_t            1.2133      0.123      9.882      0.000       0.973       1.454</a:t>
            </a:r>
          </a:p>
          <a:p>
            <a:pPr>
              <a:defRPr sz="800">
                <a:latin typeface="Consolas"/>
              </a:defRPr>
            </a:pPr>
            <a:r>
              <a:t>post_time      0.0067      0.006      1.182      0.237      -0.004       0.018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309360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Aptos"/>
              </a:defRPr>
            </a:pPr>
            <a:r>
              <a:t>Codes in aggregation: 93541, 93452, 93453, 93456, 93457, 93460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Normalized Negative Binomial ITS (per 100,000 member-months): Heart Catheterization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68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64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Thu, 03 Sep 2026   Pseudo R-squ.:                0.004823</a:t>
            </a:r>
          </a:p>
          <a:p>
            <a:pPr>
              <a:defRPr sz="800">
                <a:latin typeface="Consolas"/>
              </a:defRPr>
            </a:pPr>
            <a:r>
              <a:t>Time:                        14:01:59   Log-Likelihood:                -251.18</a:t>
            </a:r>
          </a:p>
          <a:p>
            <a:pPr>
              <a:defRPr sz="800">
                <a:latin typeface="Consolas"/>
              </a:defRPr>
            </a:pPr>
            <a:r>
              <a:t>converged:                       True   LL-Null:                       -252.39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   0.4872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-14.7726      0.562    -26.282      0.000     -15.874     -13.671</a:t>
            </a:r>
          </a:p>
          <a:p>
            <a:pPr>
              <a:defRPr sz="800">
                <a:latin typeface="Consolas"/>
              </a:defRPr>
            </a:pPr>
            <a:r>
              <a:t>T             -0.0376      0.027     -1.370      0.171      -0.091       0.016</a:t>
            </a:r>
          </a:p>
          <a:p>
            <a:pPr>
              <a:defRPr sz="800">
                <a:latin typeface="Consolas"/>
              </a:defRPr>
            </a:pPr>
            <a:r>
              <a:t>X_t            1.2174      0.802      1.517      0.129      -0.355       2.790</a:t>
            </a:r>
          </a:p>
          <a:p>
            <a:pPr>
              <a:defRPr sz="800">
                <a:latin typeface="Consolas"/>
              </a:defRPr>
            </a:pPr>
            <a:r>
              <a:t>post_time      0.0172      0.038      0.453      0.651      -0.057       0.092</a:t>
            </a:r>
          </a:p>
          <a:p>
            <a:pPr>
              <a:defRPr sz="800">
                <a:latin typeface="Consolas"/>
              </a:defRPr>
            </a:pPr>
            <a:r>
              <a:t>alpha          2.7365      0.540      5.063      0.000       1.677       3.796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309360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Aptos"/>
              </a:defRPr>
            </a:pPr>
            <a:r>
              <a:t>Codes in aggregation: 93541, 93452, 93453, 93456, 93457, 93460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Quarterly rate per 100,000 member-months: Heart Catheterization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 Codes in aggregation: 93541, 93452, 93453, 93456, 93457, 93460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7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0.027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0.024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0.012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0.031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0.012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0.025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0.024–0.031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0.021–0.027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0.0097–0.015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0.028–0.035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0.0096–0.014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0.022–0.028</a:t>
                      </a:r>
                    </a:p>
                  </a:txBody>
                  <a:tcPr marL="25400" marR="25400" marT="12700" marB="12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2415</Words>
  <Application>Microsoft Office PowerPoint</Application>
  <PresentationFormat>Widescreen</PresentationFormat>
  <Paragraphs>437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Izrailov</cp:lastModifiedBy>
  <cp:revision>1</cp:revision>
  <dcterms:created xsi:type="dcterms:W3CDTF">2013-01-27T09:14:16Z</dcterms:created>
  <dcterms:modified xsi:type="dcterms:W3CDTF">2026-09-03T18:08:20Z</dcterms:modified>
  <cp:category/>
</cp:coreProperties>
</file>