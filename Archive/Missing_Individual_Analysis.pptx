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88356 - Morphometric analysis for nerve density (specifically for intra-epidermal nerve fiber density)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-841.44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    1109.2</a:t>
            </a:r>
          </a:p>
          <a:p>
            <a:pPr>
              <a:defRPr sz="700">
                <a:latin typeface="Consolas"/>
              </a:defRPr>
            </a:pPr>
            <a:r>
              <a:t>Time:                        18:06:50   Pearson chi2:                 1.11e+03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-11.0808      0.011  -1007.076      0.000     -11.102     -11.059</a:t>
            </a:r>
          </a:p>
          <a:p>
            <a:pPr>
              <a:defRPr sz="700">
                <a:latin typeface="Consolas"/>
              </a:defRPr>
            </a:pPr>
            <a:r>
              <a:t>T             -0.0422      0.001    -63.810      0.000      -0.043      -0.041</a:t>
            </a:r>
          </a:p>
          <a:p>
            <a:pPr>
              <a:defRPr sz="700">
                <a:latin typeface="Consolas"/>
              </a:defRPr>
            </a:pPr>
            <a:r>
              <a:t>X_t           -0.1662      0.027     -6.050      0.000      -0.220      -0.112</a:t>
            </a:r>
          </a:p>
          <a:p>
            <a:pPr>
              <a:defRPr sz="700">
                <a:latin typeface="Consolas"/>
              </a:defRPr>
            </a:pPr>
            <a:r>
              <a:t>post_time      0.0347      0.001     30.119      0.000       0.032       0.037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88356 - Morphometric analysis for nerve density (specifically for intra-epidermal nerve fiber density)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  0.1906</a:t>
            </a:r>
          </a:p>
          <a:p>
            <a:pPr>
              <a:defRPr sz="700">
                <a:latin typeface="Consolas"/>
              </a:defRPr>
            </a:pPr>
            <a:r>
              <a:t>Time:                        18:06:50   Log-Likelihood:                -420.55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-519.57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1.113e-42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-11.0789      0.061   -180.275      0.000     -11.199     -10.958</a:t>
            </a:r>
          </a:p>
          <a:p>
            <a:pPr>
              <a:defRPr sz="700">
                <a:latin typeface="Consolas"/>
              </a:defRPr>
            </a:pPr>
            <a:r>
              <a:t>T             -0.0422      0.003    -14.192      0.000      -0.048      -0.036</a:t>
            </a:r>
          </a:p>
          <a:p>
            <a:pPr>
              <a:defRPr sz="700">
                <a:latin typeface="Consolas"/>
              </a:defRPr>
            </a:pPr>
            <a:r>
              <a:t>X_t           -0.1720      0.091     -1.883      0.060      -0.351       0.007</a:t>
            </a:r>
          </a:p>
          <a:p>
            <a:pPr>
              <a:defRPr sz="700">
                <a:latin typeface="Consolas"/>
              </a:defRPr>
            </a:pPr>
            <a:r>
              <a:t>post_time      0.0350      0.004      8.779      0.000       0.027       0.043</a:t>
            </a:r>
          </a:p>
          <a:p>
            <a:pPr>
              <a:defRPr sz="700">
                <a:latin typeface="Consolas"/>
              </a:defRPr>
            </a:pPr>
            <a:r>
              <a:t>alpha          0.0352      0.006      5.639      0.000       0.023       0.047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88341 - Immunohistochemistry stains often used to visualize nerve fibers (e.g., PGP 9.5)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-7965.8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    15083.</a:t>
            </a:r>
          </a:p>
          <a:p>
            <a:pPr>
              <a:defRPr sz="700">
                <a:latin typeface="Consolas"/>
              </a:defRPr>
            </a:pPr>
            <a:r>
              <a:t>Time:                        18:06:51   Pearson chi2:                 1.51e+04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-9.1124      0.003  -2764.636      0.000      -9.119      -9.106</a:t>
            </a:r>
          </a:p>
          <a:p>
            <a:pPr>
              <a:defRPr sz="700">
                <a:latin typeface="Consolas"/>
              </a:defRPr>
            </a:pPr>
            <a:r>
              <a:t>T              0.0105      0.000     71.550      0.000       0.010       0.011</a:t>
            </a:r>
          </a:p>
          <a:p>
            <a:pPr>
              <a:defRPr sz="700">
                <a:latin typeface="Consolas"/>
              </a:defRPr>
            </a:pPr>
            <a:r>
              <a:t>X_t            0.0526      0.004     13.144      0.000       0.045       0.060</a:t>
            </a:r>
          </a:p>
          <a:p>
            <a:pPr>
              <a:defRPr sz="700">
                <a:latin typeface="Consolas"/>
              </a:defRPr>
            </a:pPr>
            <a:r>
              <a:t>post_time     -0.0087      0.000    -47.715      0.000      -0.009      -0.008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88341 - Immunohistochemistry stains often used to visualize nerve fibers (e.g., PGP 9.5)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 0.05557</a:t>
            </a:r>
          </a:p>
          <a:p>
            <a:pPr>
              <a:defRPr sz="700">
                <a:latin typeface="Consolas"/>
              </a:defRPr>
            </a:pPr>
            <a:r>
              <a:t>Time:                        18:06:51   Log-Likelihood:                -659.72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-698.54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9.876e-17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-9.1192      0.039   -232.634      0.000      -9.196      -9.042</a:t>
            </a:r>
          </a:p>
          <a:p>
            <a:pPr>
              <a:defRPr sz="700">
                <a:latin typeface="Consolas"/>
              </a:defRPr>
            </a:pPr>
            <a:r>
              <a:t>T              0.0109      0.002      5.805      0.000       0.007       0.015</a:t>
            </a:r>
          </a:p>
          <a:p>
            <a:pPr>
              <a:defRPr sz="700">
                <a:latin typeface="Consolas"/>
              </a:defRPr>
            </a:pPr>
            <a:r>
              <a:t>X_t            0.0489      0.057      0.860      0.390      -0.062       0.160</a:t>
            </a:r>
          </a:p>
          <a:p>
            <a:pPr>
              <a:defRPr sz="700">
                <a:latin typeface="Consolas"/>
              </a:defRPr>
            </a:pPr>
            <a:r>
              <a:t>post_time     -0.0093      0.002     -3.738      0.000      -0.014      -0.004</a:t>
            </a:r>
          </a:p>
          <a:p>
            <a:pPr>
              <a:defRPr sz="700">
                <a:latin typeface="Consolas"/>
              </a:defRPr>
            </a:pPr>
            <a:r>
              <a:t>alpha          0.0147      0.002      6.106      0.000       0.010       0.019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88344 - immunocytochemistry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-705.99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    808.48</a:t>
            </a:r>
          </a:p>
          <a:p>
            <a:pPr>
              <a:defRPr sz="700">
                <a:latin typeface="Consolas"/>
              </a:defRPr>
            </a:pPr>
            <a:r>
              <a:t>Time:                        18:06:52   Pearson chi2:                     811.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-12.2411      0.016   -744.600      0.000     -12.273     -12.209</a:t>
            </a:r>
          </a:p>
          <a:p>
            <a:pPr>
              <a:defRPr sz="700">
                <a:latin typeface="Consolas"/>
              </a:defRPr>
            </a:pPr>
            <a:r>
              <a:t>T              0.0012      0.001      1.579      0.114      -0.000       0.003</a:t>
            </a:r>
          </a:p>
          <a:p>
            <a:pPr>
              <a:defRPr sz="700">
                <a:latin typeface="Consolas"/>
              </a:defRPr>
            </a:pPr>
            <a:r>
              <a:t>X_t            0.3359      0.021     15.879      0.000       0.294       0.377</a:t>
            </a:r>
          </a:p>
          <a:p>
            <a:pPr>
              <a:defRPr sz="700">
                <a:latin typeface="Consolas"/>
              </a:defRPr>
            </a:pPr>
            <a:r>
              <a:t>post_time     -0.0024      0.001     -2.581      0.010      -0.004      -0.001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88344 - immunocytochemistry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 0.06678</a:t>
            </a:r>
          </a:p>
          <a:p>
            <a:pPr>
              <a:defRPr sz="700">
                <a:latin typeface="Consolas"/>
              </a:defRPr>
            </a:pPr>
            <a:r>
              <a:t>Time:                        18:06:52   Log-Likelihood:                -429.11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-459.81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2.930e-13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-12.2409      0.048   -256.217      0.000     -12.335     -12.147</a:t>
            </a:r>
          </a:p>
          <a:p>
            <a:pPr>
              <a:defRPr sz="700">
                <a:latin typeface="Consolas"/>
              </a:defRPr>
            </a:pPr>
            <a:r>
              <a:t>T              0.0012      0.002      0.526      0.599      -0.003       0.006</a:t>
            </a:r>
          </a:p>
          <a:p>
            <a:pPr>
              <a:defRPr sz="700">
                <a:latin typeface="Consolas"/>
              </a:defRPr>
            </a:pPr>
            <a:r>
              <a:t>X_t            0.3360      0.069      4.870      0.000       0.201       0.471</a:t>
            </a:r>
          </a:p>
          <a:p>
            <a:pPr>
              <a:defRPr sz="700">
                <a:latin typeface="Consolas"/>
              </a:defRPr>
            </a:pPr>
            <a:r>
              <a:t>post_time     -0.0024      0.003     -0.795      0.427      -0.008       0.004</a:t>
            </a:r>
          </a:p>
          <a:p>
            <a:pPr>
              <a:defRPr sz="700">
                <a:latin typeface="Consolas"/>
              </a:defRPr>
            </a:pPr>
            <a:r>
              <a:t>alpha          0.0198      0.004      5.534      0.000       0.013       0.027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88305 - Surgical pathology, gross and microscopic examination (nerve biopsy)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804" y="1738006"/>
            <a:ext cx="5278592" cy="40931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-1.3247e+05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2.6384e+05</a:t>
            </a:r>
          </a:p>
          <a:p>
            <a:pPr>
              <a:defRPr sz="700">
                <a:latin typeface="Consolas"/>
              </a:defRPr>
            </a:pPr>
            <a:r>
              <a:t>Time:                        18:06:52   Pearson chi2:                 2.63e+05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4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-5.3310      0.001  -1.02e+04      0.000      -5.332      -5.330</a:t>
            </a:r>
          </a:p>
          <a:p>
            <a:pPr>
              <a:defRPr sz="700">
                <a:latin typeface="Consolas"/>
              </a:defRPr>
            </a:pPr>
            <a:r>
              <a:t>T              0.0003   2.44e-05     12.196      0.000       0.000       0.000</a:t>
            </a:r>
          </a:p>
          <a:p>
            <a:pPr>
              <a:defRPr sz="700">
                <a:latin typeface="Consolas"/>
              </a:defRPr>
            </a:pPr>
            <a:r>
              <a:t>X_t            0.0218      0.001     30.089      0.000       0.020       0.023</a:t>
            </a:r>
          </a:p>
          <a:p>
            <a:pPr>
              <a:defRPr sz="700">
                <a:latin typeface="Consolas"/>
              </a:defRPr>
            </a:pPr>
            <a:r>
              <a:t>post_time     -0.0024   3.22e-05    -74.187      0.000      -0.002      -0.002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88305 - Surgical pathology, gross and microscopic examination (nerve biopsy)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804" y="1738006"/>
            <a:ext cx="5278592" cy="409318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0.001899</a:t>
            </a:r>
          </a:p>
          <a:p>
            <a:pPr>
              <a:defRPr sz="700">
                <a:latin typeface="Consolas"/>
              </a:defRPr>
            </a:pPr>
            <a:r>
              <a:t>Time:                        18:06:52   Log-Likelihood:                -897.46</a:t>
            </a:r>
          </a:p>
          <a:p>
            <a:pPr>
              <a:defRPr sz="700">
                <a:latin typeface="Consolas"/>
              </a:defRPr>
            </a:pPr>
            <a:r>
              <a:t>converged:                      False   LL-Null:                       -899.17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   0.3318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 -5.3324      0.030   -178.199      0.000      -5.391      -5.274</a:t>
            </a:r>
          </a:p>
          <a:p>
            <a:pPr>
              <a:defRPr sz="700">
                <a:latin typeface="Consolas"/>
              </a:defRPr>
            </a:pPr>
            <a:r>
              <a:t>T              0.0004      0.001      0.309      0.758      -0.002       0.003</a:t>
            </a:r>
          </a:p>
          <a:p>
            <a:pPr>
              <a:defRPr sz="700">
                <a:latin typeface="Consolas"/>
              </a:defRPr>
            </a:pPr>
            <a:r>
              <a:t>X_t            0.0197      0.043      0.454      0.650      -0.065       0.105</a:t>
            </a:r>
          </a:p>
          <a:p>
            <a:pPr>
              <a:defRPr sz="700">
                <a:latin typeface="Consolas"/>
              </a:defRPr>
            </a:pPr>
            <a:r>
              <a:t>post_time     -0.0026      0.002     -1.352      0.176      -0.006       0.001</a:t>
            </a:r>
          </a:p>
          <a:p>
            <a:pPr>
              <a:defRPr sz="700">
                <a:latin typeface="Consolas"/>
              </a:defRPr>
            </a:pPr>
            <a:r>
              <a:t>alpha          0.0086      0.001      6.131      0.000       0.006       0.011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88314 - Immunohistochemistry stains often used to visualize nerve fibers (e.g., PGP 9.5)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-944.01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    1349.3</a:t>
            </a:r>
          </a:p>
          <a:p>
            <a:pPr>
              <a:defRPr sz="700">
                <a:latin typeface="Consolas"/>
              </a:defRPr>
            </a:pPr>
            <a:r>
              <a:t>Time:                        18:06:53   Pearson chi2:                 1.46e+03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5   Pseudo R-squ. (CS):              1.000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-11.9186      0.015   -781.178      0.000     -11.949     -11.889</a:t>
            </a:r>
          </a:p>
          <a:p>
            <a:pPr>
              <a:defRPr sz="700">
                <a:latin typeface="Consolas"/>
              </a:defRPr>
            </a:pPr>
            <a:r>
              <a:t>T             -0.0189      0.001    -23.719      0.000      -0.020      -0.017</a:t>
            </a:r>
          </a:p>
          <a:p>
            <a:pPr>
              <a:defRPr sz="700">
                <a:latin typeface="Consolas"/>
              </a:defRPr>
            </a:pPr>
            <a:r>
              <a:t>X_t           -0.7273      0.033    -21.749      0.000      -0.793      -0.662</a:t>
            </a:r>
          </a:p>
          <a:p>
            <a:pPr>
              <a:defRPr sz="700">
                <a:latin typeface="Consolas"/>
              </a:defRPr>
            </a:pPr>
            <a:r>
              <a:t>post_time      0.0146      0.001     10.158      0.000       0.012       0.017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88314 - Immunohistochemistry stains often used to visualize nerve fibers (e.g., PGP 9.5) (75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75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71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  0.1354</a:t>
            </a:r>
          </a:p>
          <a:p>
            <a:pPr>
              <a:defRPr sz="700">
                <a:latin typeface="Consolas"/>
              </a:defRPr>
            </a:pPr>
            <a:r>
              <a:t>Time:                        18:06:54   Log-Likelihood:                -415.05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-480.04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5.431e-28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-11.8911      0.094   -126.770      0.000     -12.075     -11.707</a:t>
            </a:r>
          </a:p>
          <a:p>
            <a:pPr>
              <a:defRPr sz="700">
                <a:latin typeface="Consolas"/>
              </a:defRPr>
            </a:pPr>
            <a:r>
              <a:t>T             -0.0202      0.005     -4.437      0.000      -0.029      -0.011</a:t>
            </a:r>
          </a:p>
          <a:p>
            <a:pPr>
              <a:defRPr sz="700">
                <a:latin typeface="Consolas"/>
              </a:defRPr>
            </a:pPr>
            <a:r>
              <a:t>X_t           -0.7058      0.133     -5.296      0.000      -0.967      -0.445</a:t>
            </a:r>
          </a:p>
          <a:p>
            <a:pPr>
              <a:defRPr sz="700">
                <a:latin typeface="Consolas"/>
              </a:defRPr>
            </a:pPr>
            <a:r>
              <a:t>post_time      0.0164      0.006      2.810      0.005       0.005       0.028</a:t>
            </a:r>
          </a:p>
          <a:p>
            <a:pPr>
              <a:defRPr sz="700">
                <a:latin typeface="Consolas"/>
              </a:defRPr>
            </a:pPr>
            <a:r>
              <a:t>alpha          0.0777      0.013      5.785      0.000       0.051       0.104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Poisson ITS (per 100,000 enrollees): HCPCS 88399 - Unlisted surgical pathology procedure (73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Generalized Linear Model Regression Results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73</a:t>
            </a:r>
          </a:p>
          <a:p>
            <a:pPr>
              <a:defRPr sz="700">
                <a:latin typeface="Consolas"/>
              </a:defRPr>
            </a:pPr>
            <a:r>
              <a:t>Model:                            GLM   Df Residuals:                       69</a:t>
            </a:r>
          </a:p>
          <a:p>
            <a:pPr>
              <a:defRPr sz="700">
                <a:latin typeface="Consolas"/>
              </a:defRPr>
            </a:pPr>
            <a:r>
              <a:t>Model Family:                 Poisson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Link Function:                    Log   Scale:                          1.0000</a:t>
            </a:r>
          </a:p>
          <a:p>
            <a:pPr>
              <a:defRPr sz="700">
                <a:latin typeface="Consolas"/>
              </a:defRPr>
            </a:pPr>
            <a:r>
              <a:t>Method:                          IRLS   Log-Likelihood:                -397.40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Deviance:                       617.02</a:t>
            </a:r>
          </a:p>
          <a:p>
            <a:pPr>
              <a:defRPr sz="700">
                <a:latin typeface="Consolas"/>
              </a:defRPr>
            </a:pPr>
            <a:r>
              <a:t>Time:                        18:06:54   Pearson chi2:                     532.</a:t>
            </a:r>
          </a:p>
          <a:p>
            <a:pPr>
              <a:defRPr sz="700">
                <a:latin typeface="Consolas"/>
              </a:defRPr>
            </a:pPr>
            <a:r>
              <a:t>No. Iterations:                     6   Pseudo R-squ. (CS):             0.9987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                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-15.4146      0.085   -181.761      0.000     -15.581     -15.248</a:t>
            </a:r>
          </a:p>
          <a:p>
            <a:pPr>
              <a:defRPr sz="700">
                <a:latin typeface="Consolas"/>
              </a:defRPr>
            </a:pPr>
            <a:r>
              <a:t>T             -0.0052      0.004     -1.202      0.229      -0.014       0.003</a:t>
            </a:r>
          </a:p>
          <a:p>
            <a:pPr>
              <a:defRPr sz="700">
                <a:latin typeface="Consolas"/>
              </a:defRPr>
            </a:pPr>
            <a:r>
              <a:t>X_t            0.6336      0.138      4.600      0.000       0.364       0.904</a:t>
            </a:r>
          </a:p>
          <a:p>
            <a:pPr>
              <a:defRPr sz="700">
                <a:latin typeface="Consolas"/>
              </a:defRPr>
            </a:pPr>
            <a:r>
              <a:t>post_time     -0.1154      0.010    -11.690      0.000      -0.135      -0.096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77800" y="228600"/>
            <a:ext cx="1183640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/>
            </a:pPr>
            <a:r>
              <a:t>Normalized Negative Binomial ITS (per 100,000 enrollees): HCPCS 88399 - Unlisted surgical pathology procedure (73 months of data)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555" y="1646674"/>
            <a:ext cx="5395090" cy="42758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137400" y="889000"/>
            <a:ext cx="4376198" cy="29546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700">
                <a:latin typeface="Consolas"/>
              </a:defRPr>
            </a:pPr>
            <a:r>
              <a:t>                     NegativeBinomial Regression Results                      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Dep. Variable:                      y   No. Observations:                   73</a:t>
            </a:r>
          </a:p>
          <a:p>
            <a:pPr>
              <a:defRPr sz="700">
                <a:latin typeface="Consolas"/>
              </a:defRPr>
            </a:pPr>
            <a:r>
              <a:t>Model:               NegativeBinomial   Df Residuals:                       69</a:t>
            </a:r>
          </a:p>
          <a:p>
            <a:pPr>
              <a:defRPr sz="700">
                <a:latin typeface="Consolas"/>
              </a:defRPr>
            </a:pPr>
            <a:r>
              <a:t>Method:                           MLE   Df Model:                            3</a:t>
            </a:r>
          </a:p>
          <a:p>
            <a:pPr>
              <a:defRPr sz="700">
                <a:latin typeface="Consolas"/>
              </a:defRPr>
            </a:pPr>
            <a:r>
              <a:t>Date:                Mon, 11 May 2026   Pseudo R-squ.:                 0.09949</a:t>
            </a:r>
          </a:p>
          <a:p>
            <a:pPr>
              <a:defRPr sz="700">
                <a:latin typeface="Consolas"/>
              </a:defRPr>
            </a:pPr>
            <a:r>
              <a:t>Time:                        18:06:54   Log-Likelihood:                -194.20</a:t>
            </a:r>
          </a:p>
          <a:p>
            <a:pPr>
              <a:defRPr sz="700">
                <a:latin typeface="Consolas"/>
              </a:defRPr>
            </a:pPr>
            <a:r>
              <a:t>converged:                       True   LL-Null:                       -215.66</a:t>
            </a:r>
          </a:p>
          <a:p>
            <a:pPr>
              <a:defRPr sz="700">
                <a:latin typeface="Consolas"/>
              </a:defRPr>
            </a:pPr>
            <a:r>
              <a:t>Covariance Type:            nonrobust   LLR p-value:                 2.570e-09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  <a:p>
            <a:pPr>
              <a:defRPr sz="700">
                <a:latin typeface="Consolas"/>
              </a:defRPr>
            </a:pPr>
            <a:r>
              <a:t>                 coef    std err          z      P&gt;|z|      [0.025      0.975]</a:t>
            </a:r>
          </a:p>
          <a:p>
            <a:pPr>
              <a:defRPr sz="700">
                <a:latin typeface="Consolas"/>
              </a:defRPr>
            </a:pPr>
            <a:r>
              <a:t>------------------------------------------------------------------------------</a:t>
            </a:r>
          </a:p>
          <a:p>
            <a:pPr>
              <a:defRPr sz="700">
                <a:latin typeface="Consolas"/>
              </a:defRPr>
            </a:pPr>
            <a:r>
              <a:t>const        -15.3955      0.481    -32.011      0.000     -16.338     -14.453</a:t>
            </a:r>
          </a:p>
          <a:p>
            <a:pPr>
              <a:defRPr sz="700">
                <a:latin typeface="Consolas"/>
              </a:defRPr>
            </a:pPr>
            <a:r>
              <a:t>T             -0.0063      0.025     -0.254      0.799      -0.055       0.042</a:t>
            </a:r>
          </a:p>
          <a:p>
            <a:pPr>
              <a:defRPr sz="700">
                <a:latin typeface="Consolas"/>
              </a:defRPr>
            </a:pPr>
            <a:r>
              <a:t>X_t            2.0783      0.905      2.296      0.022       0.304       3.852</a:t>
            </a:r>
          </a:p>
          <a:p>
            <a:pPr>
              <a:defRPr sz="700">
                <a:latin typeface="Consolas"/>
              </a:defRPr>
            </a:pPr>
            <a:r>
              <a:t>post_time     -0.2293      0.054     -4.259      0.000      -0.335      -0.124</a:t>
            </a:r>
          </a:p>
          <a:p>
            <a:pPr>
              <a:defRPr sz="700">
                <a:latin typeface="Consolas"/>
              </a:defRPr>
            </a:pPr>
            <a:r>
              <a:t>alpha          1.8966      0.442      4.288      0.000       1.030       2.764</a:t>
            </a:r>
          </a:p>
          <a:p>
            <a:pPr>
              <a:defRPr sz="700">
                <a:latin typeface="Consolas"/>
              </a:defRPr>
            </a:pPr>
            <a:r>
              <a:t>==============================================================================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