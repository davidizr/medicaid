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Normalized Poisson ITS (per 100,000 enrollees): HCPCS 86003 - Allergen-specific IgE testing (75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Generalized Linear Model Regression Results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75</a:t>
            </a:r>
          </a:p>
          <a:p>
            <a:pPr>
              <a:defRPr sz="700">
                <a:latin typeface="Consolas"/>
              </a:defRPr>
            </a:pPr>
            <a:r>
              <a:t>Model:                            GLM   Df Residuals:                       71</a:t>
            </a:r>
          </a:p>
          <a:p>
            <a:pPr>
              <a:defRPr sz="700">
                <a:latin typeface="Consolas"/>
              </a:defRPr>
            </a:pPr>
            <a:r>
              <a:t>Model Family:                 Poisson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Link Function:                    Log   Scale:                          1.0000</a:t>
            </a:r>
          </a:p>
          <a:p>
            <a:pPr>
              <a:defRPr sz="700">
                <a:latin typeface="Consolas"/>
              </a:defRPr>
            </a:pPr>
            <a:r>
              <a:t>Method:                          IRLS   Log-Likelihood:                -42573.</a:t>
            </a:r>
          </a:p>
          <a:p>
            <a:pPr>
              <a:defRPr sz="700">
                <a:latin typeface="Consolas"/>
              </a:defRPr>
            </a:pPr>
            <a:r>
              <a:t>Date:                Wed, 13 May 2026   Deviance:                       84192.</a:t>
            </a:r>
          </a:p>
          <a:p>
            <a:pPr>
              <a:defRPr sz="700">
                <a:latin typeface="Consolas"/>
              </a:defRPr>
            </a:pPr>
            <a:r>
              <a:t>Time:                        21:51:20   Pearson chi2:                 8.40e+04</a:t>
            </a:r>
          </a:p>
          <a:p>
            <a:pPr>
              <a:defRPr sz="700">
                <a:latin typeface="Consolas"/>
              </a:defRPr>
            </a:pPr>
            <a:r>
              <a:t>No. Iterations:                     4   Pseudo R-squ. (CS):              1.000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                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 -7.3015      0.001  -5083.201      0.000      -7.304      -7.299</a:t>
            </a:r>
          </a:p>
          <a:p>
            <a:pPr>
              <a:defRPr sz="700">
                <a:latin typeface="Consolas"/>
              </a:defRPr>
            </a:pPr>
            <a:r>
              <a:t>T             -0.0061   6.96e-05    -87.087      0.000      -0.006      -0.006</a:t>
            </a:r>
          </a:p>
          <a:p>
            <a:pPr>
              <a:defRPr sz="700">
                <a:latin typeface="Consolas"/>
              </a:defRPr>
            </a:pPr>
            <a:r>
              <a:t>X_t            0.1392      0.002     67.171      0.000       0.135       0.143</a:t>
            </a:r>
          </a:p>
          <a:p>
            <a:pPr>
              <a:defRPr sz="700">
                <a:latin typeface="Consolas"/>
              </a:defRPr>
            </a:pPr>
            <a:r>
              <a:t>post_time      0.0091   8.96e-05    101.481      0.000       0.009       0.009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Normalized Negative Binomial ITS (per 100,000 enrollees): HCPCS 86003 - Allergen-specific IgE testing (75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    NegativeBinomial Regression Results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75</a:t>
            </a:r>
          </a:p>
          <a:p>
            <a:pPr>
              <a:defRPr sz="700">
                <a:latin typeface="Consolas"/>
              </a:defRPr>
            </a:pPr>
            <a:r>
              <a:t>Model:               NegativeBinomial   Df Residuals:                       71</a:t>
            </a:r>
          </a:p>
          <a:p>
            <a:pPr>
              <a:defRPr sz="700">
                <a:latin typeface="Consolas"/>
              </a:defRPr>
            </a:pPr>
            <a:r>
              <a:t>Method:                           MLE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Date:                Wed, 13 May 2026   Pseudo R-squ.:                0.008993</a:t>
            </a:r>
          </a:p>
          <a:p>
            <a:pPr>
              <a:defRPr sz="700">
                <a:latin typeface="Consolas"/>
              </a:defRPr>
            </a:pPr>
            <a:r>
              <a:t>Time:                        21:51:20   Log-Likelihood:                -778.82</a:t>
            </a:r>
          </a:p>
          <a:p>
            <a:pPr>
              <a:defRPr sz="700">
                <a:latin typeface="Consolas"/>
              </a:defRPr>
            </a:pPr>
            <a:r>
              <a:t>converged:                      False   LL-Null:                       -785.89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LLR p-value:                  0.002727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 -7.2928      0.048   -151.873      0.000      -7.387      -7.199</a:t>
            </a:r>
          </a:p>
          <a:p>
            <a:pPr>
              <a:defRPr sz="700">
                <a:latin typeface="Consolas"/>
              </a:defRPr>
            </a:pPr>
            <a:r>
              <a:t>T             -0.0064      0.002     -2.758      0.006      -0.011      -0.002</a:t>
            </a:r>
          </a:p>
          <a:p>
            <a:pPr>
              <a:defRPr sz="700">
                <a:latin typeface="Consolas"/>
              </a:defRPr>
            </a:pPr>
            <a:r>
              <a:t>X_t            0.1463      0.069      2.123      0.034       0.011       0.281</a:t>
            </a:r>
          </a:p>
          <a:p>
            <a:pPr>
              <a:defRPr sz="700">
                <a:latin typeface="Consolas"/>
              </a:defRPr>
            </a:pPr>
            <a:r>
              <a:t>post_time      0.0093      0.003      3.060      0.002       0.003       0.015</a:t>
            </a:r>
          </a:p>
          <a:p>
            <a:pPr>
              <a:defRPr sz="700">
                <a:latin typeface="Consolas"/>
              </a:defRPr>
            </a:pPr>
            <a:r>
              <a:t>alpha          0.0212      0.003      6.140      0.000       0.014       0.028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Normalized Poisson ITS (per 100,000 enrollees): HCPCS 95004 - Percutaneous skin testing (75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Generalized Linear Model Regression Results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75</a:t>
            </a:r>
          </a:p>
          <a:p>
            <a:pPr>
              <a:defRPr sz="700">
                <a:latin typeface="Consolas"/>
              </a:defRPr>
            </a:pPr>
            <a:r>
              <a:t>Model:                            GLM   Df Residuals:                       71</a:t>
            </a:r>
          </a:p>
          <a:p>
            <a:pPr>
              <a:defRPr sz="700">
                <a:latin typeface="Consolas"/>
              </a:defRPr>
            </a:pPr>
            <a:r>
              <a:t>Model Family:                 Poisson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Link Function:                    Log   Scale:                          1.0000</a:t>
            </a:r>
          </a:p>
          <a:p>
            <a:pPr>
              <a:defRPr sz="700">
                <a:latin typeface="Consolas"/>
              </a:defRPr>
            </a:pPr>
            <a:r>
              <a:t>Method:                          IRLS   Log-Likelihood:                -28382.</a:t>
            </a:r>
          </a:p>
          <a:p>
            <a:pPr>
              <a:defRPr sz="700">
                <a:latin typeface="Consolas"/>
              </a:defRPr>
            </a:pPr>
            <a:r>
              <a:t>Date:                Wed, 13 May 2026   Deviance:                       55859.</a:t>
            </a:r>
          </a:p>
          <a:p>
            <a:pPr>
              <a:defRPr sz="700">
                <a:latin typeface="Consolas"/>
              </a:defRPr>
            </a:pPr>
            <a:r>
              <a:t>Time:                        21:51:20   Pearson chi2:                 5.57e+04</a:t>
            </a:r>
          </a:p>
          <a:p>
            <a:pPr>
              <a:defRPr sz="700">
                <a:latin typeface="Consolas"/>
              </a:defRPr>
            </a:pPr>
            <a:r>
              <a:t>No. Iterations:                     4   Pseudo R-squ. (CS):              1.000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                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 -8.0375      0.002  -3883.766      0.000      -8.042      -8.033</a:t>
            </a:r>
          </a:p>
          <a:p>
            <a:pPr>
              <a:defRPr sz="700">
                <a:latin typeface="Consolas"/>
              </a:defRPr>
            </a:pPr>
            <a:r>
              <a:t>T             -0.0054   9.99e-05    -54.217      0.000      -0.006      -0.005</a:t>
            </a:r>
          </a:p>
          <a:p>
            <a:pPr>
              <a:defRPr sz="700">
                <a:latin typeface="Consolas"/>
              </a:defRPr>
            </a:pPr>
            <a:r>
              <a:t>X_t            0.2144      0.003     73.766      0.000       0.209       0.220</a:t>
            </a:r>
          </a:p>
          <a:p>
            <a:pPr>
              <a:defRPr sz="700">
                <a:latin typeface="Consolas"/>
              </a:defRPr>
            </a:pPr>
            <a:r>
              <a:t>post_time      0.0103      0.000     81.755      0.000       0.010       0.011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Normalized Negative Binomial ITS (per 100,000 enrollees): HCPCS 95004 - Percutaneous skin testing (75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    NegativeBinomial Regression Results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75</a:t>
            </a:r>
          </a:p>
          <a:p>
            <a:pPr>
              <a:defRPr sz="700">
                <a:latin typeface="Consolas"/>
              </a:defRPr>
            </a:pPr>
            <a:r>
              <a:t>Model:               NegativeBinomial   Df Residuals:                       71</a:t>
            </a:r>
          </a:p>
          <a:p>
            <a:pPr>
              <a:defRPr sz="700">
                <a:latin typeface="Consolas"/>
              </a:defRPr>
            </a:pPr>
            <a:r>
              <a:t>Method:                           MLE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Date:                Wed, 13 May 2026   Pseudo R-squ.:                 0.02013</a:t>
            </a:r>
          </a:p>
          <a:p>
            <a:pPr>
              <a:defRPr sz="700">
                <a:latin typeface="Consolas"/>
              </a:defRPr>
            </a:pPr>
            <a:r>
              <a:t>Time:                        21:51:21   Log-Likelihood:                -739.12</a:t>
            </a:r>
          </a:p>
          <a:p>
            <a:pPr>
              <a:defRPr sz="700">
                <a:latin typeface="Consolas"/>
              </a:defRPr>
            </a:pPr>
            <a:r>
              <a:t>converged:                       True   LL-Null:                       -754.31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LLR p-value:                 1.155e-06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 -8.0309      0.055   -146.434      0.000      -8.138      -7.923</a:t>
            </a:r>
          </a:p>
          <a:p>
            <a:pPr>
              <a:defRPr sz="700">
                <a:latin typeface="Consolas"/>
              </a:defRPr>
            </a:pPr>
            <a:r>
              <a:t>T             -0.0056      0.003     -2.121      0.034      -0.011      -0.000</a:t>
            </a:r>
          </a:p>
          <a:p>
            <a:pPr>
              <a:defRPr sz="700">
                <a:latin typeface="Consolas"/>
              </a:defRPr>
            </a:pPr>
            <a:r>
              <a:t>X_t            0.2173      0.079      2.750      0.006       0.062       0.372</a:t>
            </a:r>
          </a:p>
          <a:p>
            <a:pPr>
              <a:defRPr sz="700">
                <a:latin typeface="Consolas"/>
              </a:defRPr>
            </a:pPr>
            <a:r>
              <a:t>post_time      0.0104      0.003      2.969      0.003       0.004       0.017</a:t>
            </a:r>
          </a:p>
          <a:p>
            <a:pPr>
              <a:defRPr sz="700">
                <a:latin typeface="Consolas"/>
              </a:defRPr>
            </a:pPr>
            <a:r>
              <a:t>alpha          0.0276      0.004      6.143      0.000       0.019       0.036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Normalized Poisson ITS (per 100,000 enrollees): HCPCS 95024 - Intradermal testing (75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Generalized Linear Model Regression Results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75</a:t>
            </a:r>
          </a:p>
          <a:p>
            <a:pPr>
              <a:defRPr sz="700">
                <a:latin typeface="Consolas"/>
              </a:defRPr>
            </a:pPr>
            <a:r>
              <a:t>Model:                            GLM   Df Residuals:                       71</a:t>
            </a:r>
          </a:p>
          <a:p>
            <a:pPr>
              <a:defRPr sz="700">
                <a:latin typeface="Consolas"/>
              </a:defRPr>
            </a:pPr>
            <a:r>
              <a:t>Model Family:                 Poisson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Link Function:                    Log   Scale:                          1.0000</a:t>
            </a:r>
          </a:p>
          <a:p>
            <a:pPr>
              <a:defRPr sz="700">
                <a:latin typeface="Consolas"/>
              </a:defRPr>
            </a:pPr>
            <a:r>
              <a:t>Method:                          IRLS   Log-Likelihood:                -6175.3</a:t>
            </a:r>
          </a:p>
          <a:p>
            <a:pPr>
              <a:defRPr sz="700">
                <a:latin typeface="Consolas"/>
              </a:defRPr>
            </a:pPr>
            <a:r>
              <a:t>Date:                Wed, 13 May 2026   Deviance:                       11604.</a:t>
            </a:r>
          </a:p>
          <a:p>
            <a:pPr>
              <a:defRPr sz="700">
                <a:latin typeface="Consolas"/>
              </a:defRPr>
            </a:pPr>
            <a:r>
              <a:t>Time:                        21:51:21   Pearson chi2:                 1.16e+04</a:t>
            </a:r>
          </a:p>
          <a:p>
            <a:pPr>
              <a:defRPr sz="700">
                <a:latin typeface="Consolas"/>
              </a:defRPr>
            </a:pPr>
            <a:r>
              <a:t>No. Iterations:                     4   Pseudo R-squ. (CS):              1.000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                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-10.0540      0.006  -1756.601      0.000     -10.065     -10.043</a:t>
            </a:r>
          </a:p>
          <a:p>
            <a:pPr>
              <a:defRPr sz="700">
                <a:latin typeface="Consolas"/>
              </a:defRPr>
            </a:pPr>
            <a:r>
              <a:t>T             -0.0075      0.000    -26.787      0.000      -0.008      -0.007</a:t>
            </a:r>
          </a:p>
          <a:p>
            <a:pPr>
              <a:defRPr sz="700">
                <a:latin typeface="Consolas"/>
              </a:defRPr>
            </a:pPr>
            <a:r>
              <a:t>X_t            0.2846      0.008     34.632      0.000       0.268       0.301</a:t>
            </a:r>
          </a:p>
          <a:p>
            <a:pPr>
              <a:defRPr sz="700">
                <a:latin typeface="Consolas"/>
              </a:defRPr>
            </a:pPr>
            <a:r>
              <a:t>post_time      0.0069      0.000     19.283      0.000       0.006       0.008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Normalized Negative Binomial ITS (per 100,000 enrollees): HCPCS 95024 - Intradermal testing (75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    NegativeBinomial Regression Results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75</a:t>
            </a:r>
          </a:p>
          <a:p>
            <a:pPr>
              <a:defRPr sz="700">
                <a:latin typeface="Consolas"/>
              </a:defRPr>
            </a:pPr>
            <a:r>
              <a:t>Model:               NegativeBinomial   Df Residuals:                       71</a:t>
            </a:r>
          </a:p>
          <a:p>
            <a:pPr>
              <a:defRPr sz="700">
                <a:latin typeface="Consolas"/>
              </a:defRPr>
            </a:pPr>
            <a:r>
              <a:t>Method:                           MLE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Date:                Wed, 13 May 2026   Pseudo R-squ.:                0.008940</a:t>
            </a:r>
          </a:p>
          <a:p>
            <a:pPr>
              <a:defRPr sz="700">
                <a:latin typeface="Consolas"/>
              </a:defRPr>
            </a:pPr>
            <a:r>
              <a:t>Time:                        21:51:21   Log-Likelihood:                -599.63</a:t>
            </a:r>
          </a:p>
          <a:p>
            <a:pPr>
              <a:defRPr sz="700">
                <a:latin typeface="Consolas"/>
              </a:defRPr>
            </a:pPr>
            <a:r>
              <a:t>converged:                      False   LL-Null:                       -605.04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LLR p-value:                   0.01275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-10.0464      0.069   -144.909      0.000     -10.182      -9.911</a:t>
            </a:r>
          </a:p>
          <a:p>
            <a:pPr>
              <a:defRPr sz="700">
                <a:latin typeface="Consolas"/>
              </a:defRPr>
            </a:pPr>
            <a:r>
              <a:t>T             -0.0078      0.003     -2.339      0.019      -0.014      -0.001</a:t>
            </a:r>
          </a:p>
          <a:p>
            <a:pPr>
              <a:defRPr sz="700">
                <a:latin typeface="Consolas"/>
              </a:defRPr>
            </a:pPr>
            <a:r>
              <a:t>X_t            0.2916      0.100      2.907      0.004       0.095       0.488</a:t>
            </a:r>
          </a:p>
          <a:p>
            <a:pPr>
              <a:defRPr sz="700">
                <a:latin typeface="Consolas"/>
              </a:defRPr>
            </a:pPr>
            <a:r>
              <a:t>post_time      0.0070      0.004      1.584      0.113      -0.002       0.016</a:t>
            </a:r>
          </a:p>
          <a:p>
            <a:pPr>
              <a:defRPr sz="700">
                <a:latin typeface="Consolas"/>
              </a:defRPr>
            </a:pPr>
            <a:r>
              <a:t>alpha          0.0447      0.007      6.127      0.000       0.030       0.059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Normalized Poisson ITS (per 100,000 enrollees): HCPCS 95044 - Patch testing (75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Generalized Linear Model Regression Results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75</a:t>
            </a:r>
          </a:p>
          <a:p>
            <a:pPr>
              <a:defRPr sz="700">
                <a:latin typeface="Consolas"/>
              </a:defRPr>
            </a:pPr>
            <a:r>
              <a:t>Model:                            GLM   Df Residuals:                       71</a:t>
            </a:r>
          </a:p>
          <a:p>
            <a:pPr>
              <a:defRPr sz="700">
                <a:latin typeface="Consolas"/>
              </a:defRPr>
            </a:pPr>
            <a:r>
              <a:t>Model Family:                 Poisson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Link Function:                    Log   Scale:                          1.0000</a:t>
            </a:r>
          </a:p>
          <a:p>
            <a:pPr>
              <a:defRPr sz="700">
                <a:latin typeface="Consolas"/>
              </a:defRPr>
            </a:pPr>
            <a:r>
              <a:t>Method:                          IRLS   Log-Likelihood:                -1282.6</a:t>
            </a:r>
          </a:p>
          <a:p>
            <a:pPr>
              <a:defRPr sz="700">
                <a:latin typeface="Consolas"/>
              </a:defRPr>
            </a:pPr>
            <a:r>
              <a:t>Date:                Wed, 13 May 2026   Deviance:                       2074.6</a:t>
            </a:r>
          </a:p>
          <a:p>
            <a:pPr>
              <a:defRPr sz="700">
                <a:latin typeface="Consolas"/>
              </a:defRPr>
            </a:pPr>
            <a:r>
              <a:t>Time:                        21:51:22   Pearson chi2:                 2.04e+03</a:t>
            </a:r>
          </a:p>
          <a:p>
            <a:pPr>
              <a:defRPr sz="700">
                <a:latin typeface="Consolas"/>
              </a:defRPr>
            </a:pPr>
            <a:r>
              <a:t>No. Iterations:                     4   Pseudo R-squ. (CS):              1.000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                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-12.6930      0.024   -531.351      0.000     -12.740     -12.646</a:t>
            </a:r>
          </a:p>
          <a:p>
            <a:pPr>
              <a:defRPr sz="700">
                <a:latin typeface="Consolas"/>
              </a:defRPr>
            </a:pPr>
            <a:r>
              <a:t>T             -0.0341      0.001    -24.996      0.000      -0.037      -0.031</a:t>
            </a:r>
          </a:p>
          <a:p>
            <a:pPr>
              <a:defRPr sz="700">
                <a:latin typeface="Consolas"/>
              </a:defRPr>
            </a:pPr>
            <a:r>
              <a:t>X_t           -0.2526      0.048     -5.261      0.000      -0.347      -0.158</a:t>
            </a:r>
          </a:p>
          <a:p>
            <a:pPr>
              <a:defRPr sz="700">
                <a:latin typeface="Consolas"/>
              </a:defRPr>
            </a:pPr>
            <a:r>
              <a:t>post_time      0.0709      0.002     38.721      0.000       0.067       0.074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Normalized Negative Binomial ITS (per 100,000 enrollees): HCPCS 95044 - Patch testing (75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    NegativeBinomial Regression Results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75</a:t>
            </a:r>
          </a:p>
          <a:p>
            <a:pPr>
              <a:defRPr sz="700">
                <a:latin typeface="Consolas"/>
              </a:defRPr>
            </a:pPr>
            <a:r>
              <a:t>Model:               NegativeBinomial   Df Residuals:                       71</a:t>
            </a:r>
          </a:p>
          <a:p>
            <a:pPr>
              <a:defRPr sz="700">
                <a:latin typeface="Consolas"/>
              </a:defRPr>
            </a:pPr>
            <a:r>
              <a:t>Method:                           MLE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Date:                Wed, 13 May 2026   Pseudo R-squ.:                 0.04531</a:t>
            </a:r>
          </a:p>
          <a:p>
            <a:pPr>
              <a:defRPr sz="700">
                <a:latin typeface="Consolas"/>
              </a:defRPr>
            </a:pPr>
            <a:r>
              <a:t>Time:                        21:51:22   Log-Likelihood:                -415.54</a:t>
            </a:r>
          </a:p>
          <a:p>
            <a:pPr>
              <a:defRPr sz="700">
                <a:latin typeface="Consolas"/>
              </a:defRPr>
            </a:pPr>
            <a:r>
              <a:t>converged:                       True   LL-Null:                       -435.27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LLR p-value:                 1.395e-08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-12.6023      0.171    -73.498      0.000     -12.938     -12.266</a:t>
            </a:r>
          </a:p>
          <a:p>
            <a:pPr>
              <a:defRPr sz="700">
                <a:latin typeface="Consolas"/>
              </a:defRPr>
            </a:pPr>
            <a:r>
              <a:t>T             -0.0394      0.008     -4.676      0.000      -0.056      -0.023</a:t>
            </a:r>
          </a:p>
          <a:p>
            <a:pPr>
              <a:defRPr sz="700">
                <a:latin typeface="Consolas"/>
              </a:defRPr>
            </a:pPr>
            <a:r>
              <a:t>X_t           -0.1799      0.247     -0.728      0.466      -0.664       0.304</a:t>
            </a:r>
          </a:p>
          <a:p>
            <a:pPr>
              <a:defRPr sz="700">
                <a:latin typeface="Consolas"/>
              </a:defRPr>
            </a:pPr>
            <a:r>
              <a:t>post_time      0.0774      0.011      7.071      0.000       0.056       0.099</a:t>
            </a:r>
          </a:p>
          <a:p>
            <a:pPr>
              <a:defRPr sz="700">
                <a:latin typeface="Consolas"/>
              </a:defRPr>
            </a:pPr>
            <a:r>
              <a:t>alpha          0.2453      0.042      5.832      0.000       0.163       0.328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