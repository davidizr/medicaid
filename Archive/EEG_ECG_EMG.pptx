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68" r:id="rId2"/>
    <p:sldId id="256" r:id="rId3"/>
    <p:sldId id="257" r:id="rId4"/>
    <p:sldId id="258" r:id="rId5"/>
    <p:sldId id="259" r:id="rId6"/>
    <p:sldId id="260" r:id="rId7"/>
    <p:sldId id="261" r:id="rId8"/>
    <p:sldId id="262" r:id="rId9"/>
    <p:sldId id="263" r:id="rId10"/>
    <p:sldId id="264" r:id="rId11"/>
    <p:sldId id="265" r:id="rId12"/>
    <p:sldId id="267" r:id="rId13"/>
    <p:sldId id="269" r:id="rId14"/>
    <p:sldId id="270" r:id="rId15"/>
    <p:sldId id="271" r:id="rId16"/>
    <p:sldId id="272" r:id="rId17"/>
    <p:sldId id="273" r:id="rId18"/>
    <p:sldId id="274" r:id="rId19"/>
    <p:sldId id="275" r:id="rId20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8498"/>
    <p:restoredTop sz="94698"/>
  </p:normalViewPr>
  <p:slideViewPr>
    <p:cSldViewPr snapToGrid="0" snapToObjects="1">
      <p:cViewPr varScale="1">
        <p:scale>
          <a:sx n="120" d="100"/>
          <a:sy n="120" d="100"/>
        </p:scale>
        <p:origin x="192" y="240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5/11/26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5/11/26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5/11/26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5/11/26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5/11/26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5/11/26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5/11/26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5/11/26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5/11/26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5/11/26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5/11/26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5/11/26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04EB4FA-06C3-D734-DE10-E477676097C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EEG</a:t>
            </a:r>
          </a:p>
        </p:txBody>
      </p:sp>
    </p:spTree>
    <p:extLst>
      <p:ext uri="{BB962C8B-B14F-4D97-AF65-F5344CB8AC3E}">
        <p14:creationId xmlns:p14="http://schemas.microsoft.com/office/powerpoint/2010/main" val="17973168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177800" y="228600"/>
            <a:ext cx="11836400" cy="46166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/>
            </a:pPr>
            <a:r>
              <a:t>Normalized Poisson ITS (per 100,000 enrollees): Custom Aggregate EEG 1</a:t>
            </a:r>
          </a:p>
        </p:txBody>
      </p:sp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96555" y="1646674"/>
            <a:ext cx="5395090" cy="4275853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7137400" y="889000"/>
            <a:ext cx="4376198" cy="2954655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defRPr sz="700">
                <a:latin typeface="Consolas"/>
              </a:defRPr>
            </a:pPr>
            <a:r>
              <a:t>                 Generalized Linear Model Regression Results                  </a:t>
            </a:r>
          </a:p>
          <a:p>
            <a:pPr>
              <a:defRPr sz="700">
                <a:latin typeface="Consolas"/>
              </a:defRPr>
            </a:pPr>
            <a:r>
              <a:t>==============================================================================</a:t>
            </a:r>
          </a:p>
          <a:p>
            <a:pPr>
              <a:defRPr sz="700">
                <a:latin typeface="Consolas"/>
              </a:defRPr>
            </a:pPr>
            <a:r>
              <a:t>Dep. Variable:                      y   No. Observations:                   75</a:t>
            </a:r>
          </a:p>
          <a:p>
            <a:pPr>
              <a:defRPr sz="700">
                <a:latin typeface="Consolas"/>
              </a:defRPr>
            </a:pPr>
            <a:r>
              <a:t>Model:                            GLM   Df Residuals:                       71</a:t>
            </a:r>
          </a:p>
          <a:p>
            <a:pPr>
              <a:defRPr sz="700">
                <a:latin typeface="Consolas"/>
              </a:defRPr>
            </a:pPr>
            <a:r>
              <a:t>Model Family:                 Poisson   Df Model:                            3</a:t>
            </a:r>
          </a:p>
          <a:p>
            <a:pPr>
              <a:defRPr sz="700">
                <a:latin typeface="Consolas"/>
              </a:defRPr>
            </a:pPr>
            <a:r>
              <a:t>Link Function:                    Log   Scale:                          1.0000</a:t>
            </a:r>
          </a:p>
          <a:p>
            <a:pPr>
              <a:defRPr sz="700">
                <a:latin typeface="Consolas"/>
              </a:defRPr>
            </a:pPr>
            <a:r>
              <a:t>Method:                          IRLS   Log-Likelihood:                -7801.7</a:t>
            </a:r>
          </a:p>
          <a:p>
            <a:pPr>
              <a:defRPr sz="700">
                <a:latin typeface="Consolas"/>
              </a:defRPr>
            </a:pPr>
            <a:r>
              <a:t>Date:                Mon, 11 May 2026   Deviance:                       14750.</a:t>
            </a:r>
          </a:p>
          <a:p>
            <a:pPr>
              <a:defRPr sz="700">
                <a:latin typeface="Consolas"/>
              </a:defRPr>
            </a:pPr>
            <a:r>
              <a:t>Time:                        17:43:26   Pearson chi2:                 1.49e+04</a:t>
            </a:r>
          </a:p>
          <a:p>
            <a:pPr>
              <a:defRPr sz="700">
                <a:latin typeface="Consolas"/>
              </a:defRPr>
            </a:pPr>
            <a:r>
              <a:t>No. Iterations:                     4   Pseudo R-squ. (CS):              1.000</a:t>
            </a:r>
          </a:p>
          <a:p>
            <a:pPr>
              <a:defRPr sz="700">
                <a:latin typeface="Consolas"/>
              </a:defRPr>
            </a:pPr>
            <a:r>
              <a:t>Covariance Type:            nonrobust                                         </a:t>
            </a:r>
          </a:p>
          <a:p>
            <a:pPr>
              <a:defRPr sz="700">
                <a:latin typeface="Consolas"/>
              </a:defRPr>
            </a:pPr>
            <a:r>
              <a:t>==============================================================================</a:t>
            </a:r>
          </a:p>
          <a:p>
            <a:pPr>
              <a:defRPr sz="700">
                <a:latin typeface="Consolas"/>
              </a:defRPr>
            </a:pPr>
            <a:r>
              <a:t>                 coef    std err          z      P&gt;|z|      [0.025      0.975]</a:t>
            </a:r>
          </a:p>
          <a:p>
            <a:pPr>
              <a:defRPr sz="700">
                <a:latin typeface="Consolas"/>
              </a:defRPr>
            </a:pPr>
            <a:r>
              <a:t>------------------------------------------------------------------------------</a:t>
            </a:r>
          </a:p>
          <a:p>
            <a:pPr>
              <a:defRPr sz="700">
                <a:latin typeface="Consolas"/>
              </a:defRPr>
            </a:pPr>
            <a:r>
              <a:t>const         -8.8214      0.003  -2958.493      0.000      -8.827      -8.816</a:t>
            </a:r>
          </a:p>
          <a:p>
            <a:pPr>
              <a:defRPr sz="700">
                <a:latin typeface="Consolas"/>
              </a:defRPr>
            </a:pPr>
            <a:r>
              <a:t>T              0.0006      0.000      4.468      0.000       0.000       0.001</a:t>
            </a:r>
          </a:p>
          <a:p>
            <a:pPr>
              <a:defRPr sz="700">
                <a:latin typeface="Consolas"/>
              </a:defRPr>
            </a:pPr>
            <a:r>
              <a:t>X_t            0.0908      0.004     22.621      0.000       0.083       0.099</a:t>
            </a:r>
          </a:p>
          <a:p>
            <a:pPr>
              <a:defRPr sz="700">
                <a:latin typeface="Consolas"/>
              </a:defRPr>
            </a:pPr>
            <a:r>
              <a:t>post_time      0.0027      0.000     15.369      0.000       0.002       0.003</a:t>
            </a:r>
          </a:p>
          <a:p>
            <a:pPr>
              <a:defRPr sz="700">
                <a:latin typeface="Consolas"/>
              </a:defRPr>
            </a:pPr>
            <a:r>
              <a:t>==============================================================================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137400" y="6118000"/>
            <a:ext cx="4376198" cy="520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700">
                <a:latin typeface="Aptos"/>
              </a:defRPr>
            </a:pPr>
            <a:r>
              <a:t>Codes in aggregation: 95812, 95813, 95816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177800" y="228600"/>
            <a:ext cx="11836400" cy="46166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/>
            </a:pPr>
            <a:r>
              <a:t>Normalized Negative Binomial ITS (per 100,000 enrollees): Custom Aggregate EEG 1</a:t>
            </a:r>
          </a:p>
        </p:txBody>
      </p:sp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96555" y="1646674"/>
            <a:ext cx="5395090" cy="4275853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7137400" y="889000"/>
            <a:ext cx="4376198" cy="2954655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defRPr sz="700">
                <a:latin typeface="Consolas"/>
              </a:defRPr>
            </a:pPr>
            <a:r>
              <a:t>                     NegativeBinomial Regression Results                      </a:t>
            </a:r>
          </a:p>
          <a:p>
            <a:pPr>
              <a:defRPr sz="700">
                <a:latin typeface="Consolas"/>
              </a:defRPr>
            </a:pPr>
            <a:r>
              <a:t>==============================================================================</a:t>
            </a:r>
          </a:p>
          <a:p>
            <a:pPr>
              <a:defRPr sz="700">
                <a:latin typeface="Consolas"/>
              </a:defRPr>
            </a:pPr>
            <a:r>
              <a:t>Dep. Variable:                      y   No. Observations:                   75</a:t>
            </a:r>
          </a:p>
          <a:p>
            <a:pPr>
              <a:defRPr sz="700">
                <a:latin typeface="Consolas"/>
              </a:defRPr>
            </a:pPr>
            <a:r>
              <a:t>Model:               NegativeBinomial   Df Residuals:                       71</a:t>
            </a:r>
          </a:p>
          <a:p>
            <a:pPr>
              <a:defRPr sz="700">
                <a:latin typeface="Consolas"/>
              </a:defRPr>
            </a:pPr>
            <a:r>
              <a:t>Method:                           MLE   Df Model:                            3</a:t>
            </a:r>
          </a:p>
          <a:p>
            <a:pPr>
              <a:defRPr sz="700">
                <a:latin typeface="Consolas"/>
              </a:defRPr>
            </a:pPr>
            <a:r>
              <a:t>Date:                Mon, 11 May 2026   Pseudo R-squ.:                 0.02484</a:t>
            </a:r>
          </a:p>
          <a:p>
            <a:pPr>
              <a:defRPr sz="700">
                <a:latin typeface="Consolas"/>
              </a:defRPr>
            </a:pPr>
            <a:r>
              <a:t>Time:                        17:43:26   Log-Likelihood:                -661.97</a:t>
            </a:r>
          </a:p>
          <a:p>
            <a:pPr>
              <a:defRPr sz="700">
                <a:latin typeface="Consolas"/>
              </a:defRPr>
            </a:pPr>
            <a:r>
              <a:t>converged:                       True   LL-Null:                       -678.83</a:t>
            </a:r>
          </a:p>
          <a:p>
            <a:pPr>
              <a:defRPr sz="700">
                <a:latin typeface="Consolas"/>
              </a:defRPr>
            </a:pPr>
            <a:r>
              <a:t>Covariance Type:            nonrobust   LLR p-value:                 2.262e-07</a:t>
            </a:r>
          </a:p>
          <a:p>
            <a:pPr>
              <a:defRPr sz="700">
                <a:latin typeface="Consolas"/>
              </a:defRPr>
            </a:pPr>
            <a:r>
              <a:t>==============================================================================</a:t>
            </a:r>
          </a:p>
          <a:p>
            <a:pPr>
              <a:defRPr sz="700">
                <a:latin typeface="Consolas"/>
              </a:defRPr>
            </a:pPr>
            <a:r>
              <a:t>                 coef    std err          z      P&gt;|z|      [0.025      0.975]</a:t>
            </a:r>
          </a:p>
          <a:p>
            <a:pPr>
              <a:defRPr sz="700">
                <a:latin typeface="Consolas"/>
              </a:defRPr>
            </a:pPr>
            <a:r>
              <a:t>------------------------------------------------------------------------------</a:t>
            </a:r>
          </a:p>
          <a:p>
            <a:pPr>
              <a:defRPr sz="700">
                <a:latin typeface="Consolas"/>
              </a:defRPr>
            </a:pPr>
            <a:r>
              <a:t>const         -8.8236      0.039   -229.010      0.000      -8.899      -8.748</a:t>
            </a:r>
          </a:p>
          <a:p>
            <a:pPr>
              <a:defRPr sz="700">
                <a:latin typeface="Consolas"/>
              </a:defRPr>
            </a:pPr>
            <a:r>
              <a:t>T              0.0008      0.002      0.458      0.647      -0.003       0.004</a:t>
            </a:r>
          </a:p>
          <a:p>
            <a:pPr>
              <a:defRPr sz="700">
                <a:latin typeface="Consolas"/>
              </a:defRPr>
            </a:pPr>
            <a:r>
              <a:t>X_t            0.0898      0.056      1.613      0.107      -0.019       0.199</a:t>
            </a:r>
          </a:p>
          <a:p>
            <a:pPr>
              <a:defRPr sz="700">
                <a:latin typeface="Consolas"/>
              </a:defRPr>
            </a:pPr>
            <a:r>
              <a:t>post_time      0.0023      0.002      0.933      0.351      -0.003       0.007</a:t>
            </a:r>
          </a:p>
          <a:p>
            <a:pPr>
              <a:defRPr sz="700">
                <a:latin typeface="Consolas"/>
              </a:defRPr>
            </a:pPr>
            <a:r>
              <a:t>alpha          0.0140      0.002      6.105      0.000       0.010       0.019</a:t>
            </a:r>
          </a:p>
          <a:p>
            <a:pPr>
              <a:defRPr sz="700">
                <a:latin typeface="Consolas"/>
              </a:defRPr>
            </a:pPr>
            <a:r>
              <a:t>==============================================================================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137400" y="6118000"/>
            <a:ext cx="4376198" cy="520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700">
                <a:latin typeface="Aptos"/>
              </a:defRPr>
            </a:pPr>
            <a:r>
              <a:t>Codes in aggregation: 95812, 95813, 95816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177800" y="228600"/>
            <a:ext cx="11836400" cy="46166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/>
            </a:pPr>
            <a:r>
              <a:t>Normalized Poisson ITS (per 100,000 enrollees): Custom Aggregate EEG 2</a:t>
            </a:r>
          </a:p>
        </p:txBody>
      </p:sp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96555" y="1646674"/>
            <a:ext cx="5395090" cy="4275853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7137400" y="889000"/>
            <a:ext cx="4376198" cy="2954655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defRPr sz="700">
                <a:latin typeface="Consolas"/>
              </a:defRPr>
            </a:pPr>
            <a:r>
              <a:t>                 Generalized Linear Model Regression Results                  </a:t>
            </a:r>
          </a:p>
          <a:p>
            <a:pPr>
              <a:defRPr sz="700">
                <a:latin typeface="Consolas"/>
              </a:defRPr>
            </a:pPr>
            <a:r>
              <a:t>==============================================================================</a:t>
            </a:r>
          </a:p>
          <a:p>
            <a:pPr>
              <a:defRPr sz="700">
                <a:latin typeface="Consolas"/>
              </a:defRPr>
            </a:pPr>
            <a:r>
              <a:t>Dep. Variable:                      y   No. Observations:                   75</a:t>
            </a:r>
          </a:p>
          <a:p>
            <a:pPr>
              <a:defRPr sz="700">
                <a:latin typeface="Consolas"/>
              </a:defRPr>
            </a:pPr>
            <a:r>
              <a:t>Model:                            GLM   Df Residuals:                       71</a:t>
            </a:r>
          </a:p>
          <a:p>
            <a:pPr>
              <a:defRPr sz="700">
                <a:latin typeface="Consolas"/>
              </a:defRPr>
            </a:pPr>
            <a:r>
              <a:t>Model Family:                 Poisson   Df Model:                            3</a:t>
            </a:r>
          </a:p>
          <a:p>
            <a:pPr>
              <a:defRPr sz="700">
                <a:latin typeface="Consolas"/>
              </a:defRPr>
            </a:pPr>
            <a:r>
              <a:t>Link Function:                    Log   Scale:                          1.0000</a:t>
            </a:r>
          </a:p>
          <a:p>
            <a:pPr>
              <a:defRPr sz="700">
                <a:latin typeface="Consolas"/>
              </a:defRPr>
            </a:pPr>
            <a:r>
              <a:t>Method:                          IRLS   Log-Likelihood:                -7584.5</a:t>
            </a:r>
          </a:p>
          <a:p>
            <a:pPr>
              <a:defRPr sz="700">
                <a:latin typeface="Consolas"/>
              </a:defRPr>
            </a:pPr>
            <a:r>
              <a:t>Date:                Mon, 11 May 2026   Deviance:                       14326.</a:t>
            </a:r>
          </a:p>
          <a:p>
            <a:pPr>
              <a:defRPr sz="700">
                <a:latin typeface="Consolas"/>
              </a:defRPr>
            </a:pPr>
            <a:r>
              <a:t>Time:                        17:45:02   Pearson chi2:                 1.44e+04</a:t>
            </a:r>
          </a:p>
          <a:p>
            <a:pPr>
              <a:defRPr sz="700">
                <a:latin typeface="Consolas"/>
              </a:defRPr>
            </a:pPr>
            <a:r>
              <a:t>No. Iterations:                     4   Pseudo R-squ. (CS):              1.000</a:t>
            </a:r>
          </a:p>
          <a:p>
            <a:pPr>
              <a:defRPr sz="700">
                <a:latin typeface="Consolas"/>
              </a:defRPr>
            </a:pPr>
            <a:r>
              <a:t>Covariance Type:            nonrobust                                         </a:t>
            </a:r>
          </a:p>
          <a:p>
            <a:pPr>
              <a:defRPr sz="700">
                <a:latin typeface="Consolas"/>
              </a:defRPr>
            </a:pPr>
            <a:r>
              <a:t>==============================================================================</a:t>
            </a:r>
          </a:p>
          <a:p>
            <a:pPr>
              <a:defRPr sz="700">
                <a:latin typeface="Consolas"/>
              </a:defRPr>
            </a:pPr>
            <a:r>
              <a:t>                 coef    std err          z      P&gt;|z|      [0.025      0.975]</a:t>
            </a:r>
          </a:p>
          <a:p>
            <a:pPr>
              <a:defRPr sz="700">
                <a:latin typeface="Consolas"/>
              </a:defRPr>
            </a:pPr>
            <a:r>
              <a:t>------------------------------------------------------------------------------</a:t>
            </a:r>
          </a:p>
          <a:p>
            <a:pPr>
              <a:defRPr sz="700">
                <a:latin typeface="Consolas"/>
              </a:defRPr>
            </a:pPr>
            <a:r>
              <a:t>const         -8.8711      0.003  -2885.281      0.000      -8.877      -8.865</a:t>
            </a:r>
          </a:p>
          <a:p>
            <a:pPr>
              <a:defRPr sz="700">
                <a:latin typeface="Consolas"/>
              </a:defRPr>
            </a:pPr>
            <a:r>
              <a:t>T             -0.0007      0.000     -4.707      0.000      -0.001      -0.000</a:t>
            </a:r>
          </a:p>
          <a:p>
            <a:pPr>
              <a:defRPr sz="700">
                <a:latin typeface="Consolas"/>
              </a:defRPr>
            </a:pPr>
            <a:r>
              <a:t>X_t            0.0901      0.004     21.255      0.000       0.082       0.098</a:t>
            </a:r>
          </a:p>
          <a:p>
            <a:pPr>
              <a:defRPr sz="700">
                <a:latin typeface="Consolas"/>
              </a:defRPr>
            </a:pPr>
            <a:r>
              <a:t>post_time      0.0003      0.000      1.560      0.119   -7.49e-05       0.001</a:t>
            </a:r>
          </a:p>
          <a:p>
            <a:pPr>
              <a:defRPr sz="700">
                <a:latin typeface="Consolas"/>
              </a:defRPr>
            </a:pPr>
            <a:r>
              <a:t>==============================================================================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137400" y="6118000"/>
            <a:ext cx="4376198" cy="520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700">
                <a:latin typeface="Aptos"/>
              </a:defRPr>
            </a:pPr>
            <a:r>
              <a:t>Codes in aggregation: 95812, 95813, 95819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177800" y="228600"/>
            <a:ext cx="11836400" cy="46166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/>
            </a:pPr>
            <a:r>
              <a:t>Normalized Negative Binomial ITS (per 100,000 enrollees): Custom Aggregate EEG 2</a:t>
            </a:r>
          </a:p>
        </p:txBody>
      </p:sp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96555" y="1646674"/>
            <a:ext cx="5395090" cy="4275853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7137400" y="889000"/>
            <a:ext cx="4376198" cy="2954655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defRPr sz="700">
                <a:latin typeface="Consolas"/>
              </a:defRPr>
            </a:pPr>
            <a:r>
              <a:t>                     NegativeBinomial Regression Results                      </a:t>
            </a:r>
          </a:p>
          <a:p>
            <a:pPr>
              <a:defRPr sz="700">
                <a:latin typeface="Consolas"/>
              </a:defRPr>
            </a:pPr>
            <a:r>
              <a:t>==============================================================================</a:t>
            </a:r>
          </a:p>
          <a:p>
            <a:pPr>
              <a:defRPr sz="700">
                <a:latin typeface="Consolas"/>
              </a:defRPr>
            </a:pPr>
            <a:r>
              <a:t>Dep. Variable:                      y   No. Observations:                   75</a:t>
            </a:r>
          </a:p>
          <a:p>
            <a:pPr>
              <a:defRPr sz="700">
                <a:latin typeface="Consolas"/>
              </a:defRPr>
            </a:pPr>
            <a:r>
              <a:t>Model:               NegativeBinomial   Df Residuals:                       71</a:t>
            </a:r>
          </a:p>
          <a:p>
            <a:pPr>
              <a:defRPr sz="700">
                <a:latin typeface="Consolas"/>
              </a:defRPr>
            </a:pPr>
            <a:r>
              <a:t>Method:                           MLE   Df Model:                            3</a:t>
            </a:r>
          </a:p>
          <a:p>
            <a:pPr>
              <a:defRPr sz="700">
                <a:latin typeface="Consolas"/>
              </a:defRPr>
            </a:pPr>
            <a:r>
              <a:t>Date:                Mon, 11 May 2026   Pseudo R-squ.:                0.004037</a:t>
            </a:r>
          </a:p>
          <a:p>
            <a:pPr>
              <a:defRPr sz="700">
                <a:latin typeface="Consolas"/>
              </a:defRPr>
            </a:pPr>
            <a:r>
              <a:t>Time:                        17:45:02   Log-Likelihood:                -656.55</a:t>
            </a:r>
          </a:p>
          <a:p>
            <a:pPr>
              <a:defRPr sz="700">
                <a:latin typeface="Consolas"/>
              </a:defRPr>
            </a:pPr>
            <a:r>
              <a:t>converged:                       True   LL-Null:                       -659.21</a:t>
            </a:r>
          </a:p>
          <a:p>
            <a:pPr>
              <a:defRPr sz="700">
                <a:latin typeface="Consolas"/>
              </a:defRPr>
            </a:pPr>
            <a:r>
              <a:t>Covariance Type:            nonrobust   LLR p-value:                    0.1496</a:t>
            </a:r>
          </a:p>
          <a:p>
            <a:pPr>
              <a:defRPr sz="700">
                <a:latin typeface="Consolas"/>
              </a:defRPr>
            </a:pPr>
            <a:r>
              <a:t>==============================================================================</a:t>
            </a:r>
          </a:p>
          <a:p>
            <a:pPr>
              <a:defRPr sz="700">
                <a:latin typeface="Consolas"/>
              </a:defRPr>
            </a:pPr>
            <a:r>
              <a:t>                 coef    std err          z      P&gt;|z|      [0.025      0.975]</a:t>
            </a:r>
          </a:p>
          <a:p>
            <a:pPr>
              <a:defRPr sz="700">
                <a:latin typeface="Consolas"/>
              </a:defRPr>
            </a:pPr>
            <a:r>
              <a:t>------------------------------------------------------------------------------</a:t>
            </a:r>
          </a:p>
          <a:p>
            <a:pPr>
              <a:defRPr sz="700">
                <a:latin typeface="Consolas"/>
              </a:defRPr>
            </a:pPr>
            <a:r>
              <a:t>const         -8.8728      0.041   -216.757      0.000      -8.953      -8.793</a:t>
            </a:r>
          </a:p>
          <a:p>
            <a:pPr>
              <a:defRPr sz="700">
                <a:latin typeface="Consolas"/>
              </a:defRPr>
            </a:pPr>
            <a:r>
              <a:t>T             -0.0005      0.002     -0.231      0.818      -0.004       0.003</a:t>
            </a:r>
          </a:p>
          <a:p>
            <a:pPr>
              <a:defRPr sz="700">
                <a:latin typeface="Consolas"/>
              </a:defRPr>
            </a:pPr>
            <a:r>
              <a:t>X_t            0.0857      0.059      1.452      0.146      -0.030       0.201</a:t>
            </a:r>
          </a:p>
          <a:p>
            <a:pPr>
              <a:defRPr sz="700">
                <a:latin typeface="Consolas"/>
              </a:defRPr>
            </a:pPr>
            <a:r>
              <a:t>post_time  -1.201e-05      0.003     -0.005      0.996      -0.005       0.005</a:t>
            </a:r>
          </a:p>
          <a:p>
            <a:pPr>
              <a:defRPr sz="700">
                <a:latin typeface="Consolas"/>
              </a:defRPr>
            </a:pPr>
            <a:r>
              <a:t>alpha          0.0157      0.003      6.107      0.000       0.011       0.021</a:t>
            </a:r>
          </a:p>
          <a:p>
            <a:pPr>
              <a:defRPr sz="700">
                <a:latin typeface="Consolas"/>
              </a:defRPr>
            </a:pPr>
            <a:r>
              <a:t>==============================================================================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137400" y="6118000"/>
            <a:ext cx="4376198" cy="520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700">
                <a:latin typeface="Aptos"/>
              </a:defRPr>
            </a:pPr>
            <a:r>
              <a:t>Codes in aggregation: 95812, 95813, 95819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177800" y="228600"/>
            <a:ext cx="11836400" cy="46166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/>
            </a:pPr>
            <a:r>
              <a:t>Normalized Poisson ITS (per 100,000 enrollees): Custom Aggregate EEG 3</a:t>
            </a:r>
          </a:p>
        </p:txBody>
      </p:sp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96555" y="1646674"/>
            <a:ext cx="5395090" cy="4275853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7137400" y="889000"/>
            <a:ext cx="4376198" cy="2954655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defRPr sz="700">
                <a:latin typeface="Consolas"/>
              </a:defRPr>
            </a:pPr>
            <a:r>
              <a:t>                 Generalized Linear Model Regression Results                  </a:t>
            </a:r>
          </a:p>
          <a:p>
            <a:pPr>
              <a:defRPr sz="700">
                <a:latin typeface="Consolas"/>
              </a:defRPr>
            </a:pPr>
            <a:r>
              <a:t>==============================================================================</a:t>
            </a:r>
          </a:p>
          <a:p>
            <a:pPr>
              <a:defRPr sz="700">
                <a:latin typeface="Consolas"/>
              </a:defRPr>
            </a:pPr>
            <a:r>
              <a:t>Dep. Variable:                      y   No. Observations:                   75</a:t>
            </a:r>
          </a:p>
          <a:p>
            <a:pPr>
              <a:defRPr sz="700">
                <a:latin typeface="Consolas"/>
              </a:defRPr>
            </a:pPr>
            <a:r>
              <a:t>Model:                            GLM   Df Residuals:                       71</a:t>
            </a:r>
          </a:p>
          <a:p>
            <a:pPr>
              <a:defRPr sz="700">
                <a:latin typeface="Consolas"/>
              </a:defRPr>
            </a:pPr>
            <a:r>
              <a:t>Model Family:                 Poisson   Df Model:                            3</a:t>
            </a:r>
          </a:p>
          <a:p>
            <a:pPr>
              <a:defRPr sz="700">
                <a:latin typeface="Consolas"/>
              </a:defRPr>
            </a:pPr>
            <a:r>
              <a:t>Link Function:                    Log   Scale:                          1.0000</a:t>
            </a:r>
          </a:p>
          <a:p>
            <a:pPr>
              <a:defRPr sz="700">
                <a:latin typeface="Consolas"/>
              </a:defRPr>
            </a:pPr>
            <a:r>
              <a:t>Method:                          IRLS   Log-Likelihood:                -12254.</a:t>
            </a:r>
          </a:p>
          <a:p>
            <a:pPr>
              <a:defRPr sz="700">
                <a:latin typeface="Consolas"/>
              </a:defRPr>
            </a:pPr>
            <a:r>
              <a:t>Date:                Mon, 11 May 2026   Deviance:                       23621.</a:t>
            </a:r>
          </a:p>
          <a:p>
            <a:pPr>
              <a:defRPr sz="700">
                <a:latin typeface="Consolas"/>
              </a:defRPr>
            </a:pPr>
            <a:r>
              <a:t>Time:                        17:45:57   Pearson chi2:                 2.38e+04</a:t>
            </a:r>
          </a:p>
          <a:p>
            <a:pPr>
              <a:defRPr sz="700">
                <a:latin typeface="Consolas"/>
              </a:defRPr>
            </a:pPr>
            <a:r>
              <a:t>No. Iterations:                     4   Pseudo R-squ. (CS):              1.000</a:t>
            </a:r>
          </a:p>
          <a:p>
            <a:pPr>
              <a:defRPr sz="700">
                <a:latin typeface="Consolas"/>
              </a:defRPr>
            </a:pPr>
            <a:r>
              <a:t>Covariance Type:            nonrobust                                         </a:t>
            </a:r>
          </a:p>
          <a:p>
            <a:pPr>
              <a:defRPr sz="700">
                <a:latin typeface="Consolas"/>
              </a:defRPr>
            </a:pPr>
            <a:r>
              <a:t>==============================================================================</a:t>
            </a:r>
          </a:p>
          <a:p>
            <a:pPr>
              <a:defRPr sz="700">
                <a:latin typeface="Consolas"/>
              </a:defRPr>
            </a:pPr>
            <a:r>
              <a:t>                 coef    std err          z      P&gt;|z|      [0.025      0.975]</a:t>
            </a:r>
          </a:p>
          <a:p>
            <a:pPr>
              <a:defRPr sz="700">
                <a:latin typeface="Consolas"/>
              </a:defRPr>
            </a:pPr>
            <a:r>
              <a:t>------------------------------------------------------------------------------</a:t>
            </a:r>
          </a:p>
          <a:p>
            <a:pPr>
              <a:defRPr sz="700">
                <a:latin typeface="Consolas"/>
              </a:defRPr>
            </a:pPr>
            <a:r>
              <a:t>const         -8.3048      0.002  -3586.245      0.000      -8.309      -8.300</a:t>
            </a:r>
          </a:p>
          <a:p>
            <a:pPr>
              <a:defRPr sz="700">
                <a:latin typeface="Consolas"/>
              </a:defRPr>
            </a:pPr>
            <a:r>
              <a:t>T             -0.0006      0.000     -5.578      0.000      -0.001      -0.000</a:t>
            </a:r>
          </a:p>
          <a:p>
            <a:pPr>
              <a:defRPr sz="700">
                <a:latin typeface="Consolas"/>
              </a:defRPr>
            </a:pPr>
            <a:r>
              <a:t>X_t            0.0763      0.003     23.930      0.000       0.070       0.083</a:t>
            </a:r>
          </a:p>
          <a:p>
            <a:pPr>
              <a:defRPr sz="700">
                <a:latin typeface="Consolas"/>
              </a:defRPr>
            </a:pPr>
            <a:r>
              <a:t>post_time      0.0021      0.000     14.805      0.000       0.002       0.002</a:t>
            </a:r>
          </a:p>
          <a:p>
            <a:pPr>
              <a:defRPr sz="700">
                <a:latin typeface="Consolas"/>
              </a:defRPr>
            </a:pPr>
            <a:r>
              <a:t>==============================================================================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137400" y="6118000"/>
            <a:ext cx="4376198" cy="520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700">
                <a:latin typeface="Aptos"/>
              </a:defRPr>
            </a:pPr>
            <a:r>
              <a:t>Codes in aggregation: 95812, 95813, 95816, 95819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177800" y="228600"/>
            <a:ext cx="11836400" cy="46166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/>
            </a:pPr>
            <a:r>
              <a:t>Normalized Negative Binomial ITS (per 100,000 enrollees): Custom Aggregate EEG 3</a:t>
            </a:r>
          </a:p>
        </p:txBody>
      </p:sp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96555" y="1646674"/>
            <a:ext cx="5395090" cy="4275853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7137400" y="889000"/>
            <a:ext cx="4376198" cy="2954655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defRPr sz="700">
                <a:latin typeface="Consolas"/>
              </a:defRPr>
            </a:pPr>
            <a:r>
              <a:t>                     NegativeBinomial Regression Results                      </a:t>
            </a:r>
          </a:p>
          <a:p>
            <a:pPr>
              <a:defRPr sz="700">
                <a:latin typeface="Consolas"/>
              </a:defRPr>
            </a:pPr>
            <a:r>
              <a:t>==============================================================================</a:t>
            </a:r>
          </a:p>
          <a:p>
            <a:pPr>
              <a:defRPr sz="700">
                <a:latin typeface="Consolas"/>
              </a:defRPr>
            </a:pPr>
            <a:r>
              <a:t>Dep. Variable:                      y   No. Observations:                   75</a:t>
            </a:r>
          </a:p>
          <a:p>
            <a:pPr>
              <a:defRPr sz="700">
                <a:latin typeface="Consolas"/>
              </a:defRPr>
            </a:pPr>
            <a:r>
              <a:t>Model:               NegativeBinomial   Df Residuals:                       71</a:t>
            </a:r>
          </a:p>
          <a:p>
            <a:pPr>
              <a:defRPr sz="700">
                <a:latin typeface="Consolas"/>
              </a:defRPr>
            </a:pPr>
            <a:r>
              <a:t>Method:                           MLE   Df Model:                            3</a:t>
            </a:r>
          </a:p>
          <a:p>
            <a:pPr>
              <a:defRPr sz="700">
                <a:latin typeface="Consolas"/>
              </a:defRPr>
            </a:pPr>
            <a:r>
              <a:t>Date:                Mon, 11 May 2026   Pseudo R-squ.:                0.007930</a:t>
            </a:r>
          </a:p>
          <a:p>
            <a:pPr>
              <a:defRPr sz="700">
                <a:latin typeface="Consolas"/>
              </a:defRPr>
            </a:pPr>
            <a:r>
              <a:t>Time:                        17:45:58   Log-Likelihood:                -696.96</a:t>
            </a:r>
          </a:p>
          <a:p>
            <a:pPr>
              <a:defRPr sz="700">
                <a:latin typeface="Consolas"/>
              </a:defRPr>
            </a:pPr>
            <a:r>
              <a:t>converged:                       True   LL-Null:                       -702.53</a:t>
            </a:r>
          </a:p>
          <a:p>
            <a:pPr>
              <a:defRPr sz="700">
                <a:latin typeface="Consolas"/>
              </a:defRPr>
            </a:pPr>
            <a:r>
              <a:t>Covariance Type:            nonrobust   LLR p-value:                   0.01098</a:t>
            </a:r>
          </a:p>
          <a:p>
            <a:pPr>
              <a:defRPr sz="700">
                <a:latin typeface="Consolas"/>
              </a:defRPr>
            </a:pPr>
            <a:r>
              <a:t>==============================================================================</a:t>
            </a:r>
          </a:p>
          <a:p>
            <a:pPr>
              <a:defRPr sz="700">
                <a:latin typeface="Consolas"/>
              </a:defRPr>
            </a:pPr>
            <a:r>
              <a:t>                 coef    std err          z      P&gt;|z|      [0.025      0.975]</a:t>
            </a:r>
          </a:p>
          <a:p>
            <a:pPr>
              <a:defRPr sz="700">
                <a:latin typeface="Consolas"/>
              </a:defRPr>
            </a:pPr>
            <a:r>
              <a:t>------------------------------------------------------------------------------</a:t>
            </a:r>
          </a:p>
          <a:p>
            <a:pPr>
              <a:defRPr sz="700">
                <a:latin typeface="Consolas"/>
              </a:defRPr>
            </a:pPr>
            <a:r>
              <a:t>const         -8.3062      0.039   -212.318      0.000      -8.383      -8.230</a:t>
            </a:r>
          </a:p>
          <a:p>
            <a:pPr>
              <a:defRPr sz="700">
                <a:latin typeface="Consolas"/>
              </a:defRPr>
            </a:pPr>
            <a:r>
              <a:t>T             -0.0004      0.002     -0.221      0.825      -0.004       0.003</a:t>
            </a:r>
          </a:p>
          <a:p>
            <a:pPr>
              <a:defRPr sz="700">
                <a:latin typeface="Consolas"/>
              </a:defRPr>
            </a:pPr>
            <a:r>
              <a:t>X_t            0.0744      0.056      1.317      0.188      -0.036       0.185</a:t>
            </a:r>
          </a:p>
          <a:p>
            <a:pPr>
              <a:defRPr sz="700">
                <a:latin typeface="Consolas"/>
              </a:defRPr>
            </a:pPr>
            <a:r>
              <a:t>post_time      0.0017      0.002      0.700      0.484      -0.003       0.007</a:t>
            </a:r>
          </a:p>
          <a:p>
            <a:pPr>
              <a:defRPr sz="700">
                <a:latin typeface="Consolas"/>
              </a:defRPr>
            </a:pPr>
            <a:r>
              <a:t>alpha          0.0144      0.002      6.118      0.000       0.010       0.019</a:t>
            </a:r>
          </a:p>
          <a:p>
            <a:pPr>
              <a:defRPr sz="700">
                <a:latin typeface="Consolas"/>
              </a:defRPr>
            </a:pPr>
            <a:r>
              <a:t>==============================================================================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137400" y="6118000"/>
            <a:ext cx="4376198" cy="520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700">
                <a:latin typeface="Aptos"/>
              </a:defRPr>
            </a:pPr>
            <a:r>
              <a:t>Codes in aggregation: 95812, 95813, 95816, 95819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177800" y="228600"/>
            <a:ext cx="11836400" cy="46166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/>
            </a:pPr>
            <a:r>
              <a:t>Normalized Poisson ITS (per 100,000 enrollees): Custom Aggregate EEG 4</a:t>
            </a:r>
          </a:p>
        </p:txBody>
      </p:sp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96555" y="1646674"/>
            <a:ext cx="5395090" cy="4275853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7137400" y="889000"/>
            <a:ext cx="4376198" cy="2954655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defRPr sz="700">
                <a:latin typeface="Consolas"/>
              </a:defRPr>
            </a:pPr>
            <a:r>
              <a:t>                 Generalized Linear Model Regression Results                  </a:t>
            </a:r>
          </a:p>
          <a:p>
            <a:pPr>
              <a:defRPr sz="700">
                <a:latin typeface="Consolas"/>
              </a:defRPr>
            </a:pPr>
            <a:r>
              <a:t>==============================================================================</a:t>
            </a:r>
          </a:p>
          <a:p>
            <a:pPr>
              <a:defRPr sz="700">
                <a:latin typeface="Consolas"/>
              </a:defRPr>
            </a:pPr>
            <a:r>
              <a:t>Dep. Variable:                      y   No. Observations:                   75</a:t>
            </a:r>
          </a:p>
          <a:p>
            <a:pPr>
              <a:defRPr sz="700">
                <a:latin typeface="Consolas"/>
              </a:defRPr>
            </a:pPr>
            <a:r>
              <a:t>Model:                            GLM   Df Residuals:                       71</a:t>
            </a:r>
          </a:p>
          <a:p>
            <a:pPr>
              <a:defRPr sz="700">
                <a:latin typeface="Consolas"/>
              </a:defRPr>
            </a:pPr>
            <a:r>
              <a:t>Model Family:                 Poisson   Df Model:                            3</a:t>
            </a:r>
          </a:p>
          <a:p>
            <a:pPr>
              <a:defRPr sz="700">
                <a:latin typeface="Consolas"/>
              </a:defRPr>
            </a:pPr>
            <a:r>
              <a:t>Link Function:                    Log   Scale:                          1.0000</a:t>
            </a:r>
          </a:p>
          <a:p>
            <a:pPr>
              <a:defRPr sz="700">
                <a:latin typeface="Consolas"/>
              </a:defRPr>
            </a:pPr>
            <a:r>
              <a:t>Method:                          IRLS   Log-Likelihood:                -16107.</a:t>
            </a:r>
          </a:p>
          <a:p>
            <a:pPr>
              <a:defRPr sz="700">
                <a:latin typeface="Consolas"/>
              </a:defRPr>
            </a:pPr>
            <a:r>
              <a:t>Date:                Mon, 11 May 2026   Deviance:                       31384.</a:t>
            </a:r>
          </a:p>
          <a:p>
            <a:pPr>
              <a:defRPr sz="700">
                <a:latin typeface="Consolas"/>
              </a:defRPr>
            </a:pPr>
            <a:r>
              <a:t>Time:                        17:46:46   Pearson chi2:                 3.29e+04</a:t>
            </a:r>
          </a:p>
          <a:p>
            <a:pPr>
              <a:defRPr sz="700">
                <a:latin typeface="Consolas"/>
              </a:defRPr>
            </a:pPr>
            <a:r>
              <a:t>No. Iterations:                     6   Pseudo R-squ. (CS):              1.000</a:t>
            </a:r>
          </a:p>
          <a:p>
            <a:pPr>
              <a:defRPr sz="700">
                <a:latin typeface="Consolas"/>
              </a:defRPr>
            </a:pPr>
            <a:r>
              <a:t>Covariance Type:            nonrobust                                         </a:t>
            </a:r>
          </a:p>
          <a:p>
            <a:pPr>
              <a:defRPr sz="700">
                <a:latin typeface="Consolas"/>
              </a:defRPr>
            </a:pPr>
            <a:r>
              <a:t>==============================================================================</a:t>
            </a:r>
          </a:p>
          <a:p>
            <a:pPr>
              <a:defRPr sz="700">
                <a:latin typeface="Consolas"/>
              </a:defRPr>
            </a:pPr>
            <a:r>
              <a:t>                 coef    std err          z      P&gt;|z|      [0.025      0.975]</a:t>
            </a:r>
          </a:p>
          <a:p>
            <a:pPr>
              <a:defRPr sz="700">
                <a:latin typeface="Consolas"/>
              </a:defRPr>
            </a:pPr>
            <a:r>
              <a:t>------------------------------------------------------------------------------</a:t>
            </a:r>
          </a:p>
          <a:p>
            <a:pPr>
              <a:defRPr sz="700">
                <a:latin typeface="Consolas"/>
              </a:defRPr>
            </a:pPr>
            <a:r>
              <a:t>const        -10.5704      0.005  -1949.816      0.000     -10.581     -10.560</a:t>
            </a:r>
          </a:p>
          <a:p>
            <a:pPr>
              <a:defRPr sz="700">
                <a:latin typeface="Consolas"/>
              </a:defRPr>
            </a:pPr>
            <a:r>
              <a:t>T              0.0550      0.000    273.351      0.000       0.055       0.055</a:t>
            </a:r>
          </a:p>
          <a:p>
            <a:pPr>
              <a:defRPr sz="700">
                <a:latin typeface="Consolas"/>
              </a:defRPr>
            </a:pPr>
            <a:r>
              <a:t>X_t           -0.0581      0.004    -14.392      0.000      -0.066      -0.050</a:t>
            </a:r>
          </a:p>
          <a:p>
            <a:pPr>
              <a:defRPr sz="700">
                <a:latin typeface="Consolas"/>
              </a:defRPr>
            </a:pPr>
            <a:r>
              <a:t>post_time     -0.0501      0.000   -222.571      0.000      -0.051      -0.050</a:t>
            </a:r>
          </a:p>
          <a:p>
            <a:pPr>
              <a:defRPr sz="700">
                <a:latin typeface="Consolas"/>
              </a:defRPr>
            </a:pPr>
            <a:r>
              <a:t>==============================================================================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137400" y="6118000"/>
            <a:ext cx="4376198" cy="520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700">
                <a:latin typeface="Aptos"/>
              </a:defRPr>
            </a:pPr>
            <a:r>
              <a:t>Codes in aggregation: 95812, 95813, 95700, 95720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177800" y="228600"/>
            <a:ext cx="11836400" cy="46166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/>
            </a:pPr>
            <a:r>
              <a:t>Normalized Negative Binomial ITS (per 100,000 enrollees): Custom Aggregate EEG 4</a:t>
            </a:r>
          </a:p>
        </p:txBody>
      </p:sp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96555" y="1646674"/>
            <a:ext cx="5395090" cy="4275853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7137400" y="889000"/>
            <a:ext cx="4376198" cy="2954655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defRPr sz="700">
                <a:latin typeface="Consolas"/>
              </a:defRPr>
            </a:pPr>
            <a:r>
              <a:t>                     NegativeBinomial Regression Results                      </a:t>
            </a:r>
          </a:p>
          <a:p>
            <a:pPr>
              <a:defRPr sz="700">
                <a:latin typeface="Consolas"/>
              </a:defRPr>
            </a:pPr>
            <a:r>
              <a:t>==============================================================================</a:t>
            </a:r>
          </a:p>
          <a:p>
            <a:pPr>
              <a:defRPr sz="700">
                <a:latin typeface="Consolas"/>
              </a:defRPr>
            </a:pPr>
            <a:r>
              <a:t>Dep. Variable:                      y   No. Observations:                   75</a:t>
            </a:r>
          </a:p>
          <a:p>
            <a:pPr>
              <a:defRPr sz="700">
                <a:latin typeface="Consolas"/>
              </a:defRPr>
            </a:pPr>
            <a:r>
              <a:t>Model:               NegativeBinomial   Df Residuals:                       71</a:t>
            </a:r>
          </a:p>
          <a:p>
            <a:pPr>
              <a:defRPr sz="700">
                <a:latin typeface="Consolas"/>
              </a:defRPr>
            </a:pPr>
            <a:r>
              <a:t>Method:                           MLE   Df Model:                            3</a:t>
            </a:r>
          </a:p>
          <a:p>
            <a:pPr>
              <a:defRPr sz="700">
                <a:latin typeface="Consolas"/>
              </a:defRPr>
            </a:pPr>
            <a:r>
              <a:t>Date:                Mon, 11 May 2026   Pseudo R-squ.:                  0.1003</a:t>
            </a:r>
          </a:p>
          <a:p>
            <a:pPr>
              <a:defRPr sz="700">
                <a:latin typeface="Consolas"/>
              </a:defRPr>
            </a:pPr>
            <a:r>
              <a:t>Time:                        17:46:46   Log-Likelihood:                -691.68</a:t>
            </a:r>
          </a:p>
          <a:p>
            <a:pPr>
              <a:defRPr sz="700">
                <a:latin typeface="Consolas"/>
              </a:defRPr>
            </a:pPr>
            <a:r>
              <a:t>converged:                      False   LL-Null:                       -768.81</a:t>
            </a:r>
          </a:p>
          <a:p>
            <a:pPr>
              <a:defRPr sz="700">
                <a:latin typeface="Consolas"/>
              </a:defRPr>
            </a:pPr>
            <a:r>
              <a:t>Covariance Type:            nonrobust   LLR p-value:                 3.181e-33</a:t>
            </a:r>
          </a:p>
          <a:p>
            <a:pPr>
              <a:defRPr sz="700">
                <a:latin typeface="Consolas"/>
              </a:defRPr>
            </a:pPr>
            <a:r>
              <a:t>==============================================================================</a:t>
            </a:r>
          </a:p>
          <a:p>
            <a:pPr>
              <a:defRPr sz="700">
                <a:latin typeface="Consolas"/>
              </a:defRPr>
            </a:pPr>
            <a:r>
              <a:t>                 coef    std err          z      P&gt;|z|      [0.025      0.975]</a:t>
            </a:r>
          </a:p>
          <a:p>
            <a:pPr>
              <a:defRPr sz="700">
                <a:latin typeface="Consolas"/>
              </a:defRPr>
            </a:pPr>
            <a:r>
              <a:t>------------------------------------------------------------------------------</a:t>
            </a:r>
          </a:p>
          <a:p>
            <a:pPr>
              <a:defRPr sz="700">
                <a:latin typeface="Consolas"/>
              </a:defRPr>
            </a:pPr>
            <a:r>
              <a:t>const        -10.4924      0.073   -144.005      0.000     -10.635     -10.350</a:t>
            </a:r>
          </a:p>
          <a:p>
            <a:pPr>
              <a:defRPr sz="700">
                <a:latin typeface="Consolas"/>
              </a:defRPr>
            </a:pPr>
            <a:r>
              <a:t>T              0.0512      0.003     14.992      0.000       0.045       0.058</a:t>
            </a:r>
          </a:p>
          <a:p>
            <a:pPr>
              <a:defRPr sz="700">
                <a:latin typeface="Consolas"/>
              </a:defRPr>
            </a:pPr>
            <a:r>
              <a:t>X_t            0.0100      0.108      0.093      0.926      -0.202       0.222</a:t>
            </a:r>
          </a:p>
          <a:p>
            <a:pPr>
              <a:defRPr sz="700">
                <a:latin typeface="Consolas"/>
              </a:defRPr>
            </a:pPr>
            <a:r>
              <a:t>post_time     -0.0466      0.005     -9.917      0.000      -0.056      -0.037</a:t>
            </a:r>
          </a:p>
          <a:p>
            <a:pPr>
              <a:defRPr sz="700">
                <a:latin typeface="Consolas"/>
              </a:defRPr>
            </a:pPr>
            <a:r>
              <a:t>alpha          0.0563      0.009      6.160      0.000       0.038       0.074</a:t>
            </a:r>
          </a:p>
          <a:p>
            <a:pPr>
              <a:defRPr sz="700">
                <a:latin typeface="Consolas"/>
              </a:defRPr>
            </a:pPr>
            <a:r>
              <a:t>==============================================================================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137400" y="6118000"/>
            <a:ext cx="4376198" cy="520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700">
                <a:latin typeface="Aptos"/>
              </a:defRPr>
            </a:pPr>
            <a:r>
              <a:t>Codes in aggregation: 95812, 95813, 95700, 95720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177800" y="228600"/>
            <a:ext cx="11836400" cy="46166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/>
            </a:pPr>
            <a:r>
              <a:t>Normalized Poisson ITS (per 100,000 enrollees): Custom Aggregate EEG 5</a:t>
            </a:r>
          </a:p>
        </p:txBody>
      </p:sp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96555" y="1646674"/>
            <a:ext cx="5395090" cy="4275853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7137400" y="889000"/>
            <a:ext cx="4376198" cy="2954655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defRPr sz="700">
                <a:latin typeface="Consolas"/>
              </a:defRPr>
            </a:pPr>
            <a:r>
              <a:t>                 Generalized Linear Model Regression Results                  </a:t>
            </a:r>
          </a:p>
          <a:p>
            <a:pPr>
              <a:defRPr sz="700">
                <a:latin typeface="Consolas"/>
              </a:defRPr>
            </a:pPr>
            <a:r>
              <a:t>==============================================================================</a:t>
            </a:r>
          </a:p>
          <a:p>
            <a:pPr>
              <a:defRPr sz="700">
                <a:latin typeface="Consolas"/>
              </a:defRPr>
            </a:pPr>
            <a:r>
              <a:t>Dep. Variable:                      y   No. Observations:                   75</a:t>
            </a:r>
          </a:p>
          <a:p>
            <a:pPr>
              <a:defRPr sz="700">
                <a:latin typeface="Consolas"/>
              </a:defRPr>
            </a:pPr>
            <a:r>
              <a:t>Model:                            GLM   Df Residuals:                       71</a:t>
            </a:r>
          </a:p>
          <a:p>
            <a:pPr>
              <a:defRPr sz="700">
                <a:latin typeface="Consolas"/>
              </a:defRPr>
            </a:pPr>
            <a:r>
              <a:t>Model Family:                 Poisson   Df Model:                            3</a:t>
            </a:r>
          </a:p>
          <a:p>
            <a:pPr>
              <a:defRPr sz="700">
                <a:latin typeface="Consolas"/>
              </a:defRPr>
            </a:pPr>
            <a:r>
              <a:t>Link Function:                    Log   Scale:                          1.0000</a:t>
            </a:r>
          </a:p>
          <a:p>
            <a:pPr>
              <a:defRPr sz="700">
                <a:latin typeface="Consolas"/>
              </a:defRPr>
            </a:pPr>
            <a:r>
              <a:t>Method:                          IRLS   Log-Likelihood:                -16783.</a:t>
            </a:r>
          </a:p>
          <a:p>
            <a:pPr>
              <a:defRPr sz="700">
                <a:latin typeface="Consolas"/>
              </a:defRPr>
            </a:pPr>
            <a:r>
              <a:t>Date:                Mon, 11 May 2026   Deviance:                       32656.</a:t>
            </a:r>
          </a:p>
          <a:p>
            <a:pPr>
              <a:defRPr sz="700">
                <a:latin typeface="Consolas"/>
              </a:defRPr>
            </a:pPr>
            <a:r>
              <a:t>Time:                        17:47:55   Pearson chi2:                 3.30e+04</a:t>
            </a:r>
          </a:p>
          <a:p>
            <a:pPr>
              <a:defRPr sz="700">
                <a:latin typeface="Consolas"/>
              </a:defRPr>
            </a:pPr>
            <a:r>
              <a:t>No. Iterations:                     5   Pseudo R-squ. (CS):              1.000</a:t>
            </a:r>
          </a:p>
          <a:p>
            <a:pPr>
              <a:defRPr sz="700">
                <a:latin typeface="Consolas"/>
              </a:defRPr>
            </a:pPr>
            <a:r>
              <a:t>Covariance Type:            nonrobust                                         </a:t>
            </a:r>
          </a:p>
          <a:p>
            <a:pPr>
              <a:defRPr sz="700">
                <a:latin typeface="Consolas"/>
              </a:defRPr>
            </a:pPr>
            <a:r>
              <a:t>==============================================================================</a:t>
            </a:r>
          </a:p>
          <a:p>
            <a:pPr>
              <a:defRPr sz="700">
                <a:latin typeface="Consolas"/>
              </a:defRPr>
            </a:pPr>
            <a:r>
              <a:t>                 coef    std err          z      P&gt;|z|      [0.025      0.975]</a:t>
            </a:r>
          </a:p>
          <a:p>
            <a:pPr>
              <a:defRPr sz="700">
                <a:latin typeface="Consolas"/>
              </a:defRPr>
            </a:pPr>
            <a:r>
              <a:t>------------------------------------------------------------------------------</a:t>
            </a:r>
          </a:p>
          <a:p>
            <a:pPr>
              <a:defRPr sz="700">
                <a:latin typeface="Consolas"/>
              </a:defRPr>
            </a:pPr>
            <a:r>
              <a:t>const         -8.4367      0.002  -3656.450      0.000      -8.441      -8.432</a:t>
            </a:r>
          </a:p>
          <a:p>
            <a:pPr>
              <a:defRPr sz="700">
                <a:latin typeface="Consolas"/>
              </a:defRPr>
            </a:pPr>
            <a:r>
              <a:t>T              0.0145      0.000    143.681      0.000       0.014       0.015</a:t>
            </a:r>
          </a:p>
          <a:p>
            <a:pPr>
              <a:defRPr sz="700">
                <a:latin typeface="Consolas"/>
              </a:defRPr>
            </a:pPr>
            <a:r>
              <a:t>X_t            0.0581      0.003     21.791      0.000       0.053       0.063</a:t>
            </a:r>
          </a:p>
          <a:p>
            <a:pPr>
              <a:defRPr sz="700">
                <a:latin typeface="Consolas"/>
              </a:defRPr>
            </a:pPr>
            <a:r>
              <a:t>post_time     -0.0115      0.000    -93.000      0.000      -0.012      -0.011</a:t>
            </a:r>
          </a:p>
          <a:p>
            <a:pPr>
              <a:defRPr sz="700">
                <a:latin typeface="Consolas"/>
              </a:defRPr>
            </a:pPr>
            <a:r>
              <a:t>==============================================================================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137400" y="6118000"/>
            <a:ext cx="4376198" cy="520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700">
                <a:latin typeface="Aptos"/>
              </a:defRPr>
            </a:pPr>
            <a:r>
              <a:t>Codes in aggregation: 95812, 95813, 95816, 95819, 95700, 95720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177800" y="228600"/>
            <a:ext cx="11836400" cy="46166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/>
            </a:pPr>
            <a:r>
              <a:t>Normalized Negative Binomial ITS (per 100,000 enrollees): Custom Aggregate EEG 5</a:t>
            </a:r>
          </a:p>
        </p:txBody>
      </p:sp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96555" y="1646674"/>
            <a:ext cx="5395090" cy="4275853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7137400" y="889000"/>
            <a:ext cx="4376198" cy="2954655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defRPr sz="700">
                <a:latin typeface="Consolas"/>
              </a:defRPr>
            </a:pPr>
            <a:r>
              <a:t>                     NegativeBinomial Regression Results                      </a:t>
            </a:r>
          </a:p>
          <a:p>
            <a:pPr>
              <a:defRPr sz="700">
                <a:latin typeface="Consolas"/>
              </a:defRPr>
            </a:pPr>
            <a:r>
              <a:t>==============================================================================</a:t>
            </a:r>
          </a:p>
          <a:p>
            <a:pPr>
              <a:defRPr sz="700">
                <a:latin typeface="Consolas"/>
              </a:defRPr>
            </a:pPr>
            <a:r>
              <a:t>Dep. Variable:                      y   No. Observations:                   75</a:t>
            </a:r>
          </a:p>
          <a:p>
            <a:pPr>
              <a:defRPr sz="700">
                <a:latin typeface="Consolas"/>
              </a:defRPr>
            </a:pPr>
            <a:r>
              <a:t>Model:               NegativeBinomial   Df Residuals:                       71</a:t>
            </a:r>
          </a:p>
          <a:p>
            <a:pPr>
              <a:defRPr sz="700">
                <a:latin typeface="Consolas"/>
              </a:defRPr>
            </a:pPr>
            <a:r>
              <a:t>Method:                           MLE   Df Model:                            3</a:t>
            </a:r>
          </a:p>
          <a:p>
            <a:pPr>
              <a:defRPr sz="700">
                <a:latin typeface="Consolas"/>
              </a:defRPr>
            </a:pPr>
            <a:r>
              <a:t>Date:                Mon, 11 May 2026   Pseudo R-squ.:                 0.07032</a:t>
            </a:r>
          </a:p>
          <a:p>
            <a:pPr>
              <a:defRPr sz="700">
                <a:latin typeface="Consolas"/>
              </a:defRPr>
            </a:pPr>
            <a:r>
              <a:t>Time:                        17:47:56   Log-Likelihood:                -720.97</a:t>
            </a:r>
          </a:p>
          <a:p>
            <a:pPr>
              <a:defRPr sz="700">
                <a:latin typeface="Consolas"/>
              </a:defRPr>
            </a:pPr>
            <a:r>
              <a:t>converged:                       True   LL-Null:                       -775.51</a:t>
            </a:r>
          </a:p>
          <a:p>
            <a:pPr>
              <a:defRPr sz="700">
                <a:latin typeface="Consolas"/>
              </a:defRPr>
            </a:pPr>
            <a:r>
              <a:t>Covariance Type:            nonrobust   LLR p-value:                 1.743e-23</a:t>
            </a:r>
          </a:p>
          <a:p>
            <a:pPr>
              <a:defRPr sz="700">
                <a:latin typeface="Consolas"/>
              </a:defRPr>
            </a:pPr>
            <a:r>
              <a:t>==============================================================================</a:t>
            </a:r>
          </a:p>
          <a:p>
            <a:pPr>
              <a:defRPr sz="700">
                <a:latin typeface="Consolas"/>
              </a:defRPr>
            </a:pPr>
            <a:r>
              <a:t>                 coef    std err          z      P&gt;|z|      [0.025      0.975]</a:t>
            </a:r>
          </a:p>
          <a:p>
            <a:pPr>
              <a:defRPr sz="700">
                <a:latin typeface="Consolas"/>
              </a:defRPr>
            </a:pPr>
            <a:r>
              <a:t>------------------------------------------------------------------------------</a:t>
            </a:r>
          </a:p>
          <a:p>
            <a:pPr>
              <a:defRPr sz="700">
                <a:latin typeface="Consolas"/>
              </a:defRPr>
            </a:pPr>
            <a:r>
              <a:t>const         -8.4379      0.039   -215.476      0.000      -8.515      -8.361</a:t>
            </a:r>
          </a:p>
          <a:p>
            <a:pPr>
              <a:defRPr sz="700">
                <a:latin typeface="Consolas"/>
              </a:defRPr>
            </a:pPr>
            <a:r>
              <a:t>T              0.0145      0.002      7.791      0.000       0.011       0.018</a:t>
            </a:r>
          </a:p>
          <a:p>
            <a:pPr>
              <a:defRPr sz="700">
                <a:latin typeface="Consolas"/>
              </a:defRPr>
            </a:pPr>
            <a:r>
              <a:t>X_t            0.0609      0.057      1.067      0.286      -0.051       0.173</a:t>
            </a:r>
          </a:p>
          <a:p>
            <a:pPr>
              <a:defRPr sz="700">
                <a:latin typeface="Consolas"/>
              </a:defRPr>
            </a:pPr>
            <a:r>
              <a:t>post_time     -0.0117      0.003     -4.688      0.000      -0.017      -0.007</a:t>
            </a:r>
          </a:p>
          <a:p>
            <a:pPr>
              <a:defRPr sz="700">
                <a:latin typeface="Consolas"/>
              </a:defRPr>
            </a:pPr>
            <a:r>
              <a:t>alpha          0.0151      0.002      6.123      0.000       0.010       0.020</a:t>
            </a:r>
          </a:p>
          <a:p>
            <a:pPr>
              <a:defRPr sz="700">
                <a:latin typeface="Consolas"/>
              </a:defRPr>
            </a:pPr>
            <a:r>
              <a:t>==============================================================================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137400" y="6118000"/>
            <a:ext cx="4376198" cy="520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700">
                <a:latin typeface="Aptos"/>
              </a:defRPr>
            </a:pPr>
            <a:r>
              <a:t>Codes in aggregation: 95812, 95813, 95816, 95819, 95700, 95720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CBBF208-9D17-E7F8-327B-2E992AED3FA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ECG</a:t>
            </a:r>
          </a:p>
        </p:txBody>
      </p:sp>
    </p:spTree>
    <p:extLst>
      <p:ext uri="{BB962C8B-B14F-4D97-AF65-F5344CB8AC3E}">
        <p14:creationId xmlns:p14="http://schemas.microsoft.com/office/powerpoint/2010/main" val="560601572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177800" y="228600"/>
            <a:ext cx="9438546" cy="46166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/>
            </a:pPr>
            <a:r>
              <a:rPr dirty="0"/>
              <a:t>Normalized Poisson ITS (per 100,000 enrollees): Custom Aggregate E</a:t>
            </a:r>
            <a:r>
              <a:rPr lang="en-US" dirty="0"/>
              <a:t>C</a:t>
            </a:r>
            <a:r>
              <a:rPr dirty="0"/>
              <a:t>G 1</a:t>
            </a:r>
          </a:p>
        </p:txBody>
      </p:sp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96555" y="1646674"/>
            <a:ext cx="5395090" cy="4275853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7137400" y="889000"/>
            <a:ext cx="4376198" cy="2954655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defRPr sz="700">
                <a:latin typeface="Consolas"/>
              </a:defRPr>
            </a:pPr>
            <a:r>
              <a:t>                 Generalized Linear Model Regression Results                  </a:t>
            </a:r>
          </a:p>
          <a:p>
            <a:pPr>
              <a:defRPr sz="700">
                <a:latin typeface="Consolas"/>
              </a:defRPr>
            </a:pPr>
            <a:r>
              <a:t>==============================================================================</a:t>
            </a:r>
          </a:p>
          <a:p>
            <a:pPr>
              <a:defRPr sz="700">
                <a:latin typeface="Consolas"/>
              </a:defRPr>
            </a:pPr>
            <a:r>
              <a:t>Dep. Variable:                      y   No. Observations:                   75</a:t>
            </a:r>
          </a:p>
          <a:p>
            <a:pPr>
              <a:defRPr sz="700">
                <a:latin typeface="Consolas"/>
              </a:defRPr>
            </a:pPr>
            <a:r>
              <a:t>Model:                            GLM   Df Residuals:                       71</a:t>
            </a:r>
          </a:p>
          <a:p>
            <a:pPr>
              <a:defRPr sz="700">
                <a:latin typeface="Consolas"/>
              </a:defRPr>
            </a:pPr>
            <a:r>
              <a:t>Model Family:                 Poisson   Df Model:                            3</a:t>
            </a:r>
          </a:p>
          <a:p>
            <a:pPr>
              <a:defRPr sz="700">
                <a:latin typeface="Consolas"/>
              </a:defRPr>
            </a:pPr>
            <a:r>
              <a:t>Link Function:                    Log   Scale:                          1.0000</a:t>
            </a:r>
          </a:p>
          <a:p>
            <a:pPr>
              <a:defRPr sz="700">
                <a:latin typeface="Consolas"/>
              </a:defRPr>
            </a:pPr>
            <a:r>
              <a:t>Method:                          IRLS   Log-Likelihood:            -2.5244e+05</a:t>
            </a:r>
          </a:p>
          <a:p>
            <a:pPr>
              <a:defRPr sz="700">
                <a:latin typeface="Consolas"/>
              </a:defRPr>
            </a:pPr>
            <a:r>
              <a:t>Date:                Mon, 11 May 2026   Deviance:                   5.0367e+05</a:t>
            </a:r>
          </a:p>
          <a:p>
            <a:pPr>
              <a:defRPr sz="700">
                <a:latin typeface="Consolas"/>
              </a:defRPr>
            </a:pPr>
            <a:r>
              <a:t>Time:                        17:48:52   Pearson chi2:                 5.05e+05</a:t>
            </a:r>
          </a:p>
          <a:p>
            <a:pPr>
              <a:defRPr sz="700">
                <a:latin typeface="Consolas"/>
              </a:defRPr>
            </a:pPr>
            <a:r>
              <a:t>No. Iterations:                     4   Pseudo R-squ. (CS):              1.000</a:t>
            </a:r>
          </a:p>
          <a:p>
            <a:pPr>
              <a:defRPr sz="700">
                <a:latin typeface="Consolas"/>
              </a:defRPr>
            </a:pPr>
            <a:r>
              <a:t>Covariance Type:            nonrobust                                         </a:t>
            </a:r>
          </a:p>
          <a:p>
            <a:pPr>
              <a:defRPr sz="700">
                <a:latin typeface="Consolas"/>
              </a:defRPr>
            </a:pPr>
            <a:r>
              <a:t>==============================================================================</a:t>
            </a:r>
          </a:p>
          <a:p>
            <a:pPr>
              <a:defRPr sz="700">
                <a:latin typeface="Consolas"/>
              </a:defRPr>
            </a:pPr>
            <a:r>
              <a:t>                 coef    std err          z      P&gt;|z|      [0.025      0.975]</a:t>
            </a:r>
          </a:p>
          <a:p>
            <a:pPr>
              <a:defRPr sz="700">
                <a:latin typeface="Consolas"/>
              </a:defRPr>
            </a:pPr>
            <a:r>
              <a:t>------------------------------------------------------------------------------</a:t>
            </a:r>
          </a:p>
          <a:p>
            <a:pPr>
              <a:defRPr sz="700">
                <a:latin typeface="Consolas"/>
              </a:defRPr>
            </a:pPr>
            <a:r>
              <a:t>const         -3.8451      0.000  -1.55e+04      0.000      -3.846      -3.845</a:t>
            </a:r>
          </a:p>
          <a:p>
            <a:pPr>
              <a:defRPr sz="700">
                <a:latin typeface="Consolas"/>
              </a:defRPr>
            </a:pPr>
            <a:r>
              <a:t>T              0.0005   1.16e-05     40.861      0.000       0.000       0.000</a:t>
            </a:r>
          </a:p>
          <a:p>
            <a:pPr>
              <a:defRPr sz="700">
                <a:latin typeface="Consolas"/>
              </a:defRPr>
            </a:pPr>
            <a:r>
              <a:t>X_t            0.0411      0.000    120.300      0.000       0.040       0.042</a:t>
            </a:r>
          </a:p>
          <a:p>
            <a:pPr>
              <a:defRPr sz="700">
                <a:latin typeface="Consolas"/>
              </a:defRPr>
            </a:pPr>
            <a:r>
              <a:t>post_time     -0.0022   1.52e-05   -143.551      0.000      -0.002      -0.002</a:t>
            </a:r>
          </a:p>
          <a:p>
            <a:pPr>
              <a:defRPr sz="700">
                <a:latin typeface="Consolas"/>
              </a:defRPr>
            </a:pPr>
            <a:r>
              <a:t>==============================================================================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137400" y="6118000"/>
            <a:ext cx="4376198" cy="520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700">
                <a:latin typeface="Aptos"/>
              </a:defRPr>
            </a:pPr>
            <a:r>
              <a:t>Codes in aggregation: 93000, 93005, 93010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177800" y="228600"/>
            <a:ext cx="10791800" cy="46166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/>
            </a:pPr>
            <a:r>
              <a:rPr dirty="0"/>
              <a:t>Normalized Negative Binomial ITS (per 100,000 enrollees): Custom Aggregate E</a:t>
            </a:r>
            <a:r>
              <a:rPr lang="en-US" dirty="0"/>
              <a:t>C</a:t>
            </a:r>
            <a:r>
              <a:rPr dirty="0"/>
              <a:t>G 1</a:t>
            </a:r>
          </a:p>
        </p:txBody>
      </p:sp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96555" y="1646674"/>
            <a:ext cx="5395090" cy="4275853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7137400" y="889000"/>
            <a:ext cx="4376198" cy="2954655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defRPr sz="700">
                <a:latin typeface="Consolas"/>
              </a:defRPr>
            </a:pPr>
            <a:r>
              <a:t>                     NegativeBinomial Regression Results                      </a:t>
            </a:r>
          </a:p>
          <a:p>
            <a:pPr>
              <a:defRPr sz="700">
                <a:latin typeface="Consolas"/>
              </a:defRPr>
            </a:pPr>
            <a:r>
              <a:t>==============================================================================</a:t>
            </a:r>
          </a:p>
          <a:p>
            <a:pPr>
              <a:defRPr sz="700">
                <a:latin typeface="Consolas"/>
              </a:defRPr>
            </a:pPr>
            <a:r>
              <a:t>Dep. Variable:                      y   No. Observations:                   75</a:t>
            </a:r>
          </a:p>
          <a:p>
            <a:pPr>
              <a:defRPr sz="700">
                <a:latin typeface="Consolas"/>
              </a:defRPr>
            </a:pPr>
            <a:r>
              <a:t>Model:               NegativeBinomial   Df Residuals:                       71</a:t>
            </a:r>
          </a:p>
          <a:p>
            <a:pPr>
              <a:defRPr sz="700">
                <a:latin typeface="Consolas"/>
              </a:defRPr>
            </a:pPr>
            <a:r>
              <a:t>Method:                           MLE   Df Model:                            3</a:t>
            </a:r>
          </a:p>
          <a:p>
            <a:pPr>
              <a:defRPr sz="700">
                <a:latin typeface="Consolas"/>
              </a:defRPr>
            </a:pPr>
            <a:r>
              <a:t>Date:                Mon, 11 May 2026   Pseudo R-squ.:                0.002916</a:t>
            </a:r>
          </a:p>
          <a:p>
            <a:pPr>
              <a:defRPr sz="700">
                <a:latin typeface="Consolas"/>
              </a:defRPr>
            </a:pPr>
            <a:r>
              <a:t>Time:                        17:48:52   Log-Likelihood:                -978.97</a:t>
            </a:r>
          </a:p>
          <a:p>
            <a:pPr>
              <a:defRPr sz="700">
                <a:latin typeface="Consolas"/>
              </a:defRPr>
            </a:pPr>
            <a:r>
              <a:t>converged:                      False   LL-Null:                       -981.84</a:t>
            </a:r>
          </a:p>
          <a:p>
            <a:pPr>
              <a:defRPr sz="700">
                <a:latin typeface="Consolas"/>
              </a:defRPr>
            </a:pPr>
            <a:r>
              <a:t>Covariance Type:            nonrobust   LLR p-value:                    0.1257</a:t>
            </a:r>
          </a:p>
          <a:p>
            <a:pPr>
              <a:defRPr sz="700">
                <a:latin typeface="Consolas"/>
              </a:defRPr>
            </a:pPr>
            <a:r>
              <a:t>==============================================================================</a:t>
            </a:r>
          </a:p>
          <a:p>
            <a:pPr>
              <a:defRPr sz="700">
                <a:latin typeface="Consolas"/>
              </a:defRPr>
            </a:pPr>
            <a:r>
              <a:t>                 coef    std err          z      P&gt;|z|      [0.025      0.975]</a:t>
            </a:r>
          </a:p>
          <a:p>
            <a:pPr>
              <a:defRPr sz="700">
                <a:latin typeface="Consolas"/>
              </a:defRPr>
            </a:pPr>
            <a:r>
              <a:t>------------------------------------------------------------------------------</a:t>
            </a:r>
          </a:p>
          <a:p>
            <a:pPr>
              <a:defRPr sz="700">
                <a:latin typeface="Consolas"/>
              </a:defRPr>
            </a:pPr>
            <a:r>
              <a:t>const         -3.8466      0.020   -195.694      0.000      -3.885      -3.808</a:t>
            </a:r>
          </a:p>
          <a:p>
            <a:pPr>
              <a:defRPr sz="700">
                <a:latin typeface="Consolas"/>
              </a:defRPr>
            </a:pPr>
            <a:r>
              <a:t>T              0.0006      0.001      0.673      0.501      -0.001       0.002</a:t>
            </a:r>
          </a:p>
          <a:p>
            <a:pPr>
              <a:defRPr sz="700">
                <a:latin typeface="Consolas"/>
              </a:defRPr>
            </a:pPr>
            <a:r>
              <a:t>X_t            0.0381      0.029      1.335      0.182      -0.018       0.094</a:t>
            </a:r>
          </a:p>
          <a:p>
            <a:pPr>
              <a:defRPr sz="700">
                <a:latin typeface="Consolas"/>
              </a:defRPr>
            </a:pPr>
            <a:r>
              <a:t>post_time     -0.0024      0.001     -1.879      0.060      -0.005       0.000</a:t>
            </a:r>
          </a:p>
          <a:p>
            <a:pPr>
              <a:defRPr sz="700">
                <a:latin typeface="Consolas"/>
              </a:defRPr>
            </a:pPr>
            <a:r>
              <a:t>alpha          0.0037      0.001      6.127      0.000       0.003       0.005</a:t>
            </a:r>
          </a:p>
          <a:p>
            <a:pPr>
              <a:defRPr sz="700">
                <a:latin typeface="Consolas"/>
              </a:defRPr>
            </a:pPr>
            <a:r>
              <a:t>==============================================================================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137400" y="6118000"/>
            <a:ext cx="4376198" cy="520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700">
                <a:latin typeface="Aptos"/>
              </a:defRPr>
            </a:pPr>
            <a:r>
              <a:t>Codes in aggregation: 93000, 93005, 93010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177800" y="228600"/>
            <a:ext cx="9438546" cy="46166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/>
            </a:pPr>
            <a:r>
              <a:rPr dirty="0"/>
              <a:t>Normalized Poisson ITS (per 100,000 enrollees): Custom Aggregate E</a:t>
            </a:r>
            <a:r>
              <a:rPr lang="en-US" dirty="0"/>
              <a:t>C</a:t>
            </a:r>
            <a:r>
              <a:rPr dirty="0"/>
              <a:t>G 2</a:t>
            </a:r>
          </a:p>
        </p:txBody>
      </p:sp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96555" y="1646674"/>
            <a:ext cx="5395090" cy="4275853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7137400" y="889000"/>
            <a:ext cx="4376198" cy="2954655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defRPr sz="700">
                <a:latin typeface="Consolas"/>
              </a:defRPr>
            </a:pPr>
            <a:r>
              <a:t>                 Generalized Linear Model Regression Results                  </a:t>
            </a:r>
          </a:p>
          <a:p>
            <a:pPr>
              <a:defRPr sz="700">
                <a:latin typeface="Consolas"/>
              </a:defRPr>
            </a:pPr>
            <a:r>
              <a:t>==============================================================================</a:t>
            </a:r>
          </a:p>
          <a:p>
            <a:pPr>
              <a:defRPr sz="700">
                <a:latin typeface="Consolas"/>
              </a:defRPr>
            </a:pPr>
            <a:r>
              <a:t>Dep. Variable:                      y   No. Observations:                   75</a:t>
            </a:r>
          </a:p>
          <a:p>
            <a:pPr>
              <a:defRPr sz="700">
                <a:latin typeface="Consolas"/>
              </a:defRPr>
            </a:pPr>
            <a:r>
              <a:t>Model:                            GLM   Df Residuals:                       71</a:t>
            </a:r>
          </a:p>
          <a:p>
            <a:pPr>
              <a:defRPr sz="700">
                <a:latin typeface="Consolas"/>
              </a:defRPr>
            </a:pPr>
            <a:r>
              <a:t>Model Family:                 Poisson   Df Model:                            3</a:t>
            </a:r>
          </a:p>
          <a:p>
            <a:pPr>
              <a:defRPr sz="700">
                <a:latin typeface="Consolas"/>
              </a:defRPr>
            </a:pPr>
            <a:r>
              <a:t>Link Function:                    Log   Scale:                          1.0000</a:t>
            </a:r>
          </a:p>
          <a:p>
            <a:pPr>
              <a:defRPr sz="700">
                <a:latin typeface="Consolas"/>
              </a:defRPr>
            </a:pPr>
            <a:r>
              <a:t>Method:                          IRLS   Log-Likelihood:            -2.5455e+05</a:t>
            </a:r>
          </a:p>
          <a:p>
            <a:pPr>
              <a:defRPr sz="700">
                <a:latin typeface="Consolas"/>
              </a:defRPr>
            </a:pPr>
            <a:r>
              <a:t>Date:                Mon, 11 May 2026   Deviance:                   5.0789e+05</a:t>
            </a:r>
          </a:p>
          <a:p>
            <a:pPr>
              <a:defRPr sz="700">
                <a:latin typeface="Consolas"/>
              </a:defRPr>
            </a:pPr>
            <a:r>
              <a:t>Time:                        17:50:32   Pearson chi2:                 5.09e+05</a:t>
            </a:r>
          </a:p>
          <a:p>
            <a:pPr>
              <a:defRPr sz="700">
                <a:latin typeface="Consolas"/>
              </a:defRPr>
            </a:pPr>
            <a:r>
              <a:t>No. Iterations:                     4   Pseudo R-squ. (CS):              1.000</a:t>
            </a:r>
          </a:p>
          <a:p>
            <a:pPr>
              <a:defRPr sz="700">
                <a:latin typeface="Consolas"/>
              </a:defRPr>
            </a:pPr>
            <a:r>
              <a:t>Covariance Type:            nonrobust                                         </a:t>
            </a:r>
          </a:p>
          <a:p>
            <a:pPr>
              <a:defRPr sz="700">
                <a:latin typeface="Consolas"/>
              </a:defRPr>
            </a:pPr>
            <a:r>
              <a:t>==============================================================================</a:t>
            </a:r>
          </a:p>
          <a:p>
            <a:pPr>
              <a:defRPr sz="700">
                <a:latin typeface="Consolas"/>
              </a:defRPr>
            </a:pPr>
            <a:r>
              <a:t>                 coef    std err          z      P&gt;|z|      [0.025      0.975]</a:t>
            </a:r>
          </a:p>
          <a:p>
            <a:pPr>
              <a:defRPr sz="700">
                <a:latin typeface="Consolas"/>
              </a:defRPr>
            </a:pPr>
            <a:r>
              <a:t>------------------------------------------------------------------------------</a:t>
            </a:r>
          </a:p>
          <a:p>
            <a:pPr>
              <a:defRPr sz="700">
                <a:latin typeface="Consolas"/>
              </a:defRPr>
            </a:pPr>
            <a:r>
              <a:t>const         -3.8397      0.000  -1.55e+04      0.000      -3.840      -3.839</a:t>
            </a:r>
          </a:p>
          <a:p>
            <a:pPr>
              <a:defRPr sz="700">
                <a:latin typeface="Consolas"/>
              </a:defRPr>
            </a:pPr>
            <a:r>
              <a:t>T              0.0005   1.16e-05     41.968      0.000       0.000       0.001</a:t>
            </a:r>
          </a:p>
          <a:p>
            <a:pPr>
              <a:defRPr sz="700">
                <a:latin typeface="Consolas"/>
              </a:defRPr>
            </a:pPr>
            <a:r>
              <a:t>X_t            0.0412      0.000    120.724      0.000       0.040       0.042</a:t>
            </a:r>
          </a:p>
          <a:p>
            <a:pPr>
              <a:defRPr sz="700">
                <a:latin typeface="Consolas"/>
              </a:defRPr>
            </a:pPr>
            <a:r>
              <a:t>post_time     -0.0022   1.51e-05   -146.868      0.000      -0.002      -0.002</a:t>
            </a:r>
          </a:p>
          <a:p>
            <a:pPr>
              <a:defRPr sz="700">
                <a:latin typeface="Consolas"/>
              </a:defRPr>
            </a:pPr>
            <a:r>
              <a:t>==============================================================================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137400" y="6118000"/>
            <a:ext cx="4376198" cy="520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700">
                <a:latin typeface="Aptos"/>
              </a:defRPr>
            </a:pPr>
            <a:r>
              <a:t>Codes in aggregation: 93042, 93000, 93005, 93010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177800" y="228600"/>
            <a:ext cx="10791800" cy="46166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/>
            </a:pPr>
            <a:r>
              <a:rPr dirty="0"/>
              <a:t>Normalized Negative Binomial ITS (per 100,000 enrollees): Custom Aggregate E</a:t>
            </a:r>
            <a:r>
              <a:rPr lang="en-US" dirty="0"/>
              <a:t>C</a:t>
            </a:r>
            <a:r>
              <a:rPr dirty="0"/>
              <a:t>G 2</a:t>
            </a:r>
          </a:p>
        </p:txBody>
      </p:sp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96555" y="1646674"/>
            <a:ext cx="5395090" cy="4275853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7137400" y="889000"/>
            <a:ext cx="4376198" cy="2954655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defRPr sz="700">
                <a:latin typeface="Consolas"/>
              </a:defRPr>
            </a:pPr>
            <a:r>
              <a:t>                     NegativeBinomial Regression Results                      </a:t>
            </a:r>
          </a:p>
          <a:p>
            <a:pPr>
              <a:defRPr sz="700">
                <a:latin typeface="Consolas"/>
              </a:defRPr>
            </a:pPr>
            <a:r>
              <a:t>==============================================================================</a:t>
            </a:r>
          </a:p>
          <a:p>
            <a:pPr>
              <a:defRPr sz="700">
                <a:latin typeface="Consolas"/>
              </a:defRPr>
            </a:pPr>
            <a:r>
              <a:t>Dep. Variable:                      y   No. Observations:                   75</a:t>
            </a:r>
          </a:p>
          <a:p>
            <a:pPr>
              <a:defRPr sz="700">
                <a:latin typeface="Consolas"/>
              </a:defRPr>
            </a:pPr>
            <a:r>
              <a:t>Model:               NegativeBinomial   Df Residuals:                       71</a:t>
            </a:r>
          </a:p>
          <a:p>
            <a:pPr>
              <a:defRPr sz="700">
                <a:latin typeface="Consolas"/>
              </a:defRPr>
            </a:pPr>
            <a:r>
              <a:t>Method:                           MLE   Df Model:                            3</a:t>
            </a:r>
          </a:p>
          <a:p>
            <a:pPr>
              <a:defRPr sz="700">
                <a:latin typeface="Consolas"/>
              </a:defRPr>
            </a:pPr>
            <a:r>
              <a:t>Date:                Mon, 11 May 2026   Pseudo R-squ.:                0.002963</a:t>
            </a:r>
          </a:p>
          <a:p>
            <a:pPr>
              <a:defRPr sz="700">
                <a:latin typeface="Consolas"/>
              </a:defRPr>
            </a:pPr>
            <a:r>
              <a:t>Time:                        17:50:32   Log-Likelihood:                -979.48</a:t>
            </a:r>
          </a:p>
          <a:p>
            <a:pPr>
              <a:defRPr sz="700">
                <a:latin typeface="Consolas"/>
              </a:defRPr>
            </a:pPr>
            <a:r>
              <a:t>converged:                      False   LL-Null:                       -982.39</a:t>
            </a:r>
          </a:p>
          <a:p>
            <a:pPr>
              <a:defRPr sz="700">
                <a:latin typeface="Consolas"/>
              </a:defRPr>
            </a:pPr>
            <a:r>
              <a:t>Covariance Type:            nonrobust   LLR p-value:                    0.1206</a:t>
            </a:r>
          </a:p>
          <a:p>
            <a:pPr>
              <a:defRPr sz="700">
                <a:latin typeface="Consolas"/>
              </a:defRPr>
            </a:pPr>
            <a:r>
              <a:t>==============================================================================</a:t>
            </a:r>
          </a:p>
          <a:p>
            <a:pPr>
              <a:defRPr sz="700">
                <a:latin typeface="Consolas"/>
              </a:defRPr>
            </a:pPr>
            <a:r>
              <a:t>                 coef    std err          z      P&gt;|z|      [0.025      0.975]</a:t>
            </a:r>
          </a:p>
          <a:p>
            <a:pPr>
              <a:defRPr sz="700">
                <a:latin typeface="Consolas"/>
              </a:defRPr>
            </a:pPr>
            <a:r>
              <a:t>------------------------------------------------------------------------------</a:t>
            </a:r>
          </a:p>
          <a:p>
            <a:pPr>
              <a:defRPr sz="700">
                <a:latin typeface="Consolas"/>
              </a:defRPr>
            </a:pPr>
            <a:r>
              <a:t>const         -3.8412      0.020   -195.147      0.000      -3.880      -3.803</a:t>
            </a:r>
          </a:p>
          <a:p>
            <a:pPr>
              <a:defRPr sz="700">
                <a:latin typeface="Consolas"/>
              </a:defRPr>
            </a:pPr>
            <a:r>
              <a:t>T              0.0006      0.001      0.685      0.493      -0.001       0.002</a:t>
            </a:r>
          </a:p>
          <a:p>
            <a:pPr>
              <a:defRPr sz="700">
                <a:latin typeface="Consolas"/>
              </a:defRPr>
            </a:pPr>
            <a:r>
              <a:t>X_t            0.0381      0.029      1.334      0.182      -0.018       0.094</a:t>
            </a:r>
          </a:p>
          <a:p>
            <a:pPr>
              <a:defRPr sz="700">
                <a:latin typeface="Consolas"/>
              </a:defRPr>
            </a:pPr>
            <a:r>
              <a:t>post_time     -0.0024      0.001     -1.912      0.056      -0.005    6.08e-05</a:t>
            </a:r>
          </a:p>
          <a:p>
            <a:pPr>
              <a:defRPr sz="700">
                <a:latin typeface="Consolas"/>
              </a:defRPr>
            </a:pPr>
            <a:r>
              <a:t>alpha          0.0037      0.001      6.126      0.000       0.003       0.005</a:t>
            </a:r>
          </a:p>
          <a:p>
            <a:pPr>
              <a:defRPr sz="700">
                <a:latin typeface="Consolas"/>
              </a:defRPr>
            </a:pPr>
            <a:r>
              <a:t>==============================================================================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137400" y="6118000"/>
            <a:ext cx="4376198" cy="520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700">
                <a:latin typeface="Aptos"/>
              </a:defRPr>
            </a:pPr>
            <a:r>
              <a:t>Codes in aggregation: 93042, 93000, 93005, 93010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55329F9-E6E0-DA55-5453-4AD362E1BA1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EMG</a:t>
            </a:r>
          </a:p>
        </p:txBody>
      </p:sp>
    </p:spTree>
    <p:extLst>
      <p:ext uri="{BB962C8B-B14F-4D97-AF65-F5344CB8AC3E}">
        <p14:creationId xmlns:p14="http://schemas.microsoft.com/office/powerpoint/2010/main" val="246323981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177800" y="228600"/>
            <a:ext cx="9482148" cy="46166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/>
            </a:pPr>
            <a:r>
              <a:rPr dirty="0"/>
              <a:t>Normalized Poisson ITS (per 100,000 enrollees): </a:t>
            </a:r>
            <a:r>
              <a:rPr lang="en-US" dirty="0"/>
              <a:t>Custom </a:t>
            </a:r>
            <a:r>
              <a:rPr dirty="0"/>
              <a:t>Aggregate EMG 3</a:t>
            </a:r>
          </a:p>
        </p:txBody>
      </p:sp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96555" y="1646674"/>
            <a:ext cx="5395090" cy="4275853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7137400" y="889000"/>
            <a:ext cx="4376198" cy="2954655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defRPr sz="700">
                <a:latin typeface="Consolas"/>
              </a:defRPr>
            </a:pPr>
            <a:r>
              <a:t>                 Generalized Linear Model Regression Results                  </a:t>
            </a:r>
          </a:p>
          <a:p>
            <a:pPr>
              <a:defRPr sz="700">
                <a:latin typeface="Consolas"/>
              </a:defRPr>
            </a:pPr>
            <a:r>
              <a:t>==============================================================================</a:t>
            </a:r>
          </a:p>
          <a:p>
            <a:pPr>
              <a:defRPr sz="700">
                <a:latin typeface="Consolas"/>
              </a:defRPr>
            </a:pPr>
            <a:r>
              <a:t>Dep. Variable:                      y   No. Observations:                   75</a:t>
            </a:r>
          </a:p>
          <a:p>
            <a:pPr>
              <a:defRPr sz="700">
                <a:latin typeface="Consolas"/>
              </a:defRPr>
            </a:pPr>
            <a:r>
              <a:t>Model:                            GLM   Df Residuals:                       71</a:t>
            </a:r>
          </a:p>
          <a:p>
            <a:pPr>
              <a:defRPr sz="700">
                <a:latin typeface="Consolas"/>
              </a:defRPr>
            </a:pPr>
            <a:r>
              <a:t>Model Family:                 Poisson   Df Model:                            3</a:t>
            </a:r>
          </a:p>
          <a:p>
            <a:pPr>
              <a:defRPr sz="700">
                <a:latin typeface="Consolas"/>
              </a:defRPr>
            </a:pPr>
            <a:r>
              <a:t>Link Function:                    Log   Scale:                          1.0000</a:t>
            </a:r>
          </a:p>
          <a:p>
            <a:pPr>
              <a:defRPr sz="700">
                <a:latin typeface="Consolas"/>
              </a:defRPr>
            </a:pPr>
            <a:r>
              <a:t>Method:                          IRLS   Log-Likelihood:                -24624.</a:t>
            </a:r>
          </a:p>
          <a:p>
            <a:pPr>
              <a:defRPr sz="700">
                <a:latin typeface="Consolas"/>
              </a:defRPr>
            </a:pPr>
            <a:r>
              <a:t>Date:                Thu, 07 May 2026   Deviance:                       48320.</a:t>
            </a:r>
          </a:p>
          <a:p>
            <a:pPr>
              <a:defRPr sz="700">
                <a:latin typeface="Consolas"/>
              </a:defRPr>
            </a:pPr>
            <a:r>
              <a:t>Time:                        21:48:07   Pearson chi2:                 4.79e+04</a:t>
            </a:r>
          </a:p>
          <a:p>
            <a:pPr>
              <a:defRPr sz="700">
                <a:latin typeface="Consolas"/>
              </a:defRPr>
            </a:pPr>
            <a:r>
              <a:t>No. Iterations:                     4   Pseudo R-squ. (CS):              1.000</a:t>
            </a:r>
          </a:p>
          <a:p>
            <a:pPr>
              <a:defRPr sz="700">
                <a:latin typeface="Consolas"/>
              </a:defRPr>
            </a:pPr>
            <a:r>
              <a:t>Covariance Type:            nonrobust                                         </a:t>
            </a:r>
          </a:p>
          <a:p>
            <a:pPr>
              <a:defRPr sz="700">
                <a:latin typeface="Consolas"/>
              </a:defRPr>
            </a:pPr>
            <a:r>
              <a:t>==============================================================================</a:t>
            </a:r>
          </a:p>
          <a:p>
            <a:pPr>
              <a:defRPr sz="700">
                <a:latin typeface="Consolas"/>
              </a:defRPr>
            </a:pPr>
            <a:r>
              <a:t>                 coef    std err          z      P&gt;|z|      [0.025      0.975]</a:t>
            </a:r>
          </a:p>
          <a:p>
            <a:pPr>
              <a:defRPr sz="700">
                <a:latin typeface="Consolas"/>
              </a:defRPr>
            </a:pPr>
            <a:r>
              <a:t>------------------------------------------------------------------------------</a:t>
            </a:r>
          </a:p>
          <a:p>
            <a:pPr>
              <a:defRPr sz="700">
                <a:latin typeface="Consolas"/>
              </a:defRPr>
            </a:pPr>
            <a:r>
              <a:t>const         -7.8128      0.002  -4356.798      0.000      -7.816      -7.809</a:t>
            </a:r>
          </a:p>
          <a:p>
            <a:pPr>
              <a:defRPr sz="700">
                <a:latin typeface="Consolas"/>
              </a:defRPr>
            </a:pPr>
            <a:r>
              <a:t>T              0.0015   8.34e-05     18.556      0.000       0.001       0.002</a:t>
            </a:r>
          </a:p>
          <a:p>
            <a:pPr>
              <a:defRPr sz="700">
                <a:latin typeface="Consolas"/>
              </a:defRPr>
            </a:pPr>
            <a:r>
              <a:t>X_t            0.0508      0.002     20.953      0.000       0.046       0.055</a:t>
            </a:r>
          </a:p>
          <a:p>
            <a:pPr>
              <a:defRPr sz="700">
                <a:latin typeface="Consolas"/>
              </a:defRPr>
            </a:pPr>
            <a:r>
              <a:t>post_time     -0.0005      0.000     -4.920      0.000      -0.001      -0.000</a:t>
            </a:r>
          </a:p>
          <a:p>
            <a:pPr>
              <a:defRPr sz="700">
                <a:latin typeface="Consolas"/>
              </a:defRPr>
            </a:pPr>
            <a:r>
              <a:t>==============================================================================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137400" y="6118000"/>
            <a:ext cx="4376198" cy="520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700">
                <a:latin typeface="Aptos"/>
              </a:defRPr>
            </a:pPr>
            <a:r>
              <a:t>Codes in aggregation: 95885, 95886, 95887, 95907, 95908, 95909, 95910, 95911, 95912, 95913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177800" y="228600"/>
            <a:ext cx="10835402" cy="46166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/>
            </a:pPr>
            <a:r>
              <a:rPr dirty="0"/>
              <a:t>Normalized Negative Binomial ITS (per 100,000 enrollees): </a:t>
            </a:r>
            <a:r>
              <a:rPr lang="en-US" dirty="0"/>
              <a:t>Custom </a:t>
            </a:r>
            <a:r>
              <a:rPr dirty="0"/>
              <a:t>Aggregate EMG 3</a:t>
            </a:r>
          </a:p>
        </p:txBody>
      </p:sp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96555" y="1646674"/>
            <a:ext cx="5395090" cy="4275853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7137400" y="889000"/>
            <a:ext cx="4376198" cy="2954655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defRPr sz="700">
                <a:latin typeface="Consolas"/>
              </a:defRPr>
            </a:pPr>
            <a:r>
              <a:t>                     NegativeBinomial Regression Results                      </a:t>
            </a:r>
          </a:p>
          <a:p>
            <a:pPr>
              <a:defRPr sz="700">
                <a:latin typeface="Consolas"/>
              </a:defRPr>
            </a:pPr>
            <a:r>
              <a:t>==============================================================================</a:t>
            </a:r>
          </a:p>
          <a:p>
            <a:pPr>
              <a:defRPr sz="700">
                <a:latin typeface="Consolas"/>
              </a:defRPr>
            </a:pPr>
            <a:r>
              <a:t>Dep. Variable:                      y   No. Observations:                   75</a:t>
            </a:r>
          </a:p>
          <a:p>
            <a:pPr>
              <a:defRPr sz="700">
                <a:latin typeface="Consolas"/>
              </a:defRPr>
            </a:pPr>
            <a:r>
              <a:t>Model:               NegativeBinomial   Df Residuals:                       71</a:t>
            </a:r>
          </a:p>
          <a:p>
            <a:pPr>
              <a:defRPr sz="700">
                <a:latin typeface="Consolas"/>
              </a:defRPr>
            </a:pPr>
            <a:r>
              <a:t>Method:                           MLE   Df Model:                            3</a:t>
            </a:r>
          </a:p>
          <a:p>
            <a:pPr>
              <a:defRPr sz="700">
                <a:latin typeface="Consolas"/>
              </a:defRPr>
            </a:pPr>
            <a:r>
              <a:t>Date:                Thu, 07 May 2026   Pseudo R-squ.:                0.007508</a:t>
            </a:r>
          </a:p>
          <a:p>
            <a:pPr>
              <a:defRPr sz="700">
                <a:latin typeface="Consolas"/>
              </a:defRPr>
            </a:pPr>
            <a:r>
              <a:t>Time:                        21:48:07   Log-Likelihood:                -743.57</a:t>
            </a:r>
          </a:p>
          <a:p>
            <a:pPr>
              <a:defRPr sz="700">
                <a:latin typeface="Consolas"/>
              </a:defRPr>
            </a:pPr>
            <a:r>
              <a:t>converged:                       True   LL-Null:                       -749.20</a:t>
            </a:r>
          </a:p>
          <a:p>
            <a:pPr>
              <a:defRPr sz="700">
                <a:latin typeface="Consolas"/>
              </a:defRPr>
            </a:pPr>
            <a:r>
              <a:t>Covariance Type:            nonrobust   LLR p-value:                   0.01045</a:t>
            </a:r>
          </a:p>
          <a:p>
            <a:pPr>
              <a:defRPr sz="700">
                <a:latin typeface="Consolas"/>
              </a:defRPr>
            </a:pPr>
            <a:r>
              <a:t>==============================================================================</a:t>
            </a:r>
          </a:p>
          <a:p>
            <a:pPr>
              <a:defRPr sz="700">
                <a:latin typeface="Consolas"/>
              </a:defRPr>
            </a:pPr>
            <a:r>
              <a:t>                 coef    std err          z      P&gt;|z|      [0.025      0.975]</a:t>
            </a:r>
          </a:p>
          <a:p>
            <a:pPr>
              <a:defRPr sz="700">
                <a:latin typeface="Consolas"/>
              </a:defRPr>
            </a:pPr>
            <a:r>
              <a:t>------------------------------------------------------------------------------</a:t>
            </a:r>
          </a:p>
          <a:p>
            <a:pPr>
              <a:defRPr sz="700">
                <a:latin typeface="Consolas"/>
              </a:defRPr>
            </a:pPr>
            <a:r>
              <a:t>const         -7.8138      0.042   -186.264      0.000      -7.896      -7.732</a:t>
            </a:r>
          </a:p>
          <a:p>
            <a:pPr>
              <a:defRPr sz="700">
                <a:latin typeface="Consolas"/>
              </a:defRPr>
            </a:pPr>
            <a:r>
              <a:t>T              0.0016      0.002      0.807      0.419      -0.002       0.006</a:t>
            </a:r>
          </a:p>
          <a:p>
            <a:pPr>
              <a:defRPr sz="700">
                <a:latin typeface="Consolas"/>
              </a:defRPr>
            </a:pPr>
            <a:r>
              <a:t>X_t            0.0540      0.061      0.885      0.376      -0.066       0.174</a:t>
            </a:r>
          </a:p>
          <a:p>
            <a:pPr>
              <a:defRPr sz="700">
                <a:latin typeface="Consolas"/>
              </a:defRPr>
            </a:pPr>
            <a:r>
              <a:t>post_time     -0.0008      0.003     -0.290      0.772      -0.006       0.004</a:t>
            </a:r>
          </a:p>
          <a:p>
            <a:pPr>
              <a:defRPr sz="700">
                <a:latin typeface="Consolas"/>
              </a:defRPr>
            </a:pPr>
            <a:r>
              <a:t>alpha          0.0173      0.003      6.131      0.000       0.012       0.023</a:t>
            </a:r>
          </a:p>
          <a:p>
            <a:pPr>
              <a:defRPr sz="700">
                <a:latin typeface="Consolas"/>
              </a:defRPr>
            </a:pPr>
            <a:r>
              <a:t>==============================================================================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137400" y="6118000"/>
            <a:ext cx="4376198" cy="520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700">
                <a:latin typeface="Aptos"/>
              </a:defRPr>
            </a:pPr>
            <a:r>
              <a:t>Codes in aggregation: 95885, 95886, 95887, 95907, 95908, 95909, 95910, 95911, 95912, 95913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9</TotalTime>
  <Words>2534</Words>
  <Application>Microsoft Macintosh PowerPoint</Application>
  <PresentationFormat>Widescreen</PresentationFormat>
  <Paragraphs>331</Paragraphs>
  <Slides>19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19</vt:i4>
      </vt:variant>
    </vt:vector>
  </HeadingPairs>
  <TitlesOfParts>
    <vt:vector size="22" baseType="lpstr">
      <vt:lpstr>Arial</vt:lpstr>
      <vt:lpstr>Calibri</vt:lpstr>
      <vt:lpstr>Office Theme</vt:lpstr>
      <vt:lpstr>EEG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ECG</vt:lpstr>
      <vt:lpstr>PowerPoint Presentation</vt:lpstr>
      <vt:lpstr>PowerPoint Presentation</vt:lpstr>
      <vt:lpstr>PowerPoint Presentation</vt:lpstr>
      <vt:lpstr>PowerPoint Presentation</vt:lpstr>
      <vt:lpstr>EMG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Izrailov, David</cp:lastModifiedBy>
  <cp:revision>5</cp:revision>
  <dcterms:created xsi:type="dcterms:W3CDTF">2013-01-27T09:14:16Z</dcterms:created>
  <dcterms:modified xsi:type="dcterms:W3CDTF">2026-05-11T21:53:00Z</dcterms:modified>
  <cp:category/>
</cp:coreProperties>
</file>