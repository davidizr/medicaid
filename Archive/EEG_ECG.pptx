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05" r:id="rId62"/>
    <p:sldId id="306" r:id="rId63"/>
    <p:sldId id="307" r:id="rId64"/>
    <p:sldId id="308" r:id="rId65"/>
    <p:sldId id="321" r:id="rId66"/>
    <p:sldId id="322" r:id="rId67"/>
    <p:sldId id="323" r:id="rId68"/>
    <p:sldId id="324" r:id="rId69"/>
    <p:sldId id="304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95812 - EEG 41-60 minutes, awake/drowsy/sleep/coma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-2308.3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3888.8</a:t>
            </a:r>
          </a:p>
          <a:p>
            <a:pPr>
              <a:defRPr sz="700">
                <a:latin typeface="Consolas"/>
              </a:defRPr>
            </a:pPr>
            <a:r>
              <a:t>Time:                        21:22:54   Pearson chi2:                 3.96e+03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-10.6689      0.007  -1461.817      0.000     -10.683     -10.655</a:t>
            </a:r>
          </a:p>
          <a:p>
            <a:pPr>
              <a:defRPr sz="700">
                <a:latin typeface="Consolas"/>
              </a:defRPr>
            </a:pPr>
            <a:r>
              <a:t>T              0.0069      0.000     20.900      0.000       0.006       0.008</a:t>
            </a:r>
          </a:p>
          <a:p>
            <a:pPr>
              <a:defRPr sz="700">
                <a:latin typeface="Consolas"/>
              </a:defRPr>
            </a:pPr>
            <a:r>
              <a:t>X_t            0.1076      0.009     11.816      0.000       0.090       0.126</a:t>
            </a:r>
          </a:p>
          <a:p>
            <a:pPr>
              <a:defRPr sz="700">
                <a:latin typeface="Consolas"/>
              </a:defRPr>
            </a:pPr>
            <a:r>
              <a:t>post_time     -0.0040      0.000     -9.799      0.000      -0.005      -0.003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95812 - EEG 41-60 minutes, awake/drowsy/sleep/coma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0.05349</a:t>
            </a:r>
          </a:p>
          <a:p>
            <a:pPr>
              <a:defRPr sz="700">
                <a:latin typeface="Consolas"/>
              </a:defRPr>
            </a:pPr>
            <a:r>
              <a:t>Time:                        21:22:54   Log-Likelihood:                -549.03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-580.06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2.140e-13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-10.6813      0.046   -233.030      0.000     -10.771     -10.591</a:t>
            </a:r>
          </a:p>
          <a:p>
            <a:pPr>
              <a:defRPr sz="700">
                <a:latin typeface="Consolas"/>
              </a:defRPr>
            </a:pPr>
            <a:r>
              <a:t>T              0.0077      0.002      3.508      0.000       0.003       0.012</a:t>
            </a:r>
          </a:p>
          <a:p>
            <a:pPr>
              <a:defRPr sz="700">
                <a:latin typeface="Consolas"/>
              </a:defRPr>
            </a:pPr>
            <a:r>
              <a:t>X_t            0.0930      0.066      1.409      0.159      -0.036       0.222</a:t>
            </a:r>
          </a:p>
          <a:p>
            <a:pPr>
              <a:defRPr sz="700">
                <a:latin typeface="Consolas"/>
              </a:defRPr>
            </a:pPr>
            <a:r>
              <a:t>post_time     -0.0050      0.003     -1.730      0.084      -0.011       0.001</a:t>
            </a:r>
          </a:p>
          <a:p>
            <a:pPr>
              <a:defRPr sz="700">
                <a:latin typeface="Consolas"/>
              </a:defRPr>
            </a:pPr>
            <a:r>
              <a:t>alpha          0.0191      0.003      6.016      0.000       0.013       0.025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95813 - EEG &gt;60 minutes, awake/drowsy/sleep/coma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-1451.4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2210.9</a:t>
            </a:r>
          </a:p>
          <a:p>
            <a:pPr>
              <a:defRPr sz="700">
                <a:latin typeface="Consolas"/>
              </a:defRPr>
            </a:pPr>
            <a:r>
              <a:t>Time:                        21:22:56   Pearson chi2:                 2.21e+03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-10.9530      0.009  -1249.781      0.000     -10.970     -10.936</a:t>
            </a:r>
          </a:p>
          <a:p>
            <a:pPr>
              <a:defRPr sz="700">
                <a:latin typeface="Consolas"/>
              </a:defRPr>
            </a:pPr>
            <a:r>
              <a:t>T             -0.0021      0.000     -5.147      0.000      -0.003      -0.001</a:t>
            </a:r>
          </a:p>
          <a:p>
            <a:pPr>
              <a:defRPr sz="700">
                <a:latin typeface="Consolas"/>
              </a:defRPr>
            </a:pPr>
            <a:r>
              <a:t>X_t            0.2408      0.012     20.291      0.000       0.218       0.264</a:t>
            </a:r>
          </a:p>
          <a:p>
            <a:pPr>
              <a:defRPr sz="700">
                <a:latin typeface="Consolas"/>
              </a:defRPr>
            </a:pPr>
            <a:r>
              <a:t>post_time      0.0039      0.001      7.398      0.000       0.003       0.005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95813 - EEG &gt;60 minutes, awake/drowsy/sleep/coma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0.04066</a:t>
            </a:r>
          </a:p>
          <a:p>
            <a:pPr>
              <a:defRPr sz="700">
                <a:latin typeface="Consolas"/>
              </a:defRPr>
            </a:pPr>
            <a:r>
              <a:t>Time:                        21:22:56   Log-Likelihood:                -510.01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-531.63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2.191e-09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-10.9530      0.043   -252.899      0.000     -11.038     -10.868</a:t>
            </a:r>
          </a:p>
          <a:p>
            <a:pPr>
              <a:defRPr sz="700">
                <a:latin typeface="Consolas"/>
              </a:defRPr>
            </a:pPr>
            <a:r>
              <a:t>T             -0.0021      0.002     -1.005      0.315      -0.006       0.002</a:t>
            </a:r>
          </a:p>
          <a:p>
            <a:pPr>
              <a:defRPr sz="700">
                <a:latin typeface="Consolas"/>
              </a:defRPr>
            </a:pPr>
            <a:r>
              <a:t>X_t            0.2419      0.063      3.858      0.000       0.119       0.365</a:t>
            </a:r>
          </a:p>
          <a:p>
            <a:pPr>
              <a:defRPr sz="700">
                <a:latin typeface="Consolas"/>
              </a:defRPr>
            </a:pPr>
            <a:r>
              <a:t>post_time      0.0037      0.003      1.337      0.181      -0.002       0.009</a:t>
            </a:r>
          </a:p>
          <a:p>
            <a:pPr>
              <a:defRPr sz="700">
                <a:latin typeface="Consolas"/>
              </a:defRPr>
            </a:pPr>
            <a:r>
              <a:t>alpha          0.0174      0.003      5.921      0.000       0.012       0.023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95816 - EEG awake/drowsy, 20-40 minutes.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-5514.7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10204.</a:t>
            </a:r>
          </a:p>
          <a:p>
            <a:pPr>
              <a:defRPr sz="700">
                <a:latin typeface="Consolas"/>
              </a:defRPr>
            </a:pPr>
            <a:r>
              <a:t>Time:                        21:22:56   Pearson chi2:                 1.03e+04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-9.1434      0.004  -2597.246      0.000      -9.150      -9.136</a:t>
            </a:r>
          </a:p>
          <a:p>
            <a:pPr>
              <a:defRPr sz="700">
                <a:latin typeface="Consolas"/>
              </a:defRPr>
            </a:pPr>
            <a:r>
              <a:t>T             -0.0005      0.000     -3.091      0.002      -0.001      -0.000</a:t>
            </a:r>
          </a:p>
          <a:p>
            <a:pPr>
              <a:defRPr sz="700">
                <a:latin typeface="Consolas"/>
              </a:defRPr>
            </a:pPr>
            <a:r>
              <a:t>X_t            0.0593      0.005     12.285      0.000       0.050       0.069</a:t>
            </a:r>
          </a:p>
          <a:p>
            <a:pPr>
              <a:defRPr sz="700">
                <a:latin typeface="Consolas"/>
              </a:defRPr>
            </a:pPr>
            <a:r>
              <a:t>post_time      0.0043      0.000     20.187      0.000       0.004       0.005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95816 - EEG awake/drowsy, 20-40 minutes.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0.01741</a:t>
            </a:r>
          </a:p>
          <a:p>
            <a:pPr>
              <a:defRPr sz="700">
                <a:latin typeface="Consolas"/>
              </a:defRPr>
            </a:pPr>
            <a:r>
              <a:t>Time:                        21:22:57   Log-Likelihood:                -634.47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-645.71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5.164e-05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-9.1444      0.038   -237.637      0.000      -9.220      -9.069</a:t>
            </a:r>
          </a:p>
          <a:p>
            <a:pPr>
              <a:defRPr sz="700">
                <a:latin typeface="Consolas"/>
              </a:defRPr>
            </a:pPr>
            <a:r>
              <a:t>T             -0.0004      0.002     -0.198      0.843      -0.004       0.003</a:t>
            </a:r>
          </a:p>
          <a:p>
            <a:pPr>
              <a:defRPr sz="700">
                <a:latin typeface="Consolas"/>
              </a:defRPr>
            </a:pPr>
            <a:r>
              <a:t>X_t            0.0608      0.056      1.094      0.274      -0.048       0.170</a:t>
            </a:r>
          </a:p>
          <a:p>
            <a:pPr>
              <a:defRPr sz="700">
                <a:latin typeface="Consolas"/>
              </a:defRPr>
            </a:pPr>
            <a:r>
              <a:t>post_time      0.0039      0.002      1.593      0.111      -0.001       0.009</a:t>
            </a:r>
          </a:p>
          <a:p>
            <a:pPr>
              <a:defRPr sz="700">
                <a:latin typeface="Consolas"/>
              </a:defRPr>
            </a:pPr>
            <a:r>
              <a:t>alpha          0.0140      0.002      6.091      0.000       0.009       0.018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95819 - EEG awake/asleep, 20-40 minutes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-5251.7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9692.4</a:t>
            </a:r>
          </a:p>
          <a:p>
            <a:pPr>
              <a:defRPr sz="700">
                <a:latin typeface="Consolas"/>
              </a:defRPr>
            </a:pPr>
            <a:r>
              <a:t>Time:                        21:22:58   Pearson chi2:                 9.77e+03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0.9998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-9.2119      0.004  -2505.874      0.000      -9.219      -9.205</a:t>
            </a:r>
          </a:p>
          <a:p>
            <a:pPr>
              <a:defRPr sz="700">
                <a:latin typeface="Consolas"/>
              </a:defRPr>
            </a:pPr>
            <a:r>
              <a:t>T             -0.0025      0.000    -14.519      0.000      -0.003      -0.002</a:t>
            </a:r>
          </a:p>
          <a:p>
            <a:pPr>
              <a:defRPr sz="700">
                <a:latin typeface="Consolas"/>
              </a:defRPr>
            </a:pPr>
            <a:r>
              <a:t>X_t            0.0537      0.005     10.236      0.000       0.043       0.064</a:t>
            </a:r>
          </a:p>
          <a:p>
            <a:pPr>
              <a:defRPr sz="700">
                <a:latin typeface="Consolas"/>
              </a:defRPr>
            </a:pPr>
            <a:r>
              <a:t>post_time      0.0004      0.000      1.710      0.087   -5.78e-05       0.001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95819 - EEG awake/asleep, 20-40 minutes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0.003749</a:t>
            </a:r>
          </a:p>
          <a:p>
            <a:pPr>
              <a:defRPr sz="700">
                <a:latin typeface="Consolas"/>
              </a:defRPr>
            </a:pPr>
            <a:r>
              <a:t>Time:                        21:22:58   Log-Likelihood:                -625.73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-628.08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0.1943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-9.2113      0.042   -220.036      0.000      -9.293      -9.129</a:t>
            </a:r>
          </a:p>
          <a:p>
            <a:pPr>
              <a:defRPr sz="700">
                <a:latin typeface="Consolas"/>
              </a:defRPr>
            </a:pPr>
            <a:r>
              <a:t>T             -0.0024      0.002     -1.207      0.227      -0.006       0.002</a:t>
            </a:r>
          </a:p>
          <a:p>
            <a:pPr>
              <a:defRPr sz="700">
                <a:latin typeface="Consolas"/>
              </a:defRPr>
            </a:pPr>
            <a:r>
              <a:t>X_t            0.0503      0.060      0.834      0.404      -0.068       0.168</a:t>
            </a:r>
          </a:p>
          <a:p>
            <a:pPr>
              <a:defRPr sz="700">
                <a:latin typeface="Consolas"/>
              </a:defRPr>
            </a:pPr>
            <a:r>
              <a:t>post_time      0.0003      0.003      0.110      0.912      -0.005       0.005</a:t>
            </a:r>
          </a:p>
          <a:p>
            <a:pPr>
              <a:defRPr sz="700">
                <a:latin typeface="Consolas"/>
              </a:defRPr>
            </a:pPr>
            <a:r>
              <a:t>alpha          0.0163      0.003      6.092      0.000       0.011       0.022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95700 - EEG setup, takedown, and patient education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-1531.4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2563.4</a:t>
            </a:r>
          </a:p>
          <a:p>
            <a:pPr>
              <a:defRPr sz="700">
                <a:latin typeface="Consolas"/>
              </a:defRPr>
            </a:pPr>
            <a:r>
              <a:t>Time:                        21:22:59   Pearson chi2:                 2.58e+03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-10.5782      0.014   -733.694      0.000     -10.606     -10.550</a:t>
            </a:r>
          </a:p>
          <a:p>
            <a:pPr>
              <a:defRPr sz="700">
                <a:latin typeface="Consolas"/>
              </a:defRPr>
            </a:pPr>
            <a:r>
              <a:t>T             -0.0020      0.002     -1.162      0.245      -0.005       0.001</a:t>
            </a:r>
          </a:p>
          <a:p>
            <a:pPr>
              <a:defRPr sz="700">
                <a:latin typeface="Consolas"/>
              </a:defRPr>
            </a:pPr>
            <a:r>
              <a:t>X_t            0.1150      0.013      8.976      0.000       0.090       0.140</a:t>
            </a:r>
          </a:p>
          <a:p>
            <a:pPr>
              <a:defRPr sz="700">
                <a:latin typeface="Consolas"/>
              </a:defRPr>
            </a:pPr>
            <a:r>
              <a:t>post_time      0.0116      0.002      6.838      0.000       0.008       0.015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95700 - EEG setup, takedown, and patient education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0.05814</a:t>
            </a:r>
          </a:p>
          <a:p>
            <a:pPr>
              <a:defRPr sz="700">
                <a:latin typeface="Consolas"/>
              </a:defRPr>
            </a:pPr>
            <a:r>
              <a:t>Time:                        21:22:59   Log-Likelihood:                -373.46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-396.52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5.373e-10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-10.5757      0.081   -131.318      0.000     -10.734     -10.418</a:t>
            </a:r>
          </a:p>
          <a:p>
            <a:pPr>
              <a:defRPr sz="700">
                <a:latin typeface="Consolas"/>
              </a:defRPr>
            </a:pPr>
            <a:r>
              <a:t>T             -0.0023      0.009     -0.246      0.806      -0.021       0.016</a:t>
            </a:r>
          </a:p>
          <a:p>
            <a:pPr>
              <a:defRPr sz="700">
                <a:latin typeface="Consolas"/>
              </a:defRPr>
            </a:pPr>
            <a:r>
              <a:t>X_t            0.1243      0.077      1.611      0.107      -0.027       0.276</a:t>
            </a:r>
          </a:p>
          <a:p>
            <a:pPr>
              <a:defRPr sz="700">
                <a:latin typeface="Consolas"/>
              </a:defRPr>
            </a:pPr>
            <a:r>
              <a:t>post_time      0.0116      0.010      1.208      0.227      -0.007       0.030</a:t>
            </a:r>
          </a:p>
          <a:p>
            <a:pPr>
              <a:defRPr sz="700">
                <a:latin typeface="Consolas"/>
              </a:defRPr>
            </a:pPr>
            <a:r>
              <a:t>alpha          0.0162      0.003      4.960      0.000       0.010       0.023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95705 - 95705–95710: EEG alone (no video) with varying monitoring levels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-317.81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535.64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21:23:00   Pearson chi2:                     722.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6   Pseudo R-squ. (CS):             0.9999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-15.1173      0.145   -104.241      0.000     -15.401     -14.833</a:t>
            </a:r>
          </a:p>
          <a:p>
            <a:pPr>
              <a:defRPr sz="700">
                <a:latin typeface="Consolas"/>
              </a:defRPr>
            </a:pPr>
            <a:r>
              <a:t>T             -0.0344      0.018     -1.942      0.052      -0.069       0.000</a:t>
            </a:r>
          </a:p>
          <a:p>
            <a:pPr>
              <a:defRPr sz="700">
                <a:latin typeface="Consolas"/>
              </a:defRPr>
            </a:pPr>
            <a:r>
              <a:t>X_t            0.9254      0.155      5.968      0.000       0.621       1.229</a:t>
            </a:r>
          </a:p>
          <a:p>
            <a:pPr>
              <a:defRPr sz="700">
                <a:latin typeface="Consolas"/>
              </a:defRPr>
            </a:pPr>
            <a:r>
              <a:t>post_time     -0.0871      0.019     -4.517      0.000      -0.125      -0.049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95705 - 95705–95710: EEG alone (no video) with varying monitoring levels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0.04240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21:23:00   Log-Likelihood:                -124.50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-130.01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0.01160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-15.1109      1.458    -10.367      0.000     -17.968     -12.254</a:t>
            </a:r>
          </a:p>
          <a:p>
            <a:pPr>
              <a:defRPr sz="700">
                <a:latin typeface="Consolas"/>
              </a:defRPr>
            </a:pPr>
            <a:r>
              <a:t>T             -0.0359      0.173     -0.208      0.836      -0.375       0.303</a:t>
            </a:r>
          </a:p>
          <a:p>
            <a:pPr>
              <a:defRPr sz="700">
                <a:latin typeface="Consolas"/>
              </a:defRPr>
            </a:pPr>
            <a:r>
              <a:t>X_t            0.9849      1.443      0.683      0.495      -1.843       3.813</a:t>
            </a:r>
          </a:p>
          <a:p>
            <a:pPr>
              <a:defRPr sz="700">
                <a:latin typeface="Consolas"/>
              </a:defRPr>
            </a:pPr>
            <a:r>
              <a:t>post_time     -0.0846      0.177     -0.478      0.633      -0.431       0.262</a:t>
            </a:r>
          </a:p>
          <a:p>
            <a:pPr>
              <a:defRPr sz="700">
                <a:latin typeface="Consolas"/>
              </a:defRPr>
            </a:pPr>
            <a:r>
              <a:t>alpha          5.0573      1.471      3.437      0.001       2.173       7.941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95706 - 95705–95710: EEG alone (no video) with varying monitoring levels (22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22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20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-263.13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463.51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21:23:01   Pearson chi2:                     338.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0.05938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0.8294      0.013     62.531      0.000       0.803       0.855</a:t>
            </a:r>
          </a:p>
          <a:p>
            <a:pPr>
              <a:defRPr sz="700">
                <a:latin typeface="Consolas"/>
              </a:defRPr>
            </a:pPr>
            <a:r>
              <a:t>X_t           -0.0868      0.001    -89.471      0.000      -0.089      -0.085</a:t>
            </a:r>
          </a:p>
          <a:p>
            <a:pPr>
              <a:defRPr sz="700">
                <a:latin typeface="Consolas"/>
              </a:defRPr>
            </a:pPr>
            <a:r>
              <a:t>post_time     -0.8197      0.005   -152.564      0.000      -0.830      -0.809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95706 - 95705–95710: EEG alone (no video) with varying monitoring levels (22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22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20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0.0001354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21:23:02   Log-Likelihood:                -74.608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-74.618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0.8869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0.0130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X_t          -15.5472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post_time     -0.0047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alpha          4.1937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95707 - 95705–95710: EEG alone (no video) with varying monitoring levels (32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32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30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-164.17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305.25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21:23:03   Pearson chi2:                     596.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6   Pseudo R-squ. (CS):             0.4357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2.0416      0.042     48.965      0.000       1.960       2.123</a:t>
            </a:r>
          </a:p>
          <a:p>
            <a:pPr>
              <a:defRPr sz="700">
                <a:latin typeface="Consolas"/>
              </a:defRPr>
            </a:pPr>
            <a:r>
              <a:t>X_t           -0.4478      0.008    -56.628      0.000      -0.463      -0.432</a:t>
            </a:r>
          </a:p>
          <a:p>
            <a:pPr>
              <a:defRPr sz="700">
                <a:latin typeface="Consolas"/>
              </a:defRPr>
            </a:pPr>
            <a:r>
              <a:t>post_time     -1.9883      0.030    -67.166      0.000      -2.046      -1.930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95707 - 95705–95710: EEG alone (no video) with varying monitoring levels (32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32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30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0.002128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21:23:03   Log-Likelihood:                -35.891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-35.967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0.6956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0.0697   1.01e+06    6.9e-08      1.000   -1.98e+06    1.98e+06</a:t>
            </a:r>
          </a:p>
          <a:p>
            <a:pPr>
              <a:defRPr sz="700">
                <a:latin typeface="Consolas"/>
              </a:defRPr>
            </a:pPr>
            <a:r>
              <a:t>X_t          -17.3699   9.09e+06  -1.91e-06      1.000   -1.78e+07    1.78e+07</a:t>
            </a:r>
          </a:p>
          <a:p>
            <a:pPr>
              <a:defRPr sz="700">
                <a:latin typeface="Consolas"/>
              </a:defRPr>
            </a:pPr>
            <a:r>
              <a:t>post_time     -0.0459   1.01e+06  -4.55e-08      1.000   -1.98e+06    1.98e+06</a:t>
            </a:r>
          </a:p>
          <a:p>
            <a:pPr>
              <a:defRPr sz="700">
                <a:latin typeface="Consolas"/>
              </a:defRPr>
            </a:pPr>
            <a:r>
              <a:t>alpha         22.9944     12.045      1.909      0.056      -0.614      46.603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95708 - 95705–95710: EEG alone (no video) with varying monitoring levels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-981.28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1553.1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21:23:04   Pearson chi2:                 1.56e+03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0.9939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-12.4265      0.035   -354.255      0.000     -12.495     -12.358</a:t>
            </a:r>
          </a:p>
          <a:p>
            <a:pPr>
              <a:defRPr sz="700">
                <a:latin typeface="Consolas"/>
              </a:defRPr>
            </a:pPr>
            <a:r>
              <a:t>T              0.0240      0.004      6.081      0.000       0.016       0.032</a:t>
            </a:r>
          </a:p>
          <a:p>
            <a:pPr>
              <a:defRPr sz="700">
                <a:latin typeface="Consolas"/>
              </a:defRPr>
            </a:pPr>
            <a:r>
              <a:t>X_t            0.1786      0.028      6.281      0.000       0.123       0.234</a:t>
            </a:r>
          </a:p>
          <a:p>
            <a:pPr>
              <a:defRPr sz="700">
                <a:latin typeface="Consolas"/>
              </a:defRPr>
            </a:pPr>
            <a:r>
              <a:t>post_time     -0.0300      0.004     -7.504      0.000      -0.038      -0.022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95708 - 95705–95710: EEG alone (no video) with varying monitoring levels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0.01411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21:23:04   Log-Likelihood:                -316.92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-321.46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0.02839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-12.4348      0.158    -78.462      0.000     -12.745     -12.124</a:t>
            </a:r>
          </a:p>
          <a:p>
            <a:pPr>
              <a:defRPr sz="700">
                <a:latin typeface="Consolas"/>
              </a:defRPr>
            </a:pPr>
            <a:r>
              <a:t>T              0.0249      0.019      1.329      0.184      -0.012       0.062</a:t>
            </a:r>
          </a:p>
          <a:p>
            <a:pPr>
              <a:defRPr sz="700">
                <a:latin typeface="Consolas"/>
              </a:defRPr>
            </a:pPr>
            <a:r>
              <a:t>X_t            0.1724      0.148      1.162      0.245      -0.118       0.463</a:t>
            </a:r>
          </a:p>
          <a:p>
            <a:pPr>
              <a:defRPr sz="700">
                <a:latin typeface="Consolas"/>
              </a:defRPr>
            </a:pPr>
            <a:r>
              <a:t>post_time     -0.0305      0.019     -1.609      0.108      -0.068       0.007</a:t>
            </a:r>
          </a:p>
          <a:p>
            <a:pPr>
              <a:defRPr sz="700">
                <a:latin typeface="Consolas"/>
              </a:defRPr>
            </a:pPr>
            <a:r>
              <a:t>alpha          0.0581      0.012      4.923      0.000       0.035       0.081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95710 - 95705–95710: EEG alone (no video) with varying monitoring levels (36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36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34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-351.24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644.52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21:23:05   Pearson chi2:                     737.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0.1623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3.0952      0.029    105.080      0.000       3.037       3.153</a:t>
            </a:r>
          </a:p>
          <a:p>
            <a:pPr>
              <a:defRPr sz="700">
                <a:latin typeface="Consolas"/>
              </a:defRPr>
            </a:pPr>
            <a:r>
              <a:t>X_t           -1.2350      0.011   -115.702      0.000      -1.256      -1.214</a:t>
            </a:r>
          </a:p>
          <a:p>
            <a:pPr>
              <a:defRPr sz="700">
                <a:latin typeface="Consolas"/>
              </a:defRPr>
            </a:pPr>
            <a:r>
              <a:t>post_time     -3.0800      0.024   -128.445      0.000      -3.127      -3.033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95710 - 95705–95710: EEG alone (no video) with varying monitoring levels (36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36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34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0.0004918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21:23:06   Log-Likelihood:                -78.301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-78.340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0.7813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0.0610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X_t          -16.3878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post_time     -0.0470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alpha          9.2979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95711 - EEG with video monitoring, based on duration and technologist review.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-475.48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759.05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21:23:07   Pearson chi2:                     676.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0.6989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-16.3220      0.228    -71.547      0.000     -16.769     -15.875</a:t>
            </a:r>
          </a:p>
          <a:p>
            <a:pPr>
              <a:defRPr sz="700">
                <a:latin typeface="Consolas"/>
              </a:defRPr>
            </a:pPr>
            <a:r>
              <a:t>T              0.0722      0.024      2.973      0.003       0.025       0.120</a:t>
            </a:r>
          </a:p>
          <a:p>
            <a:pPr>
              <a:defRPr sz="700">
                <a:latin typeface="Consolas"/>
              </a:defRPr>
            </a:pPr>
            <a:r>
              <a:t>X_t           -0.2453      0.157     -1.565      0.118      -0.553       0.062</a:t>
            </a:r>
          </a:p>
          <a:p>
            <a:pPr>
              <a:defRPr sz="700">
                <a:latin typeface="Consolas"/>
              </a:defRPr>
            </a:pPr>
            <a:r>
              <a:t>post_time     -0.0564      0.024     -2.306      0.021      -0.104      -0.008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95711 - EEG with video monitoring, based on duration and technologist review.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0.005937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21:23:07   Log-Likelihood:                -199.10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-200.29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0.4977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-16.1820      0.730    -22.179      0.000     -17.612     -14.752</a:t>
            </a:r>
          </a:p>
          <a:p>
            <a:pPr>
              <a:defRPr sz="700">
                <a:latin typeface="Consolas"/>
              </a:defRPr>
            </a:pPr>
            <a:r>
              <a:t>T              0.0548      0.083      0.659      0.510      -0.108       0.218</a:t>
            </a:r>
          </a:p>
          <a:p>
            <a:pPr>
              <a:defRPr sz="700">
                <a:latin typeface="Consolas"/>
              </a:defRPr>
            </a:pPr>
            <a:r>
              <a:t>X_t           -0.2199      0.723     -0.304      0.761      -1.636       1.197</a:t>
            </a:r>
          </a:p>
          <a:p>
            <a:pPr>
              <a:defRPr sz="700">
                <a:latin typeface="Consolas"/>
              </a:defRPr>
            </a:pPr>
            <a:r>
              <a:t>post_time     -0.0366      0.085     -0.431      0.667      -0.203       0.130</a:t>
            </a:r>
          </a:p>
          <a:p>
            <a:pPr>
              <a:defRPr sz="700">
                <a:latin typeface="Consolas"/>
              </a:defRPr>
            </a:pPr>
            <a:r>
              <a:t>alpha          1.4468      0.332      4.364      0.000       0.797       2.097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95712 - EEG with video monitoring, based on duration and technologist review. (50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50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46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-294.40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284.31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21:23:08   Pearson chi2:                     283.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-14.2799      0.120   -119.324      0.000     -14.514     -14.045</a:t>
            </a:r>
          </a:p>
          <a:p>
            <a:pPr>
              <a:defRPr sz="700">
                <a:latin typeface="Consolas"/>
              </a:defRPr>
            </a:pPr>
            <a:r>
              <a:t>T             -0.0960      0.017     -5.730      0.000      -0.129      -0.063</a:t>
            </a:r>
          </a:p>
          <a:p>
            <a:pPr>
              <a:defRPr sz="700">
                <a:latin typeface="Consolas"/>
              </a:defRPr>
            </a:pPr>
            <a:r>
              <a:t>X_t            0.8349      0.122      6.838      0.000       0.596       1.074</a:t>
            </a:r>
          </a:p>
          <a:p>
            <a:pPr>
              <a:defRPr sz="700">
                <a:latin typeface="Consolas"/>
              </a:defRPr>
            </a:pPr>
            <a:r>
              <a:t>post_time      0.1360      0.017      8.095      0.000       0.103       0.169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95712 - EEG with video monitoring, based on duration and technologist review. (50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50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46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 0.1497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21:23:08   Log-Likelihood:                -227.74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-267.82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2.836e-17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-14.3100      0.231    -61.920      0.000     -14.763     -13.857</a:t>
            </a:r>
          </a:p>
          <a:p>
            <a:pPr>
              <a:defRPr sz="700">
                <a:latin typeface="Consolas"/>
              </a:defRPr>
            </a:pPr>
            <a:r>
              <a:t>T             -0.0915      0.030     -3.069      0.002      -0.150      -0.033</a:t>
            </a:r>
          </a:p>
          <a:p>
            <a:pPr>
              <a:defRPr sz="700">
                <a:latin typeface="Consolas"/>
              </a:defRPr>
            </a:pPr>
            <a:r>
              <a:t>X_t            0.8080      0.211      3.825      0.000       0.394       1.222</a:t>
            </a:r>
          </a:p>
          <a:p>
            <a:pPr>
              <a:defRPr sz="700">
                <a:latin typeface="Consolas"/>
              </a:defRPr>
            </a:pPr>
            <a:r>
              <a:t>post_time      0.1316      0.030      4.375      0.000       0.073       0.191</a:t>
            </a:r>
          </a:p>
          <a:p>
            <a:pPr>
              <a:defRPr sz="700">
                <a:latin typeface="Consolas"/>
              </a:defRPr>
            </a:pPr>
            <a:r>
              <a:t>alpha          0.0761      0.020      3.788      0.000       0.037       0.116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95713 - EEG with video monitoring, based on duration and technologist review.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-427.31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460.57</a:t>
            </a:r>
          </a:p>
          <a:p>
            <a:pPr>
              <a:defRPr sz="700">
                <a:latin typeface="Consolas"/>
              </a:defRPr>
            </a:pPr>
            <a:r>
              <a:t>Time:                        21:23:09   Pearson chi2:                     465.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0.8201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-12.7171      0.041   -313.373      0.000     -12.797     -12.638</a:t>
            </a:r>
          </a:p>
          <a:p>
            <a:pPr>
              <a:defRPr sz="700">
                <a:latin typeface="Consolas"/>
              </a:defRPr>
            </a:pPr>
            <a:r>
              <a:t>T              0.0237      0.005      5.192      0.000       0.015       0.033</a:t>
            </a:r>
          </a:p>
          <a:p>
            <a:pPr>
              <a:defRPr sz="700">
                <a:latin typeface="Consolas"/>
              </a:defRPr>
            </a:pPr>
            <a:r>
              <a:t>X_t            0.0014      0.033      0.042      0.967      -0.064       0.067</a:t>
            </a:r>
          </a:p>
          <a:p>
            <a:pPr>
              <a:defRPr sz="700">
                <a:latin typeface="Consolas"/>
              </a:defRPr>
            </a:pPr>
            <a:r>
              <a:t>post_time     -0.0227      0.005     -4.911      0.000      -0.032      -0.014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95713 - EEG with video monitoring, based on duration and technologist review.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0.01888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21:23:10   Log-Likelihood:                -277.88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-283.22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0.01350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-12.7100      0.100   -126.929      0.000     -12.906     -12.514</a:t>
            </a:r>
          </a:p>
          <a:p>
            <a:pPr>
              <a:defRPr sz="700">
                <a:latin typeface="Consolas"/>
              </a:defRPr>
            </a:pPr>
            <a:r>
              <a:t>T              0.0228      0.012      1.947      0.052      -0.000       0.046</a:t>
            </a:r>
          </a:p>
          <a:p>
            <a:pPr>
              <a:defRPr sz="700">
                <a:latin typeface="Consolas"/>
              </a:defRPr>
            </a:pPr>
            <a:r>
              <a:t>X_t            0.0100      0.093      0.107      0.915      -0.173       0.193</a:t>
            </a:r>
          </a:p>
          <a:p>
            <a:pPr>
              <a:defRPr sz="700">
                <a:latin typeface="Consolas"/>
              </a:defRPr>
            </a:pPr>
            <a:r>
              <a:t>post_time     -0.0218      0.012     -1.835      0.067      -0.045       0.001</a:t>
            </a:r>
          </a:p>
          <a:p>
            <a:pPr>
              <a:defRPr sz="700">
                <a:latin typeface="Consolas"/>
              </a:defRPr>
            </a:pPr>
            <a:r>
              <a:t>alpha          0.0214      0.005      4.502      0.000       0.012       0.031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95714 - EEG with video monitoring, based on duration and technologist review.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-561.95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789.13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21:23:11   Pearson chi2:                     770.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-12.5516      0.042   -297.664      0.000     -12.634     -12.469</a:t>
            </a:r>
          </a:p>
          <a:p>
            <a:pPr>
              <a:defRPr sz="700">
                <a:latin typeface="Consolas"/>
              </a:defRPr>
            </a:pPr>
            <a:r>
              <a:t>T             -0.0813      0.006    -14.563      0.000      -0.092      -0.070</a:t>
            </a:r>
          </a:p>
          <a:p>
            <a:pPr>
              <a:defRPr sz="700">
                <a:latin typeface="Consolas"/>
              </a:defRPr>
            </a:pPr>
            <a:r>
              <a:t>X_t            0.2417      0.053      4.552      0.000       0.138       0.346</a:t>
            </a:r>
          </a:p>
          <a:p>
            <a:pPr>
              <a:defRPr sz="700">
                <a:latin typeface="Consolas"/>
              </a:defRPr>
            </a:pPr>
            <a:r>
              <a:t>post_time      0.0691      0.006     12.046      0.000       0.058       0.080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95714 - EEG with video monitoring, based on duration and technologist review.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0.04308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21:23:11   Log-Likelihood:                -265.63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-277.59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2.599e-05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-12.5985      0.228    -55.247      0.000     -13.045     -12.152</a:t>
            </a:r>
          </a:p>
          <a:p>
            <a:pPr>
              <a:defRPr sz="700">
                <a:latin typeface="Consolas"/>
              </a:defRPr>
            </a:pPr>
            <a:r>
              <a:t>T             -0.0744      0.027     -2.788      0.005      -0.127      -0.022</a:t>
            </a:r>
          </a:p>
          <a:p>
            <a:pPr>
              <a:defRPr sz="700">
                <a:latin typeface="Consolas"/>
              </a:defRPr>
            </a:pPr>
            <a:r>
              <a:t>X_t            0.1953      0.223      0.874      0.382      -0.243       0.633</a:t>
            </a:r>
          </a:p>
          <a:p>
            <a:pPr>
              <a:defRPr sz="700">
                <a:latin typeface="Consolas"/>
              </a:defRPr>
            </a:pPr>
            <a:r>
              <a:t>post_time      0.0624      0.027      2.295      0.022       0.009       0.116</a:t>
            </a:r>
          </a:p>
          <a:p>
            <a:pPr>
              <a:defRPr sz="700">
                <a:latin typeface="Consolas"/>
              </a:defRPr>
            </a:pPr>
            <a:r>
              <a:t>alpha          0.1355      0.028      4.772      0.000       0.080       0.191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95715 - EEG with video monitoring, based on duration and technologist review.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-814.25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1152.0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21:23:12   Pearson chi2:                 1.14e+03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-11.3782      0.021   -551.296      0.000     -11.419     -11.338</a:t>
            </a:r>
          </a:p>
          <a:p>
            <a:pPr>
              <a:defRPr sz="700">
                <a:latin typeface="Consolas"/>
              </a:defRPr>
            </a:pPr>
            <a:r>
              <a:t>T              0.0284      0.002     12.282      0.000       0.024       0.033</a:t>
            </a:r>
          </a:p>
          <a:p>
            <a:pPr>
              <a:defRPr sz="700">
                <a:latin typeface="Consolas"/>
              </a:defRPr>
            </a:pPr>
            <a:r>
              <a:t>X_t            0.1308      0.016      8.053      0.000       0.099       0.163</a:t>
            </a:r>
          </a:p>
          <a:p>
            <a:pPr>
              <a:defRPr sz="700">
                <a:latin typeface="Consolas"/>
              </a:defRPr>
            </a:pPr>
            <a:r>
              <a:t>post_time     -0.0200      0.002     -8.579      0.000      -0.025      -0.015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95715 - EEG with video monitoring, based on duration and technologist review.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 0.1012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21:23:12   Log-Likelihood:                -342.67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-381.23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1.266e-16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-11.3775      0.071   -160.447      0.000     -11.516     -11.238</a:t>
            </a:r>
          </a:p>
          <a:p>
            <a:pPr>
              <a:defRPr sz="700">
                <a:latin typeface="Consolas"/>
              </a:defRPr>
            </a:pPr>
            <a:r>
              <a:t>T              0.0282      0.008      3.389      0.001       0.012       0.045</a:t>
            </a:r>
          </a:p>
          <a:p>
            <a:pPr>
              <a:defRPr sz="700">
                <a:latin typeface="Consolas"/>
              </a:defRPr>
            </a:pPr>
            <a:r>
              <a:t>X_t            0.1345      0.067      2.013      0.044       0.004       0.265</a:t>
            </a:r>
          </a:p>
          <a:p>
            <a:pPr>
              <a:defRPr sz="700">
                <a:latin typeface="Consolas"/>
              </a:defRPr>
            </a:pPr>
            <a:r>
              <a:t>post_time     -0.0199      0.008     -2.358      0.018      -0.037      -0.003</a:t>
            </a:r>
          </a:p>
          <a:p>
            <a:pPr>
              <a:defRPr sz="700">
                <a:latin typeface="Consolas"/>
              </a:defRPr>
            </a:pPr>
            <a:r>
              <a:t>alpha          0.0115      0.002      4.821      0.000       0.007       0.016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95716 - EEG with video monitoring, based on duration and technologist review.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-794.51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1168.2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21:23:13   Pearson chi2:                 1.19e+03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-11.9796      0.029   -408.323      0.000     -12.037     -11.922</a:t>
            </a:r>
          </a:p>
          <a:p>
            <a:pPr>
              <a:defRPr sz="700">
                <a:latin typeface="Consolas"/>
              </a:defRPr>
            </a:pPr>
            <a:r>
              <a:t>T             -0.0097      0.003     -2.796      0.005      -0.016      -0.003</a:t>
            </a:r>
          </a:p>
          <a:p>
            <a:pPr>
              <a:defRPr sz="700">
                <a:latin typeface="Consolas"/>
              </a:defRPr>
            </a:pPr>
            <a:r>
              <a:t>X_t           -0.1007      0.027     -3.688      0.000      -0.154      -0.047</a:t>
            </a:r>
          </a:p>
          <a:p>
            <a:pPr>
              <a:defRPr sz="700">
                <a:latin typeface="Consolas"/>
              </a:defRPr>
            </a:pPr>
            <a:r>
              <a:t>post_time      0.0274      0.003      7.836      0.000       0.021       0.034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95716 - EEG with video monitoring, based on duration and technologist review.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0.05271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21:23:14   Log-Likelihood:                -317.28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-334.93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1.049e-07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-11.9800      0.128    -93.434      0.000     -12.231     -11.729</a:t>
            </a:r>
          </a:p>
          <a:p>
            <a:pPr>
              <a:defRPr sz="700">
                <a:latin typeface="Consolas"/>
              </a:defRPr>
            </a:pPr>
            <a:r>
              <a:t>T             -0.0097      0.015     -0.637      0.524      -0.039       0.020</a:t>
            </a:r>
          </a:p>
          <a:p>
            <a:pPr>
              <a:defRPr sz="700">
                <a:latin typeface="Consolas"/>
              </a:defRPr>
            </a:pPr>
            <a:r>
              <a:t>X_t           -0.0742      0.121     -0.614      0.540      -0.311       0.163</a:t>
            </a:r>
          </a:p>
          <a:p>
            <a:pPr>
              <a:defRPr sz="700">
                <a:latin typeface="Consolas"/>
              </a:defRPr>
            </a:pPr>
            <a:r>
              <a:t>post_time      0.0263      0.015      1.703      0.088      -0.004       0.056</a:t>
            </a:r>
          </a:p>
          <a:p>
            <a:pPr>
              <a:defRPr sz="700">
                <a:latin typeface="Consolas"/>
              </a:defRPr>
            </a:pPr>
            <a:r>
              <a:t>alpha          0.0376      0.008      4.849      0.000       0.022       0.053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95717 - Long-term EEG review and analysis (professional services) (44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44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40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-499.30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759.17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21:23:15   Pearson chi2:                     971.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7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-15.7209      0.257    -61.155      0.000     -16.225     -15.217</a:t>
            </a:r>
          </a:p>
          <a:p>
            <a:pPr>
              <a:defRPr sz="700">
                <a:latin typeface="Consolas"/>
              </a:defRPr>
            </a:pPr>
            <a:r>
              <a:t>T             -0.5263      0.192     -2.745      0.006      -0.902      -0.150</a:t>
            </a:r>
          </a:p>
          <a:p>
            <a:pPr>
              <a:defRPr sz="700">
                <a:latin typeface="Consolas"/>
              </a:defRPr>
            </a:pPr>
            <a:r>
              <a:t>X_t            2.2784      0.451      5.052      0.000       1.394       3.162</a:t>
            </a:r>
          </a:p>
          <a:p>
            <a:pPr>
              <a:defRPr sz="700">
                <a:latin typeface="Consolas"/>
              </a:defRPr>
            </a:pPr>
            <a:r>
              <a:t>post_time      0.5621      0.192      2.932      0.003       0.186       0.938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95717 - Long-term EEG review and analysis (professional services) (44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44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40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0.08737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21:23:15   Log-Likelihood:                -201.65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-220.95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2.098e-08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-15.7036      0.521    -30.116      0.000     -16.726     -14.682</a:t>
            </a:r>
          </a:p>
          <a:p>
            <a:pPr>
              <a:defRPr sz="700">
                <a:latin typeface="Consolas"/>
              </a:defRPr>
            </a:pPr>
            <a:r>
              <a:t>T             -0.5395      0.314     -1.718      0.086      -1.155       0.076</a:t>
            </a:r>
          </a:p>
          <a:p>
            <a:pPr>
              <a:defRPr sz="700">
                <a:latin typeface="Consolas"/>
              </a:defRPr>
            </a:pPr>
            <a:r>
              <a:t>X_t            2.2232      0.662      3.357      0.001       0.925       3.521</a:t>
            </a:r>
          </a:p>
          <a:p>
            <a:pPr>
              <a:defRPr sz="700">
                <a:latin typeface="Consolas"/>
              </a:defRPr>
            </a:pPr>
            <a:r>
              <a:t>post_time      0.5786      0.314      1.842      0.066      -0.037       1.194</a:t>
            </a:r>
          </a:p>
          <a:p>
            <a:pPr>
              <a:defRPr sz="700">
                <a:latin typeface="Consolas"/>
              </a:defRPr>
            </a:pPr>
            <a:r>
              <a:t>alpha          0.2664      0.064      4.179      0.000       0.141       0.391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95718 - Long-term EEG review and analysis (professional services)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-664.15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872.35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21:23:16   Pearson chi2:                     889.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-11.3691      0.021   -529.522      0.000     -11.411     -11.327</a:t>
            </a:r>
          </a:p>
          <a:p>
            <a:pPr>
              <a:defRPr sz="700">
                <a:latin typeface="Consolas"/>
              </a:defRPr>
            </a:pPr>
            <a:r>
              <a:t>T             -0.0041      0.003     -1.643      0.100      -0.009       0.001</a:t>
            </a:r>
          </a:p>
          <a:p>
            <a:pPr>
              <a:defRPr sz="700">
                <a:latin typeface="Consolas"/>
              </a:defRPr>
            </a:pPr>
            <a:r>
              <a:t>X_t            0.1430      0.019      7.420      0.000       0.105       0.181</a:t>
            </a:r>
          </a:p>
          <a:p>
            <a:pPr>
              <a:defRPr sz="700">
                <a:latin typeface="Consolas"/>
              </a:defRPr>
            </a:pPr>
            <a:r>
              <a:t>post_time      0.0101      0.003      3.963      0.000       0.005       0.015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95718 - Long-term EEG review and analysis (professional services)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0.05158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21:23:16   Log-Likelihood:                -324.34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-341.98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1.064e-07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-11.3696      0.074   -154.395      0.000     -11.514     -11.225</a:t>
            </a:r>
          </a:p>
          <a:p>
            <a:pPr>
              <a:defRPr sz="700">
                <a:latin typeface="Consolas"/>
              </a:defRPr>
            </a:pPr>
            <a:r>
              <a:t>T             -0.0041      0.009     -0.468      0.640      -0.021       0.013</a:t>
            </a:r>
          </a:p>
          <a:p>
            <a:pPr>
              <a:defRPr sz="700">
                <a:latin typeface="Consolas"/>
              </a:defRPr>
            </a:pPr>
            <a:r>
              <a:t>X_t            0.1507      0.070      2.159      0.031       0.014       0.288</a:t>
            </a:r>
          </a:p>
          <a:p>
            <a:pPr>
              <a:defRPr sz="700">
                <a:latin typeface="Consolas"/>
              </a:defRPr>
            </a:pPr>
            <a:r>
              <a:t>post_time      0.0097      0.009      1.098      0.272      -0.008       0.027</a:t>
            </a:r>
          </a:p>
          <a:p>
            <a:pPr>
              <a:defRPr sz="700">
                <a:latin typeface="Consolas"/>
              </a:defRPr>
            </a:pPr>
            <a:r>
              <a:t>alpha          0.0124      0.003      4.758      0.000       0.007       0.018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95719 - Long-term EEG review and analysis (professional services)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-476.18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638.50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21:23:17   Pearson chi2:                     636.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0.9871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-14.3866      0.089   -162.043      0.000     -14.561     -14.213</a:t>
            </a:r>
          </a:p>
          <a:p>
            <a:pPr>
              <a:defRPr sz="700">
                <a:latin typeface="Consolas"/>
              </a:defRPr>
            </a:pPr>
            <a:r>
              <a:t>T              0.0578      0.010      6.024      0.000       0.039       0.077</a:t>
            </a:r>
          </a:p>
          <a:p>
            <a:pPr>
              <a:defRPr sz="700">
                <a:latin typeface="Consolas"/>
              </a:defRPr>
            </a:pPr>
            <a:r>
              <a:t>X_t           -0.6794      0.068     -9.980      0.000      -0.813      -0.546</a:t>
            </a:r>
          </a:p>
          <a:p>
            <a:pPr>
              <a:defRPr sz="700">
                <a:latin typeface="Consolas"/>
              </a:defRPr>
            </a:pPr>
            <a:r>
              <a:t>post_time     -0.0375      0.010     -3.864      0.000      -0.057      -0.018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95719 - Long-term EEG review and analysis (professional services)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0.03022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21:23:18   Log-Likelihood:                -249.08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-256.84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0.001421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-14.6868      0.319    -46.048      0.000     -15.312     -14.062</a:t>
            </a:r>
          </a:p>
          <a:p>
            <a:pPr>
              <a:defRPr sz="700">
                <a:latin typeface="Consolas"/>
              </a:defRPr>
            </a:pPr>
            <a:r>
              <a:t>T              0.0952      0.039      2.454      0.014       0.019       0.171</a:t>
            </a:r>
          </a:p>
          <a:p>
            <a:pPr>
              <a:defRPr sz="700">
                <a:latin typeface="Consolas"/>
              </a:defRPr>
            </a:pPr>
            <a:r>
              <a:t>X_t           -0.8395      0.278     -3.020      0.003      -1.384      -0.295</a:t>
            </a:r>
          </a:p>
          <a:p>
            <a:pPr>
              <a:defRPr sz="700">
                <a:latin typeface="Consolas"/>
              </a:defRPr>
            </a:pPr>
            <a:r>
              <a:t>post_time     -0.0761      0.039     -1.941      0.052      -0.153       0.001</a:t>
            </a:r>
          </a:p>
          <a:p>
            <a:pPr>
              <a:defRPr sz="700">
                <a:latin typeface="Consolas"/>
              </a:defRPr>
            </a:pPr>
            <a:r>
              <a:t>alpha          0.1568      0.033      4.705      0.000       0.091       0.222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95720 - Long-term EEG review and analysis (professional services)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-2716.2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4869.3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21:23:19   Pearson chi2:                 4.82e+03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-9.1713      0.007  -1277.005      0.000      -9.185      -9.157</a:t>
            </a:r>
          </a:p>
          <a:p>
            <a:pPr>
              <a:defRPr sz="700">
                <a:latin typeface="Consolas"/>
              </a:defRPr>
            </a:pPr>
            <a:r>
              <a:t>T             -0.0071      0.001     -8.420      0.000      -0.009      -0.005</a:t>
            </a:r>
          </a:p>
          <a:p>
            <a:pPr>
              <a:defRPr sz="700">
                <a:latin typeface="Consolas"/>
              </a:defRPr>
            </a:pPr>
            <a:r>
              <a:t>X_t            0.0895      0.007     13.607      0.000       0.077       0.102</a:t>
            </a:r>
          </a:p>
          <a:p>
            <a:pPr>
              <a:defRPr sz="700">
                <a:latin typeface="Consolas"/>
              </a:defRPr>
            </a:pPr>
            <a:r>
              <a:t>post_time      0.0117      0.001     13.761      0.000       0.010       0.013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95720 - Long-term EEG review and analysis (professional services)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0.02824</a:t>
            </a:r>
          </a:p>
          <a:p>
            <a:pPr>
              <a:defRPr sz="700">
                <a:latin typeface="Consolas"/>
              </a:defRPr>
            </a:pPr>
            <a:r>
              <a:t>Time:                        21:23:19   Log-Likelihood:                -423.00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-435.29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1.885e-05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-9.1715      0.062   -148.573      0.000      -9.293      -9.051</a:t>
            </a:r>
          </a:p>
          <a:p>
            <a:pPr>
              <a:defRPr sz="700">
                <a:latin typeface="Consolas"/>
              </a:defRPr>
            </a:pPr>
            <a:r>
              <a:t>T             -0.0071      0.007     -0.975      0.330      -0.021       0.007</a:t>
            </a:r>
          </a:p>
          <a:p>
            <a:pPr>
              <a:defRPr sz="700">
                <a:latin typeface="Consolas"/>
              </a:defRPr>
            </a:pPr>
            <a:r>
              <a:t>X_t            0.0943      0.059      1.602      0.109      -0.021       0.210</a:t>
            </a:r>
          </a:p>
          <a:p>
            <a:pPr>
              <a:defRPr sz="700">
                <a:latin typeface="Consolas"/>
              </a:defRPr>
            </a:pPr>
            <a:r>
              <a:t>post_time      0.0116      0.007      1.562      0.118      -0.003       0.026</a:t>
            </a:r>
          </a:p>
          <a:p>
            <a:pPr>
              <a:defRPr sz="700">
                <a:latin typeface="Consolas"/>
              </a:defRPr>
            </a:pPr>
            <a:r>
              <a:t>alpha          0.0094      0.002      5.004      0.000       0.006       0.013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95721 - Long-term EEG review and analysis (professional services) (50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50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46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-229.18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399.65</a:t>
            </a:r>
          </a:p>
          <a:p>
            <a:pPr>
              <a:defRPr sz="700">
                <a:latin typeface="Consolas"/>
              </a:defRPr>
            </a:pPr>
            <a:r>
              <a:t>Time:                        21:23:20   Pearson chi2:                     410.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23   Pseudo R-squ. (CS):             0.9362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-15.4865      0.267    -57.945      0.000     -16.010     -14.963</a:t>
            </a:r>
          </a:p>
          <a:p>
            <a:pPr>
              <a:defRPr sz="700">
                <a:latin typeface="Consolas"/>
              </a:defRPr>
            </a:pPr>
            <a:r>
              <a:t>T             -4.8811    310.312     -0.016      0.987    -613.082     603.320</a:t>
            </a:r>
          </a:p>
          <a:p>
            <a:pPr>
              <a:defRPr sz="700">
                <a:latin typeface="Consolas"/>
              </a:defRPr>
            </a:pPr>
            <a:r>
              <a:t>X_t           56.0507   3723.748      0.015      0.988   -7242.362    7354.463</a:t>
            </a:r>
          </a:p>
          <a:p>
            <a:pPr>
              <a:defRPr sz="700">
                <a:latin typeface="Consolas"/>
              </a:defRPr>
            </a:pPr>
            <a:r>
              <a:t>post_time      4.9305    310.312      0.016      0.987    -603.271     613.132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95721 - Long-term EEG review and analysis (professional services) (50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50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46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    nan</a:t>
            </a:r>
          </a:p>
          <a:p>
            <a:pPr>
              <a:defRPr sz="700">
                <a:latin typeface="Consolas"/>
              </a:defRPr>
            </a:pPr>
            <a:r>
              <a:t>Time:                        21:23:20   Log-Likelihood:                    nan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-83.717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   nan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-15.4865      1.060    -14.610      0.000     -17.564     -13.409</a:t>
            </a:r>
          </a:p>
          <a:p>
            <a:pPr>
              <a:defRPr sz="700">
                <a:latin typeface="Consolas"/>
              </a:defRPr>
            </a:pPr>
            <a:r>
              <a:t>T             -6.7023   4.41e+04     -0.000      1.000   -8.64e+04    8.64e+04</a:t>
            </a:r>
          </a:p>
          <a:p>
            <a:pPr>
              <a:defRPr sz="700">
                <a:latin typeface="Consolas"/>
              </a:defRPr>
            </a:pPr>
            <a:r>
              <a:t>X_t           77.9133   5.29e+05      0.000      1.000   -1.04e+06    1.04e+06</a:t>
            </a:r>
          </a:p>
          <a:p>
            <a:pPr>
              <a:defRPr sz="700">
                <a:latin typeface="Consolas"/>
              </a:defRPr>
            </a:pPr>
            <a:r>
              <a:t>post_time      6.7535   4.41e+04      0.000      1.000   -8.64e+04    8.64e+04</a:t>
            </a:r>
          </a:p>
          <a:p>
            <a:pPr>
              <a:defRPr sz="700">
                <a:latin typeface="Consolas"/>
              </a:defRPr>
            </a:pPr>
            <a:r>
              <a:t>alpha          1.0522      0.177      5.948      0.000       0.706       1.399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95722 - Long-term EEG review and analysis (professional services) (45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45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-389.85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641.48</a:t>
            </a:r>
          </a:p>
          <a:p>
            <a:pPr>
              <a:defRPr sz="700">
                <a:latin typeface="Consolas"/>
              </a:defRPr>
            </a:pPr>
            <a:r>
              <a:t>Time:                        21:23:22   Pearson chi2:                     513.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0.9668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-15.9974      0.273    -58.603      0.000     -16.532     -15.462</a:t>
            </a:r>
          </a:p>
          <a:p>
            <a:pPr>
              <a:defRPr sz="700">
                <a:latin typeface="Consolas"/>
              </a:defRPr>
            </a:pPr>
            <a:r>
              <a:t>T             -0.2885      0.138     -2.088      0.037      -0.559      -0.018</a:t>
            </a:r>
          </a:p>
          <a:p>
            <a:pPr>
              <a:defRPr sz="700">
                <a:latin typeface="Consolas"/>
              </a:defRPr>
            </a:pPr>
            <a:r>
              <a:t>X_t            0.7170      0.411      1.745      0.081      -0.088       1.522</a:t>
            </a:r>
          </a:p>
          <a:p>
            <a:pPr>
              <a:defRPr sz="700">
                <a:latin typeface="Consolas"/>
              </a:defRPr>
            </a:pPr>
            <a:r>
              <a:t>post_time      0.3267      0.138      2.364      0.018       0.056       0.598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95722 - Long-term EEG review and analysis (professional services) (45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45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0.01311</a:t>
            </a:r>
          </a:p>
          <a:p>
            <a:pPr>
              <a:defRPr sz="700">
                <a:latin typeface="Consolas"/>
              </a:defRPr>
            </a:pPr>
            <a:r>
              <a:t>Time:                        21:23:22   Log-Likelihood:                -155.73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-157.80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0.2468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-16.0509      1.261    -12.731      0.000     -18.522     -13.580</a:t>
            </a:r>
          </a:p>
          <a:p>
            <a:pPr>
              <a:defRPr sz="700">
                <a:latin typeface="Consolas"/>
              </a:defRPr>
            </a:pPr>
            <a:r>
              <a:t>T             -0.2563      0.517     -0.495      0.620      -1.270       0.758</a:t>
            </a:r>
          </a:p>
          <a:p>
            <a:pPr>
              <a:defRPr sz="700">
                <a:latin typeface="Consolas"/>
              </a:defRPr>
            </a:pPr>
            <a:r>
              <a:t>X_t            0.6229      1.393      0.447      0.655      -2.107       3.353</a:t>
            </a:r>
          </a:p>
          <a:p>
            <a:pPr>
              <a:defRPr sz="700">
                <a:latin typeface="Consolas"/>
              </a:defRPr>
            </a:pPr>
            <a:r>
              <a:t>post_time      0.2955      0.518      0.570      0.568      -0.720       1.311</a:t>
            </a:r>
          </a:p>
          <a:p>
            <a:pPr>
              <a:defRPr sz="700">
                <a:latin typeface="Consolas"/>
              </a:defRPr>
            </a:pPr>
            <a:r>
              <a:t>alpha          2.5686      0.658      3.904      0.000       1.279       3.858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95723 - Long-term EEG review and analysis (professional services) (50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50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46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-421.74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666.12</a:t>
            </a:r>
          </a:p>
          <a:p>
            <a:pPr>
              <a:defRPr sz="700">
                <a:latin typeface="Consolas"/>
              </a:defRPr>
            </a:pPr>
            <a:r>
              <a:t>Time:                        21:23:23   Pearson chi2:                     585.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0.7222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-15.2033      0.187    -81.290      0.000     -15.570     -14.837</a:t>
            </a:r>
          </a:p>
          <a:p>
            <a:pPr>
              <a:defRPr sz="700">
                <a:latin typeface="Consolas"/>
              </a:defRPr>
            </a:pPr>
            <a:r>
              <a:t>T             -0.0822      0.026     -3.202      0.001      -0.132      -0.032</a:t>
            </a:r>
          </a:p>
          <a:p>
            <a:pPr>
              <a:defRPr sz="700">
                <a:latin typeface="Consolas"/>
              </a:defRPr>
            </a:pPr>
            <a:r>
              <a:t>X_t            0.3045      0.192      1.583      0.114      -0.073       0.682</a:t>
            </a:r>
          </a:p>
          <a:p>
            <a:pPr>
              <a:defRPr sz="700">
                <a:latin typeface="Consolas"/>
              </a:defRPr>
            </a:pPr>
            <a:r>
              <a:t>post_time      0.1032      0.026      3.990      0.000       0.053       0.154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95723 - Long-term EEG review and analysis (professional services) (50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50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46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0.005448</a:t>
            </a:r>
          </a:p>
          <a:p>
            <a:pPr>
              <a:defRPr sz="700">
                <a:latin typeface="Consolas"/>
              </a:defRPr>
            </a:pPr>
            <a:r>
              <a:t>Time:                        21:23:23   Log-Likelihood:                -189.06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-190.10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0.5577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-14.7493      1.445    -10.206      0.000     -17.582     -11.917</a:t>
            </a:r>
          </a:p>
          <a:p>
            <a:pPr>
              <a:defRPr sz="700">
                <a:latin typeface="Consolas"/>
              </a:defRPr>
            </a:pPr>
            <a:r>
              <a:t>T             -0.1498      0.192     -0.778      0.436      -0.527       0.227</a:t>
            </a:r>
          </a:p>
          <a:p>
            <a:pPr>
              <a:defRPr sz="700">
                <a:latin typeface="Consolas"/>
              </a:defRPr>
            </a:pPr>
            <a:r>
              <a:t>X_t            0.8031      1.095      0.734      0.463      -1.343       2.949</a:t>
            </a:r>
          </a:p>
          <a:p>
            <a:pPr>
              <a:defRPr sz="700">
                <a:latin typeface="Consolas"/>
              </a:defRPr>
            </a:pPr>
            <a:r>
              <a:t>post_time      0.1649      0.193      0.854      0.393      -0.214       0.543</a:t>
            </a:r>
          </a:p>
          <a:p>
            <a:pPr>
              <a:defRPr sz="700">
                <a:latin typeface="Consolas"/>
              </a:defRPr>
            </a:pPr>
            <a:r>
              <a:t>alpha          1.7420      0.409      4.258      0.000       0.940       2.544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95724 - Long-term EEG review and analysis (professional services)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-336.09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330.51</a:t>
            </a:r>
          </a:p>
          <a:p>
            <a:pPr>
              <a:defRPr sz="700">
                <a:latin typeface="Consolas"/>
              </a:defRPr>
            </a:pPr>
            <a:r>
              <a:t>Time:                        21:23:24   Pearson chi2:                     317.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-14.7613      0.099   -149.043      0.000     -14.955     -14.567</a:t>
            </a:r>
          </a:p>
          <a:p>
            <a:pPr>
              <a:defRPr sz="700">
                <a:latin typeface="Consolas"/>
              </a:defRPr>
            </a:pPr>
            <a:r>
              <a:t>T              0.1021      0.010      9.970      0.000       0.082       0.122</a:t>
            </a:r>
          </a:p>
          <a:p>
            <a:pPr>
              <a:defRPr sz="700">
                <a:latin typeface="Consolas"/>
              </a:defRPr>
            </a:pPr>
            <a:r>
              <a:t>X_t            0.0342      0.060      0.575      0.565      -0.082       0.151</a:t>
            </a:r>
          </a:p>
          <a:p>
            <a:pPr>
              <a:defRPr sz="700">
                <a:latin typeface="Consolas"/>
              </a:defRPr>
            </a:pPr>
            <a:r>
              <a:t>post_time     -0.0909      0.010     -8.833      0.000      -0.111      -0.071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95724 - Long-term EEG review and analysis (professional services) (51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0.08273</a:t>
            </a:r>
          </a:p>
          <a:p>
            <a:pPr>
              <a:defRPr sz="700">
                <a:latin typeface="Consolas"/>
              </a:defRPr>
            </a:pPr>
            <a:r>
              <a:t>Time:                        21:23:24   Log-Likelihood:                -265.25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-289.18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2.293e-10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-14.6831      0.177    -82.787      0.000     -15.031     -14.335</a:t>
            </a:r>
          </a:p>
          <a:p>
            <a:pPr>
              <a:defRPr sz="700">
                <a:latin typeface="Consolas"/>
              </a:defRPr>
            </a:pPr>
            <a:r>
              <a:t>T              0.0924      0.020      4.620      0.000       0.053       0.132</a:t>
            </a:r>
          </a:p>
          <a:p>
            <a:pPr>
              <a:defRPr sz="700">
                <a:latin typeface="Consolas"/>
              </a:defRPr>
            </a:pPr>
            <a:r>
              <a:t>X_t            0.0913      0.154      0.593      0.553      -0.210       0.393</a:t>
            </a:r>
          </a:p>
          <a:p>
            <a:pPr>
              <a:defRPr sz="700">
                <a:latin typeface="Consolas"/>
              </a:defRPr>
            </a:pPr>
            <a:r>
              <a:t>post_time     -0.0815      0.020     -4.017      0.000      -0.121      -0.042</a:t>
            </a:r>
          </a:p>
          <a:p>
            <a:pPr>
              <a:defRPr sz="700">
                <a:latin typeface="Consolas"/>
              </a:defRPr>
            </a:pPr>
            <a:r>
              <a:t>alpha          0.0579      0.017      3.458      0.001       0.025       0.091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93000 - ECG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-1.0962e+05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2.1819e+05</a:t>
            </a:r>
          </a:p>
          <a:p>
            <a:pPr>
              <a:defRPr sz="700">
                <a:latin typeface="Consolas"/>
              </a:defRPr>
            </a:pPr>
            <a:r>
              <a:t>Time:                        21:36:56   Pearson chi2:                 2.18e+05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-5.9975      0.001  -8187.913      0.000      -5.999      -5.996</a:t>
            </a:r>
          </a:p>
          <a:p>
            <a:pPr>
              <a:defRPr sz="700">
                <a:latin typeface="Consolas"/>
              </a:defRPr>
            </a:pPr>
            <a:r>
              <a:t>T             -0.0012   3.46e-05    -34.484      0.000      -0.001      -0.001</a:t>
            </a:r>
          </a:p>
          <a:p>
            <a:pPr>
              <a:defRPr sz="700">
                <a:latin typeface="Consolas"/>
              </a:defRPr>
            </a:pPr>
            <a:r>
              <a:t>X_t            0.0834      0.001     82.307      0.000       0.081       0.085</a:t>
            </a:r>
          </a:p>
          <a:p>
            <a:pPr>
              <a:defRPr sz="700">
                <a:latin typeface="Consolas"/>
              </a:defRPr>
            </a:pPr>
            <a:r>
              <a:t>post_time      0.0026   4.45e-05     57.938      0.000       0.002       0.003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93000 - ECG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0.006158</a:t>
            </a:r>
          </a:p>
          <a:p>
            <a:pPr>
              <a:defRPr sz="700">
                <a:latin typeface="Consolas"/>
              </a:defRPr>
            </a:pPr>
            <a:r>
              <a:t>Time:                        21:36:56   Log-Likelihood:                -866.47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-871.84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0.01323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-5.9984      0.038   -159.145      0.000      -6.072      -5.924</a:t>
            </a:r>
          </a:p>
          <a:p>
            <a:pPr>
              <a:defRPr sz="700">
                <a:latin typeface="Consolas"/>
              </a:defRPr>
            </a:pPr>
            <a:r>
              <a:t>T             -0.0011      0.002     -0.581      0.561      -0.005       0.002</a:t>
            </a:r>
          </a:p>
          <a:p>
            <a:pPr>
              <a:defRPr sz="700">
                <a:latin typeface="Consolas"/>
              </a:defRPr>
            </a:pPr>
            <a:r>
              <a:t>X_t            0.0820      0.055      1.500      0.134      -0.025       0.189</a:t>
            </a:r>
          </a:p>
          <a:p>
            <a:pPr>
              <a:defRPr sz="700">
                <a:latin typeface="Consolas"/>
              </a:defRPr>
            </a:pPr>
            <a:r>
              <a:t>post_time      0.0023      0.002      0.961      0.337      -0.002       0.007</a:t>
            </a:r>
          </a:p>
          <a:p>
            <a:pPr>
              <a:defRPr sz="700">
                <a:latin typeface="Consolas"/>
              </a:defRPr>
            </a:pPr>
            <a:r>
              <a:t>alpha          0.0135      0.002      6.135      0.000       0.009       0.018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93005 - routine electrocardiogram (ECG/EKG) with at least 12 leads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-95087.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1.8904e+05</a:t>
            </a:r>
          </a:p>
          <a:p>
            <a:pPr>
              <a:defRPr sz="700">
                <a:latin typeface="Consolas"/>
              </a:defRPr>
            </a:pPr>
            <a:r>
              <a:t>Time:                        21:36:57   Pearson chi2:                 1.89e+05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-4.9679      0.000  -1.14e+04      0.000      -4.969      -4.967</a:t>
            </a:r>
          </a:p>
          <a:p>
            <a:pPr>
              <a:defRPr sz="700">
                <a:latin typeface="Consolas"/>
              </a:defRPr>
            </a:pPr>
            <a:r>
              <a:t>T             -0.0001   2.04e-05     -6.914      0.000      -0.000      -0.000</a:t>
            </a:r>
          </a:p>
          <a:p>
            <a:pPr>
              <a:defRPr sz="700">
                <a:latin typeface="Consolas"/>
              </a:defRPr>
            </a:pPr>
            <a:r>
              <a:t>X_t            0.0601      0.001    100.001      0.000       0.059       0.061</a:t>
            </a:r>
          </a:p>
          <a:p>
            <a:pPr>
              <a:defRPr sz="700">
                <a:latin typeface="Consolas"/>
              </a:defRPr>
            </a:pPr>
            <a:r>
              <a:t>post_time      0.0001   2.65e-05      4.663      0.000    7.17e-05       0.000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93005 - routine electrocardiogram (ECG/EKG) with at least 12 leads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0.006995</a:t>
            </a:r>
          </a:p>
          <a:p>
            <a:pPr>
              <a:defRPr sz="700">
                <a:latin typeface="Consolas"/>
              </a:defRPr>
            </a:pPr>
            <a:r>
              <a:t>Time:                        21:36:57   Log-Likelihood:                -900.78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-907.13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0.005354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-4.9692      0.021   -235.668      0.000      -5.010      -4.928</a:t>
            </a:r>
          </a:p>
          <a:p>
            <a:pPr>
              <a:defRPr sz="700">
                <a:latin typeface="Consolas"/>
              </a:defRPr>
            </a:pPr>
            <a:r>
              <a:t>T           1.596e-05      0.001      0.016      0.987      -0.002       0.002</a:t>
            </a:r>
          </a:p>
          <a:p>
            <a:pPr>
              <a:defRPr sz="700">
                <a:latin typeface="Consolas"/>
              </a:defRPr>
            </a:pPr>
            <a:r>
              <a:t>X_t            0.0579      0.031      1.892      0.058      -0.002       0.118</a:t>
            </a:r>
          </a:p>
          <a:p>
            <a:pPr>
              <a:defRPr sz="700">
                <a:latin typeface="Consolas"/>
              </a:defRPr>
            </a:pPr>
            <a:r>
              <a:t>post_time     -0.0001      0.001     -0.085      0.932      -0.003       0.003</a:t>
            </a:r>
          </a:p>
          <a:p>
            <a:pPr>
              <a:defRPr sz="700">
                <a:latin typeface="Consolas"/>
              </a:defRPr>
            </a:pPr>
            <a:r>
              <a:t>alpha          0.0043      0.001      6.126      0.000       0.003       0.006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93010 - interpretation and report of a routine 12-lead electrocardiogram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-1.1622e+05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2.3126e+05</a:t>
            </a:r>
          </a:p>
          <a:p>
            <a:pPr>
              <a:defRPr sz="700">
                <a:latin typeface="Consolas"/>
              </a:defRPr>
            </a:pPr>
            <a:r>
              <a:t>Time:                        21:36:58   Pearson chi2:                 2.31e+05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-4.4277      0.000  -1.34e+04      0.000      -4.428      -4.427</a:t>
            </a:r>
          </a:p>
          <a:p>
            <a:pPr>
              <a:defRPr sz="700">
                <a:latin typeface="Consolas"/>
              </a:defRPr>
            </a:pPr>
            <a:r>
              <a:t>T              0.0012   1.54e-05     74.954      0.000       0.001       0.001</a:t>
            </a:r>
          </a:p>
          <a:p>
            <a:pPr>
              <a:defRPr sz="700">
                <a:latin typeface="Consolas"/>
              </a:defRPr>
            </a:pPr>
            <a:r>
              <a:t>X_t            0.0229      0.000     50.280      0.000       0.022       0.024</a:t>
            </a:r>
          </a:p>
          <a:p>
            <a:pPr>
              <a:defRPr sz="700">
                <a:latin typeface="Consolas"/>
              </a:defRPr>
            </a:pPr>
            <a:r>
              <a:t>post_time     -0.0046   2.03e-05   -225.769      0.000      -0.005      -0.005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93010 - interpretation and report of a routine 12-lead electrocardiogram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0.01203</a:t>
            </a:r>
          </a:p>
          <a:p>
            <a:pPr>
              <a:defRPr sz="700">
                <a:latin typeface="Consolas"/>
              </a:defRPr>
            </a:pPr>
            <a:r>
              <a:t>Time:                        21:36:58   Log-Likelihood:                -927.31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-938.60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4.946e-05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-4.4293      0.018   -248.660      0.000      -4.464      -4.394</a:t>
            </a:r>
          </a:p>
          <a:p>
            <a:pPr>
              <a:defRPr sz="700">
                <a:latin typeface="Consolas"/>
              </a:defRPr>
            </a:pPr>
            <a:r>
              <a:t>T              0.0013      0.001      1.539      0.124      -0.000       0.003</a:t>
            </a:r>
          </a:p>
          <a:p>
            <a:pPr>
              <a:defRPr sz="700">
                <a:latin typeface="Consolas"/>
              </a:defRPr>
            </a:pPr>
            <a:r>
              <a:t>X_t            0.0188      0.026      0.728      0.466      -0.032       0.070</a:t>
            </a:r>
          </a:p>
          <a:p>
            <a:pPr>
              <a:defRPr sz="700">
                <a:latin typeface="Consolas"/>
              </a:defRPr>
            </a:pPr>
            <a:r>
              <a:t>post_time     -0.0047      0.001     -4.130      0.000      -0.007      -0.002</a:t>
            </a:r>
          </a:p>
          <a:p>
            <a:pPr>
              <a:defRPr sz="700">
                <a:latin typeface="Consolas"/>
              </a:defRPr>
            </a:pPr>
            <a:r>
              <a:t>alpha          0.0031      0.000      6.125      0.000       0.002       0.004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93040 - Rhythm ECG (limited, interpretation dependent)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-2209.5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3675.0</a:t>
            </a:r>
          </a:p>
          <a:p>
            <a:pPr>
              <a:defRPr sz="700">
                <a:latin typeface="Consolas"/>
              </a:defRPr>
            </a:pPr>
            <a:r>
              <a:t>Time:                        21:36:59   Pearson chi2:                 3.70e+03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-9.9890      0.005  -1823.768      0.000     -10.000      -9.978</a:t>
            </a:r>
          </a:p>
          <a:p>
            <a:pPr>
              <a:defRPr sz="700">
                <a:latin typeface="Consolas"/>
              </a:defRPr>
            </a:pPr>
            <a:r>
              <a:t>T             -0.0048      0.000    -18.400      0.000      -0.005      -0.004</a:t>
            </a:r>
          </a:p>
          <a:p>
            <a:pPr>
              <a:defRPr sz="700">
                <a:latin typeface="Consolas"/>
              </a:defRPr>
            </a:pPr>
            <a:r>
              <a:t>X_t           -0.0881      0.008    -10.668      0.000      -0.104      -0.072</a:t>
            </a:r>
          </a:p>
          <a:p>
            <a:pPr>
              <a:defRPr sz="700">
                <a:latin typeface="Consolas"/>
              </a:defRPr>
            </a:pPr>
            <a:r>
              <a:t>post_time      0.0050      0.000     13.865      0.000       0.004       0.006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93040 - Rhythm ECG (limited, interpretation dependent)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0.03240</a:t>
            </a:r>
          </a:p>
          <a:p>
            <a:pPr>
              <a:defRPr sz="700">
                <a:latin typeface="Consolas"/>
              </a:defRPr>
            </a:pPr>
            <a:r>
              <a:t>Time:                        21:36:59   Log-Likelihood:                -554.99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-573.57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4.252e-08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-9.9886      0.039   -256.059      0.000     -10.065      -9.912</a:t>
            </a:r>
          </a:p>
          <a:p>
            <a:pPr>
              <a:defRPr sz="700">
                <a:latin typeface="Consolas"/>
              </a:defRPr>
            </a:pPr>
            <a:r>
              <a:t>T             -0.0049      0.002     -2.607      0.009      -0.009      -0.001</a:t>
            </a:r>
          </a:p>
          <a:p>
            <a:pPr>
              <a:defRPr sz="700">
                <a:latin typeface="Consolas"/>
              </a:defRPr>
            </a:pPr>
            <a:r>
              <a:t>X_t           -0.0853      0.057     -1.495      0.135      -0.197       0.027</a:t>
            </a:r>
          </a:p>
          <a:p>
            <a:pPr>
              <a:defRPr sz="700">
                <a:latin typeface="Consolas"/>
              </a:defRPr>
            </a:pPr>
            <a:r>
              <a:t>post_time      0.0048      0.003      1.923      0.054   -9.15e-05       0.010</a:t>
            </a:r>
          </a:p>
          <a:p>
            <a:pPr>
              <a:defRPr sz="700">
                <a:latin typeface="Consolas"/>
              </a:defRPr>
            </a:pPr>
            <a:r>
              <a:t>alpha          0.0146      0.002      6.012      0.000       0.010       0.019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93041 - Rhythm ECG (limited, interpretation dependent)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-2676.7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4506.3</a:t>
            </a:r>
          </a:p>
          <a:p>
            <a:pPr>
              <a:defRPr sz="700">
                <a:latin typeface="Consolas"/>
              </a:defRPr>
            </a:pPr>
            <a:r>
              <a:t>Time:                        21:37:00   Pearson chi2:                 4.45e+03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-8.5984      0.003  -3188.398      0.000      -8.604      -8.593</a:t>
            </a:r>
          </a:p>
          <a:p>
            <a:pPr>
              <a:defRPr sz="700">
                <a:latin typeface="Consolas"/>
              </a:defRPr>
            </a:pPr>
            <a:r>
              <a:t>T             -0.0018      0.000    -14.474      0.000      -0.002      -0.002</a:t>
            </a:r>
          </a:p>
          <a:p>
            <a:pPr>
              <a:defRPr sz="700">
                <a:latin typeface="Consolas"/>
              </a:defRPr>
            </a:pPr>
            <a:r>
              <a:t>X_t            0.0401      0.004     10.114      0.000       0.032       0.048</a:t>
            </a:r>
          </a:p>
          <a:p>
            <a:pPr>
              <a:defRPr sz="700">
                <a:latin typeface="Consolas"/>
              </a:defRPr>
            </a:pPr>
            <a:r>
              <a:t>post_time     -0.0140      0.000    -77.833      0.000      -0.014      -0.014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93041 - Rhythm ECG (limited, interpretation dependent)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 0.1228</a:t>
            </a:r>
          </a:p>
          <a:p>
            <a:pPr>
              <a:defRPr sz="700">
                <a:latin typeface="Consolas"/>
              </a:defRPr>
            </a:pPr>
            <a:r>
              <a:t>Time:                        21:37:00   Log-Likelihood:                -614.45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-700.43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4.812e-37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-8.5997      0.022   -394.220      0.000      -8.642      -8.557</a:t>
            </a:r>
          </a:p>
          <a:p>
            <a:pPr>
              <a:defRPr sz="700">
                <a:latin typeface="Consolas"/>
              </a:defRPr>
            </a:pPr>
            <a:r>
              <a:t>T             -0.0017      0.001     -1.673      0.094      -0.004       0.000</a:t>
            </a:r>
          </a:p>
          <a:p>
            <a:pPr>
              <a:defRPr sz="700">
                <a:latin typeface="Consolas"/>
              </a:defRPr>
            </a:pPr>
            <a:r>
              <a:t>X_t            0.0373      0.032      1.170      0.242      -0.025       0.100</a:t>
            </a:r>
          </a:p>
          <a:p>
            <a:pPr>
              <a:defRPr sz="700">
                <a:latin typeface="Consolas"/>
              </a:defRPr>
            </a:pPr>
            <a:r>
              <a:t>post_time     -0.0141      0.001    -10.092      0.000      -0.017      -0.011</a:t>
            </a:r>
          </a:p>
          <a:p>
            <a:pPr>
              <a:defRPr sz="700">
                <a:latin typeface="Consolas"/>
              </a:defRPr>
            </a:pPr>
            <a:r>
              <a:t>alpha          0.0046      0.001      6.024      0.000       0.003       0.006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93042 - Rhythm ECG (limited, interpretation dependent)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-4980.7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9132.4</a:t>
            </a:r>
          </a:p>
          <a:p>
            <a:pPr>
              <a:defRPr sz="700">
                <a:latin typeface="Consolas"/>
              </a:defRPr>
            </a:pPr>
            <a:r>
              <a:t>Time:                        21:37:00   Pearson chi2:                 8.88e+03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-9.0527      0.003  -2727.437      0.000      -9.059      -9.046</a:t>
            </a:r>
          </a:p>
          <a:p>
            <a:pPr>
              <a:defRPr sz="700">
                <a:latin typeface="Consolas"/>
              </a:defRPr>
            </a:pPr>
            <a:r>
              <a:t>T              0.0025      0.000     16.253      0.000       0.002       0.003</a:t>
            </a:r>
          </a:p>
          <a:p>
            <a:pPr>
              <a:defRPr sz="700">
                <a:latin typeface="Consolas"/>
              </a:defRPr>
            </a:pPr>
            <a:r>
              <a:t>X_t            0.0506      0.005     11.169      0.000       0.042       0.059</a:t>
            </a:r>
          </a:p>
          <a:p>
            <a:pPr>
              <a:defRPr sz="700">
                <a:latin typeface="Consolas"/>
              </a:defRPr>
            </a:pPr>
            <a:r>
              <a:t>post_time     -0.0105      0.000    -51.193      0.000      -0.011      -0.010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93042 - Rhythm ECG (limited, interpretation dependent)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0.02204</a:t>
            </a:r>
          </a:p>
          <a:p>
            <a:pPr>
              <a:defRPr sz="700">
                <a:latin typeface="Consolas"/>
              </a:defRPr>
            </a:pPr>
            <a:r>
              <a:t>Time:                        21:37:01   Log-Likelihood:                -632.14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-646.38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2.862e-06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-9.0559      0.036   -254.831      0.000      -9.126      -8.986</a:t>
            </a:r>
          </a:p>
          <a:p>
            <a:pPr>
              <a:defRPr sz="700">
                <a:latin typeface="Consolas"/>
              </a:defRPr>
            </a:pPr>
            <a:r>
              <a:t>T              0.0028      0.002      1.622      0.105      -0.001       0.006</a:t>
            </a:r>
          </a:p>
          <a:p>
            <a:pPr>
              <a:defRPr sz="700">
                <a:latin typeface="Consolas"/>
              </a:defRPr>
            </a:pPr>
            <a:r>
              <a:t>X_t            0.0386      0.051      0.755      0.450      -0.062       0.139</a:t>
            </a:r>
          </a:p>
          <a:p>
            <a:pPr>
              <a:defRPr sz="700">
                <a:latin typeface="Consolas"/>
              </a:defRPr>
            </a:pPr>
            <a:r>
              <a:t>post_time     -0.0103      0.002     -4.590      0.000      -0.015      -0.006</a:t>
            </a:r>
          </a:p>
          <a:p>
            <a:pPr>
              <a:defRPr sz="700">
                <a:latin typeface="Consolas"/>
              </a:defRPr>
            </a:pPr>
            <a:r>
              <a:t>alpha          0.0120      0.002      6.085      0.000       0.008       0.016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Aggregate EEG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-12254.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23621.</a:t>
            </a:r>
          </a:p>
          <a:p>
            <a:pPr>
              <a:defRPr sz="700">
                <a:latin typeface="Consolas"/>
              </a:defRPr>
            </a:pPr>
            <a:r>
              <a:t>Time:                        21:30:07   Pearson chi2:                 2.38e+04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-8.3048      0.002  -3586.245      0.000      -8.309      -8.300</a:t>
            </a:r>
          </a:p>
          <a:p>
            <a:pPr>
              <a:defRPr sz="700">
                <a:latin typeface="Consolas"/>
              </a:defRPr>
            </a:pPr>
            <a:r>
              <a:t>T             -0.0006      0.000     -5.578      0.000      -0.001      -0.000</a:t>
            </a:r>
          </a:p>
          <a:p>
            <a:pPr>
              <a:defRPr sz="700">
                <a:latin typeface="Consolas"/>
              </a:defRPr>
            </a:pPr>
            <a:r>
              <a:t>X_t            0.0763      0.003     23.930      0.000       0.070       0.083</a:t>
            </a:r>
          </a:p>
          <a:p>
            <a:pPr>
              <a:defRPr sz="700">
                <a:latin typeface="Consolas"/>
              </a:defRPr>
            </a:pPr>
            <a:r>
              <a:t>post_time      0.0021      0.000     14.805      0.000       0.002       0.002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95816, 95819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Aggregate EEG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0.007930</a:t>
            </a:r>
          </a:p>
          <a:p>
            <a:pPr>
              <a:defRPr sz="700">
                <a:latin typeface="Consolas"/>
              </a:defRPr>
            </a:pPr>
            <a:r>
              <a:t>Time:                        21:30:07   Log-Likelihood:                -696.96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-702.53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0.01098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-8.3062      0.039   -212.318      0.000      -8.383      -8.230</a:t>
            </a:r>
          </a:p>
          <a:p>
            <a:pPr>
              <a:defRPr sz="700">
                <a:latin typeface="Consolas"/>
              </a:defRPr>
            </a:pPr>
            <a:r>
              <a:t>T             -0.0004      0.002     -0.221      0.825      -0.004       0.003</a:t>
            </a:r>
          </a:p>
          <a:p>
            <a:pPr>
              <a:defRPr sz="700">
                <a:latin typeface="Consolas"/>
              </a:defRPr>
            </a:pPr>
            <a:r>
              <a:t>X_t            0.0744      0.056      1.317      0.188      -0.036       0.185</a:t>
            </a:r>
          </a:p>
          <a:p>
            <a:pPr>
              <a:defRPr sz="700">
                <a:latin typeface="Consolas"/>
              </a:defRPr>
            </a:pPr>
            <a:r>
              <a:t>post_time      0.0017      0.002      0.700      0.484      -0.003       0.007</a:t>
            </a:r>
          </a:p>
          <a:p>
            <a:pPr>
              <a:defRPr sz="700">
                <a:latin typeface="Consolas"/>
              </a:defRPr>
            </a:pPr>
            <a:r>
              <a:t>alpha          0.0144      0.002      6.118      0.000       0.010       0.019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95816, 95819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Aggregate EEG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-3925.6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7266.9</a:t>
            </a:r>
          </a:p>
          <a:p>
            <a:pPr>
              <a:defRPr sz="700">
                <a:latin typeface="Consolas"/>
              </a:defRPr>
            </a:pPr>
            <a:r>
              <a:t>Time:                        21:35:03   Pearson chi2:                 7.26e+03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-8.8383      0.006  -1463.216      0.000      -8.850      -8.826</a:t>
            </a:r>
          </a:p>
          <a:p>
            <a:pPr>
              <a:defRPr sz="700">
                <a:latin typeface="Consolas"/>
              </a:defRPr>
            </a:pPr>
            <a:r>
              <a:t>T             -0.0019      0.001     -2.682      0.007      -0.003      -0.001</a:t>
            </a:r>
          </a:p>
          <a:p>
            <a:pPr>
              <a:defRPr sz="700">
                <a:latin typeface="Consolas"/>
              </a:defRPr>
            </a:pPr>
            <a:r>
              <a:t>X_t            0.0922      0.005     17.047      0.000       0.082       0.103</a:t>
            </a:r>
          </a:p>
          <a:p>
            <a:pPr>
              <a:defRPr sz="700">
                <a:latin typeface="Consolas"/>
              </a:defRPr>
            </a:pPr>
            <a:r>
              <a:t>post_time      0.0077      0.001     10.795      0.000       0.006       0.009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95705, 95706, 95707, 95708, 95710, 95711, 95712, 95713, 95714, 95715, 95716, 95717, 95718, 95719, 95720, 95721, 95722, 95723, 95724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Aggregate EEG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51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47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0.04084</a:t>
            </a:r>
          </a:p>
          <a:p>
            <a:pPr>
              <a:defRPr sz="700">
                <a:latin typeface="Consolas"/>
              </a:defRPr>
            </a:pPr>
            <a:r>
              <a:t>Time:                        21:35:04   Log-Likelihood:                -443.43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-462.31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3.168e-08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-8.8385      0.061   -145.388      0.000      -8.958      -8.719</a:t>
            </a:r>
          </a:p>
          <a:p>
            <a:pPr>
              <a:defRPr sz="700">
                <a:latin typeface="Consolas"/>
              </a:defRPr>
            </a:pPr>
            <a:r>
              <a:t>T             -0.0019      0.007     -0.266      0.790      -0.016       0.012</a:t>
            </a:r>
          </a:p>
          <a:p>
            <a:pPr>
              <a:defRPr sz="700">
                <a:latin typeface="Consolas"/>
              </a:defRPr>
            </a:pPr>
            <a:r>
              <a:t>X_t            0.0987      0.058      1.705      0.088      -0.015       0.212</a:t>
            </a:r>
          </a:p>
          <a:p>
            <a:pPr>
              <a:defRPr sz="700">
                <a:latin typeface="Consolas"/>
              </a:defRPr>
            </a:pPr>
            <a:r>
              <a:t>post_time      0.0075      0.007      1.023      0.306      -0.007       0.022</a:t>
            </a:r>
          </a:p>
          <a:p>
            <a:pPr>
              <a:defRPr sz="700">
                <a:latin typeface="Consolas"/>
              </a:defRPr>
            </a:pPr>
            <a:r>
              <a:t>alpha          0.0091      0.002      5.021      0.000       0.006       0.013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95705, 95706, 95707, 95708, 95710, 95711, 95712, 95713, 95714, 95715, 95716, 95717, 95718, 95719, 95720, 95721, 95722, 95723, 95724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079789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Normalized Poisson ITS (per 100,000 enrollees): Custom Aggregate Aggregate </a:t>
            </a:r>
            <a:r>
              <a:rPr lang="en-US" dirty="0"/>
              <a:t>ECG</a:t>
            </a:r>
            <a:r>
              <a:rPr dirty="0"/>
              <a:t> </a:t>
            </a:r>
            <a:r>
              <a:rPr lang="en-US" dirty="0"/>
              <a:t>1</a:t>
            </a:r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-2.5244e+05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5.0367e+05</a:t>
            </a:r>
          </a:p>
          <a:p>
            <a:pPr>
              <a:defRPr sz="700">
                <a:latin typeface="Consolas"/>
              </a:defRPr>
            </a:pPr>
            <a:r>
              <a:t>Time:                        21:38:19   Pearson chi2:                 5.05e+05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-3.8451      0.000  -1.55e+04      0.000      -3.846      -3.845</a:t>
            </a:r>
          </a:p>
          <a:p>
            <a:pPr>
              <a:defRPr sz="700">
                <a:latin typeface="Consolas"/>
              </a:defRPr>
            </a:pPr>
            <a:r>
              <a:t>T              0.0005   1.16e-05     40.861      0.000       0.000       0.000</a:t>
            </a:r>
          </a:p>
          <a:p>
            <a:pPr>
              <a:defRPr sz="700">
                <a:latin typeface="Consolas"/>
              </a:defRPr>
            </a:pPr>
            <a:r>
              <a:t>X_t            0.0411      0.000    120.300      0.000       0.040       0.042</a:t>
            </a:r>
          </a:p>
          <a:p>
            <a:pPr>
              <a:defRPr sz="700">
                <a:latin typeface="Consolas"/>
              </a:defRPr>
            </a:pPr>
            <a:r>
              <a:t>post_time     -0.0022   1.52e-05   -143.551      0.000      -0.002      -0.002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93000, 93005, 93010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21511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Normalized Negative Binomial ITS (per 100,000 enrollees): Custom Aggregate Aggregate </a:t>
            </a:r>
            <a:r>
              <a:rPr lang="en-US" dirty="0"/>
              <a:t>ECG</a:t>
            </a:r>
            <a:r>
              <a:rPr dirty="0"/>
              <a:t> </a:t>
            </a:r>
            <a:r>
              <a:rPr lang="en-US" dirty="0"/>
              <a:t>1</a:t>
            </a:r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0.002916</a:t>
            </a:r>
          </a:p>
          <a:p>
            <a:pPr>
              <a:defRPr sz="700">
                <a:latin typeface="Consolas"/>
              </a:defRPr>
            </a:pPr>
            <a:r>
              <a:t>Time:                        21:38:19   Log-Likelihood:                -978.97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-981.84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0.1257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-3.8466      0.020   -195.694      0.000      -3.885      -3.808</a:t>
            </a:r>
          </a:p>
          <a:p>
            <a:pPr>
              <a:defRPr sz="700">
                <a:latin typeface="Consolas"/>
              </a:defRPr>
            </a:pPr>
            <a:r>
              <a:t>T              0.0006      0.001      0.673      0.501      -0.001       0.002</a:t>
            </a:r>
          </a:p>
          <a:p>
            <a:pPr>
              <a:defRPr sz="700">
                <a:latin typeface="Consolas"/>
              </a:defRPr>
            </a:pPr>
            <a:r>
              <a:t>X_t            0.0381      0.029      1.335      0.182      -0.018       0.094</a:t>
            </a:r>
          </a:p>
          <a:p>
            <a:pPr>
              <a:defRPr sz="700">
                <a:latin typeface="Consolas"/>
              </a:defRPr>
            </a:pPr>
            <a:r>
              <a:t>post_time     -0.0024      0.001     -1.879      0.060      -0.005       0.000</a:t>
            </a:r>
          </a:p>
          <a:p>
            <a:pPr>
              <a:defRPr sz="700">
                <a:latin typeface="Consolas"/>
              </a:defRPr>
            </a:pPr>
            <a:r>
              <a:t>alpha          0.0037      0.001      6.127      0.000       0.003       0.005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93000, 93005, 93010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079789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Normalized Poisson ITS (per 100,000 enrollees): Custom Aggregate Aggregate </a:t>
            </a:r>
            <a:r>
              <a:rPr lang="en-US" dirty="0"/>
              <a:t>ECG</a:t>
            </a:r>
            <a:r>
              <a:rPr dirty="0"/>
              <a:t> </a:t>
            </a:r>
            <a:r>
              <a:rPr lang="en-US" dirty="0"/>
              <a:t>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-5402.2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9903.5</a:t>
            </a:r>
          </a:p>
          <a:p>
            <a:pPr>
              <a:defRPr sz="700">
                <a:latin typeface="Consolas"/>
              </a:defRPr>
            </a:pPr>
            <a:r>
              <a:t>Time:                        21:39:15   Pearson chi2:                 9.74e+03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-7.9658      0.002  -4074.290      0.000      -7.970      -7.962</a:t>
            </a:r>
          </a:p>
          <a:p>
            <a:pPr>
              <a:defRPr sz="700">
                <a:latin typeface="Consolas"/>
              </a:defRPr>
            </a:pPr>
            <a:r>
              <a:t>T             -0.0007    9.2e-05     -7.172      0.000      -0.001      -0.000</a:t>
            </a:r>
          </a:p>
          <a:p>
            <a:pPr>
              <a:defRPr sz="700">
                <a:latin typeface="Consolas"/>
              </a:defRPr>
            </a:pPr>
            <a:r>
              <a:t>X_t            0.0271      0.003      9.652      0.000       0.022       0.033</a:t>
            </a:r>
          </a:p>
          <a:p>
            <a:pPr>
              <a:defRPr sz="700">
                <a:latin typeface="Consolas"/>
              </a:defRPr>
            </a:pPr>
            <a:r>
              <a:t>post_time     -0.0100      0.000    -78.958      0.000      -0.010      -0.010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93040, 93041, 93042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21511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Normalized Negative Binomial ITS (per 100,000 enrollees): Custom Aggregate Aggregate </a:t>
            </a:r>
            <a:r>
              <a:rPr lang="en-US" dirty="0"/>
              <a:t>ECG</a:t>
            </a:r>
            <a:r>
              <a:rPr dirty="0"/>
              <a:t> 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0.07759</a:t>
            </a:r>
          </a:p>
          <a:p>
            <a:pPr>
              <a:defRPr sz="700">
                <a:latin typeface="Consolas"/>
              </a:defRPr>
            </a:pPr>
            <a:r>
              <a:t>Time:                        21:39:15   Log-Likelihood:                -670.73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-727.15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2.684e-24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-7.9671      0.023   -351.668      0.000      -8.011      -7.923</a:t>
            </a:r>
          </a:p>
          <a:p>
            <a:pPr>
              <a:defRPr sz="700">
                <a:latin typeface="Consolas"/>
              </a:defRPr>
            </a:pPr>
            <a:r>
              <a:t>T             -0.0005      0.001     -0.500      0.617      -0.003       0.002</a:t>
            </a:r>
          </a:p>
          <a:p>
            <a:pPr>
              <a:defRPr sz="700">
                <a:latin typeface="Consolas"/>
              </a:defRPr>
            </a:pPr>
            <a:r>
              <a:t>X_t            0.0205      0.033      0.622      0.534      -0.044       0.085</a:t>
            </a:r>
          </a:p>
          <a:p>
            <a:pPr>
              <a:defRPr sz="700">
                <a:latin typeface="Consolas"/>
              </a:defRPr>
            </a:pPr>
            <a:r>
              <a:t>post_time     -0.0098      0.001     -6.819      0.000      -0.013      -0.007</a:t>
            </a:r>
          </a:p>
          <a:p>
            <a:pPr>
              <a:defRPr sz="700">
                <a:latin typeface="Consolas"/>
              </a:defRPr>
            </a:pPr>
            <a:r>
              <a:t>alpha          0.0050      0.001      6.082      0.000       0.003       0.007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93040, 93041, 93042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73DFEA-91B9-0B28-FF92-77BBD5830EE1}"/>
              </a:ext>
            </a:extLst>
          </p:cNvPr>
          <p:cNvSpPr txBox="1"/>
          <p:nvPr/>
        </p:nvSpPr>
        <p:spPr>
          <a:xfrm>
            <a:off x="1117600" y="812800"/>
            <a:ext cx="7842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'warning': 'Code 95725 was not found in claims_pivot.csv.’</a:t>
            </a:r>
          </a:p>
          <a:p>
            <a:r>
              <a:rPr lang="en-US" dirty="0"/>
              <a:t>'warning': 'Code 95726 was not found in claims_pivot.csv.'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84170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10888</Words>
  <Application>Microsoft Macintosh PowerPoint</Application>
  <PresentationFormat>Widescreen</PresentationFormat>
  <Paragraphs>1330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</dc:creator>
  <cp:keywords/>
  <dc:description>generated using python-pptx</dc:description>
  <cp:lastModifiedBy>Izrailov, David</cp:lastModifiedBy>
  <cp:revision>7</cp:revision>
  <dcterms:created xsi:type="dcterms:W3CDTF">2013-01-27T09:14:16Z</dcterms:created>
  <dcterms:modified xsi:type="dcterms:W3CDTF">2026-05-08T14:42:25Z</dcterms:modified>
  <cp:category/>
</cp:coreProperties>
</file>