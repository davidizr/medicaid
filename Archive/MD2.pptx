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83690 - Lipase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-96468.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1.9183e+05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22:46:52   Pearson chi2:                 1.91e+05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-5.3598      0.001  -1.01e+04      0.000      -5.361      -5.359</a:t>
            </a:r>
          </a:p>
          <a:p>
            <a:pPr>
              <a:defRPr sz="700">
                <a:latin typeface="Consolas"/>
              </a:defRPr>
            </a:pPr>
            <a:r>
              <a:t>T             -0.0007    2.5e-05    -27.518      0.000      -0.001      -0.001</a:t>
            </a:r>
          </a:p>
          <a:p>
            <a:pPr>
              <a:defRPr sz="700">
                <a:latin typeface="Consolas"/>
              </a:defRPr>
            </a:pPr>
            <a:r>
              <a:t>X_t            0.0401      0.001     54.334      0.000       0.039       0.042</a:t>
            </a:r>
          </a:p>
          <a:p>
            <a:pPr>
              <a:defRPr sz="700">
                <a:latin typeface="Consolas"/>
              </a:defRPr>
            </a:pPr>
            <a:r>
              <a:t>post_time      0.0021   3.24e-05     64.717      0.000       0.002       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83690 - Lipase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0.005344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22:46:52   Log-Likelihood:                -885.86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-890.62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0.02314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-5.3610      0.026   -205.848      0.000      -5.412      -5.310</a:t>
            </a:r>
          </a:p>
          <a:p>
            <a:pPr>
              <a:defRPr sz="700">
                <a:latin typeface="Consolas"/>
              </a:defRPr>
            </a:pPr>
            <a:r>
              <a:t>T             -0.0005      0.001     -0.402      0.687      -0.003       0.002</a:t>
            </a:r>
          </a:p>
          <a:p>
            <a:pPr>
              <a:defRPr sz="700">
                <a:latin typeface="Consolas"/>
              </a:defRPr>
            </a:pPr>
            <a:r>
              <a:t>X_t            0.0376      0.038      0.998      0.318      -0.036       0.111</a:t>
            </a:r>
          </a:p>
          <a:p>
            <a:pPr>
              <a:defRPr sz="700">
                <a:latin typeface="Consolas"/>
              </a:defRPr>
            </a:pPr>
            <a:r>
              <a:t>post_time      0.0018      0.002      1.079      0.280      -0.001       0.005</a:t>
            </a:r>
          </a:p>
          <a:p>
            <a:pPr>
              <a:defRPr sz="700">
                <a:latin typeface="Consolas"/>
              </a:defRPr>
            </a:pPr>
            <a:r>
              <a:t>alpha          0.0064      0.001      6.128      0.000       0.004       0.008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82150 - Amylase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-14568.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28183.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22:46:53   Pearson chi2:                 2.81e+04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-7.1074      0.001  -5383.920      0.000      -7.110      -7.105</a:t>
            </a:r>
          </a:p>
          <a:p>
            <a:pPr>
              <a:defRPr sz="700">
                <a:latin typeface="Consolas"/>
              </a:defRPr>
            </a:pPr>
            <a:r>
              <a:t>T             -0.0090    6.5e-05   -138.087      0.000      -0.009      -0.009</a:t>
            </a:r>
          </a:p>
          <a:p>
            <a:pPr>
              <a:defRPr sz="700">
                <a:latin typeface="Consolas"/>
              </a:defRPr>
            </a:pPr>
            <a:r>
              <a:t>X_t            0.0401      0.002     19.506      0.000       0.036       0.044</a:t>
            </a:r>
          </a:p>
          <a:p>
            <a:pPr>
              <a:defRPr sz="700">
                <a:latin typeface="Consolas"/>
              </a:defRPr>
            </a:pPr>
            <a:r>
              <a:t>post_time      0.0039   8.96e-05     43.584      0.000       0.004       0.004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82150 - Amylase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0.06476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22:46:53   Log-Likelihood:                -736.38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-787.38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5.805e-22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-7.1044      0.027   -260.295      0.000      -7.158      -7.051</a:t>
            </a:r>
          </a:p>
          <a:p>
            <a:pPr>
              <a:defRPr sz="700">
                <a:latin typeface="Consolas"/>
              </a:defRPr>
            </a:pPr>
            <a:r>
              <a:t>T             -0.0091      0.001     -6.946      0.000      -0.012      -0.007</a:t>
            </a:r>
          </a:p>
          <a:p>
            <a:pPr>
              <a:defRPr sz="700">
                <a:latin typeface="Consolas"/>
              </a:defRPr>
            </a:pPr>
            <a:r>
              <a:t>X_t            0.0410      0.040      1.036      0.300      -0.037       0.119</a:t>
            </a:r>
          </a:p>
          <a:p>
            <a:pPr>
              <a:defRPr sz="700">
                <a:latin typeface="Consolas"/>
              </a:defRPr>
            </a:pPr>
            <a:r>
              <a:t>post_time      0.0041      0.002      2.342      0.019       0.001       0.007</a:t>
            </a:r>
          </a:p>
          <a:p>
            <a:pPr>
              <a:defRPr sz="700">
                <a:latin typeface="Consolas"/>
              </a:defRPr>
            </a:pPr>
            <a:r>
              <a:t>alpha          0.0072      0.001      6.115      0.000       0.005       0.009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86364 - Tissue transglutaminase IgA (tTG-IgA) (30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30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28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-5655.1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10944.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22:46:54   Pearson chi2:                 1.09e+04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0.7391      0.000   2510.708      0.000       0.739       0.740</a:t>
            </a:r>
          </a:p>
          <a:p>
            <a:pPr>
              <a:defRPr sz="700">
                <a:latin typeface="Consolas"/>
              </a:defRPr>
            </a:pPr>
            <a:r>
              <a:t>X_t           -0.1334   4.33e-05  -3080.377      0.000      -0.133      -0.133</a:t>
            </a:r>
          </a:p>
          <a:p>
            <a:pPr>
              <a:defRPr sz="700">
                <a:latin typeface="Consolas"/>
              </a:defRPr>
            </a:pPr>
            <a:r>
              <a:t>post_time     -0.7284      0.000  -3951.426      0.000      -0.729      -0.728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86364 - Tissue transglutaminase IgA (tTG-IgA) (30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30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28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0.02829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22:46:55   Log-Likelihood:                -286.83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-295.19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4.375e-05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0.0355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X_t           -7.8716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post_time     -0.0248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alpha          0.0116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82784 - Total serum IgA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-18103.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35252.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22:46:56   Pearson chi2:                 3.54e+04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-7.6291      0.002  -4744.365      0.000      -7.632      -7.626</a:t>
            </a:r>
          </a:p>
          <a:p>
            <a:pPr>
              <a:defRPr sz="700">
                <a:latin typeface="Consolas"/>
              </a:defRPr>
            </a:pPr>
            <a:r>
              <a:t>T              0.0053   7.33e-05     72.581      0.000       0.005       0.005</a:t>
            </a:r>
          </a:p>
          <a:p>
            <a:pPr>
              <a:defRPr sz="700">
                <a:latin typeface="Consolas"/>
              </a:defRPr>
            </a:pPr>
            <a:r>
              <a:t>X_t            0.0656      0.002     31.991      0.000       0.062       0.070</a:t>
            </a:r>
          </a:p>
          <a:p>
            <a:pPr>
              <a:defRPr sz="700">
                <a:latin typeface="Consolas"/>
              </a:defRPr>
            </a:pPr>
            <a:r>
              <a:t>post_time     -0.0001   9.15e-05     -1.198      0.231      -0.000    6.97e-05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82784 - Total serum IgA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0.05982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22:46:56   Log-Likelihood:                -744.17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-791.52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2.142e-20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-7.6338      0.030   -252.195      0.000      -7.693      -7.574</a:t>
            </a:r>
          </a:p>
          <a:p>
            <a:pPr>
              <a:defRPr sz="700">
                <a:latin typeface="Consolas"/>
              </a:defRPr>
            </a:pPr>
            <a:r>
              <a:t>T              0.0057      0.001      3.898      0.000       0.003       0.009</a:t>
            </a:r>
          </a:p>
          <a:p>
            <a:pPr>
              <a:defRPr sz="700">
                <a:latin typeface="Consolas"/>
              </a:defRPr>
            </a:pPr>
            <a:r>
              <a:t>X_t            0.0628      0.044      1.431      0.152      -0.023       0.149</a:t>
            </a:r>
          </a:p>
          <a:p>
            <a:pPr>
              <a:defRPr sz="700">
                <a:latin typeface="Consolas"/>
              </a:defRPr>
            </a:pPr>
            <a:r>
              <a:t>post_time     -0.0006      0.002     -0.329      0.742      -0.004       0.003</a:t>
            </a:r>
          </a:p>
          <a:p>
            <a:pPr>
              <a:defRPr sz="700">
                <a:latin typeface="Consolas"/>
              </a:defRPr>
            </a:pPr>
            <a:r>
              <a:t>alpha          0.0088      0.001      6.119      0.000       0.006       0.012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83516 - Deamidated gliadin peptide antibodies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-57476.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1.1402e+05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22:46:57   Pearson chi2:                 1.09e+05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-7.4780      0.002  -4974.495      0.000      -7.481      -7.475</a:t>
            </a:r>
          </a:p>
          <a:p>
            <a:pPr>
              <a:defRPr sz="700">
                <a:latin typeface="Consolas"/>
              </a:defRPr>
            </a:pPr>
            <a:r>
              <a:t>T              0.0035   6.92e-05     51.089      0.000       0.003       0.004</a:t>
            </a:r>
          </a:p>
          <a:p>
            <a:pPr>
              <a:defRPr sz="700">
                <a:latin typeface="Consolas"/>
              </a:defRPr>
            </a:pPr>
            <a:r>
              <a:t>X_t            0.0726      0.002     34.242      0.000       0.068       0.077</a:t>
            </a:r>
          </a:p>
          <a:p>
            <a:pPr>
              <a:defRPr sz="700">
                <a:latin typeface="Consolas"/>
              </a:defRPr>
            </a:pPr>
            <a:r>
              <a:t>post_time     -0.0327      0.000   -321.494      0.000      -0.033      -0.032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83516 - Deamidated gliadin peptide antibodies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0.05518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22:46:57   Log-Likelihood:                -779.51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-825.03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1.302e-19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-7.4810      0.064   -117.721      0.000      -7.606      -7.356</a:t>
            </a:r>
          </a:p>
          <a:p>
            <a:pPr>
              <a:defRPr sz="700">
                <a:latin typeface="Consolas"/>
              </a:defRPr>
            </a:pPr>
            <a:r>
              <a:t>T              0.0038      0.003      1.236      0.216      -0.002       0.010</a:t>
            </a:r>
          </a:p>
          <a:p>
            <a:pPr>
              <a:defRPr sz="700">
                <a:latin typeface="Consolas"/>
              </a:defRPr>
            </a:pPr>
            <a:r>
              <a:t>X_t           -0.0025      0.090     -0.028      0.978      -0.179       0.174</a:t>
            </a:r>
          </a:p>
          <a:p>
            <a:pPr>
              <a:defRPr sz="700">
                <a:latin typeface="Consolas"/>
              </a:defRPr>
            </a:pPr>
            <a:r>
              <a:t>post_time     -0.0287      0.004     -7.285      0.000      -0.036      -0.021</a:t>
            </a:r>
          </a:p>
          <a:p>
            <a:pPr>
              <a:defRPr sz="700">
                <a:latin typeface="Consolas"/>
              </a:defRPr>
            </a:pPr>
            <a:r>
              <a:t>alpha          0.0389      0.006      6.159      0.000       0.026       0.051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86258 - Endomysial antibody (30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30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28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-1871.5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3410.9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22:46:58   Pearson chi2:                 3.40e+03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0.8341      0.001   1617.281      0.000       0.833       0.835</a:t>
            </a:r>
          </a:p>
          <a:p>
            <a:pPr>
              <a:defRPr sz="700">
                <a:latin typeface="Consolas"/>
              </a:defRPr>
            </a:pPr>
            <a:r>
              <a:t>X_t           -0.1509   7.58e-05  -1992.141      0.000      -0.151      -0.151</a:t>
            </a:r>
          </a:p>
          <a:p>
            <a:pPr>
              <a:defRPr sz="700">
                <a:latin typeface="Consolas"/>
              </a:defRPr>
            </a:pPr>
            <a:r>
              <a:t>post_time     -0.8263      0.000  -2566.698      0.000      -0.827      -0.826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86258 - Endomysial antibody (30 months of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>
                <a:latin typeface="Consolas"/>
              </a:defRPr>
            </a:pPr>
            <a:r>
              <a:t>Negative Binomial ITS could not be fit:</a:t>
            </a:r>
          </a:p>
          <a:p>
            <a:pPr>
              <a:defRPr sz="1200">
                <a:latin typeface="Consolas"/>
              </a:defRPr>
            </a:pPr>
            <a:r>
              <a:t>Singular matrix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83993 - Fecal calprotectin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-2965.0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5143.9</a:t>
            </a:r>
          </a:p>
          <a:p>
            <a:pPr>
              <a:defRPr sz="700">
                <a:latin typeface="Consolas"/>
              </a:defRPr>
            </a:pPr>
            <a:r>
              <a:t>Time:                        22:46:59   Pearson chi2:                 5.19e+03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-10.5961      0.006  -1676.888      0.000     -10.608     -10.584</a:t>
            </a:r>
          </a:p>
          <a:p>
            <a:pPr>
              <a:defRPr sz="700">
                <a:latin typeface="Consolas"/>
              </a:defRPr>
            </a:pPr>
            <a:r>
              <a:t>T              0.0291      0.000    112.736      0.000       0.029       0.030</a:t>
            </a:r>
          </a:p>
          <a:p>
            <a:pPr>
              <a:defRPr sz="700">
                <a:latin typeface="Consolas"/>
              </a:defRPr>
            </a:pPr>
            <a:r>
              <a:t>X_t            0.0052      0.006      0.853      0.394      -0.007       0.017</a:t>
            </a:r>
          </a:p>
          <a:p>
            <a:pPr>
              <a:defRPr sz="700">
                <a:latin typeface="Consolas"/>
              </a:defRPr>
            </a:pPr>
            <a:r>
              <a:t>post_time     -0.0139      0.000    -46.822      0.000      -0.014      -0.013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83993 - Fecal calprotectin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 0.1637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22:47:00   Log-Likelihood:                -588.71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-703.96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1.077e-49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-10.6385      0.036   -296.504      0.000     -10.709     -10.568</a:t>
            </a:r>
          </a:p>
          <a:p>
            <a:pPr>
              <a:defRPr sz="700">
                <a:latin typeface="Consolas"/>
              </a:defRPr>
            </a:pPr>
            <a:r>
              <a:t>T              0.0314      0.002     18.249      0.000       0.028       0.035</a:t>
            </a:r>
          </a:p>
          <a:p>
            <a:pPr>
              <a:defRPr sz="700">
                <a:latin typeface="Consolas"/>
              </a:defRPr>
            </a:pPr>
            <a:r>
              <a:t>X_t           -0.0302      0.051     -0.588      0.557      -0.131       0.070</a:t>
            </a:r>
          </a:p>
          <a:p>
            <a:pPr>
              <a:defRPr sz="700">
                <a:latin typeface="Consolas"/>
              </a:defRPr>
            </a:pPr>
            <a:r>
              <a:t>post_time     -0.0164      0.002     -7.243      0.000      -0.021      -0.012</a:t>
            </a:r>
          </a:p>
          <a:p>
            <a:pPr>
              <a:defRPr sz="700">
                <a:latin typeface="Consolas"/>
              </a:defRPr>
            </a:pPr>
            <a:r>
              <a:t>alpha          0.0117      0.002      6.014      0.000       0.008       0.015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82274 - Fecal occult blood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-39679.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78399.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22:47:01   Pearson chi2:                 7.78e+04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-7.2738      0.001  -5152.926      0.000      -7.277      -7.271</a:t>
            </a:r>
          </a:p>
          <a:p>
            <a:pPr>
              <a:defRPr sz="700">
                <a:latin typeface="Consolas"/>
              </a:defRPr>
            </a:pPr>
            <a:r>
              <a:t>T             -0.0052   6.81e-05    -76.979      0.000      -0.005      -0.005</a:t>
            </a:r>
          </a:p>
          <a:p>
            <a:pPr>
              <a:defRPr sz="700">
                <a:latin typeface="Consolas"/>
              </a:defRPr>
            </a:pPr>
            <a:r>
              <a:t>X_t            0.0645      0.002     31.821      0.000       0.061       0.068</a:t>
            </a:r>
          </a:p>
          <a:p>
            <a:pPr>
              <a:defRPr sz="700">
                <a:latin typeface="Consolas"/>
              </a:defRPr>
            </a:pPr>
            <a:r>
              <a:t>post_time      0.0128   8.71e-05    147.350      0.000       0.013       0.013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82274 - Fecal occult blood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0.01951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22:47:01   Log-Likelihood:                -777.14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-792.60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8.801e-07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-7.2712      0.043   -168.248      0.000      -7.356      -7.186</a:t>
            </a:r>
          </a:p>
          <a:p>
            <a:pPr>
              <a:defRPr sz="700">
                <a:latin typeface="Consolas"/>
              </a:defRPr>
            </a:pPr>
            <a:r>
              <a:t>T             -0.0053      0.002     -2.572      0.010      -0.009      -0.001</a:t>
            </a:r>
          </a:p>
          <a:p>
            <a:pPr>
              <a:defRPr sz="700">
                <a:latin typeface="Consolas"/>
              </a:defRPr>
            </a:pPr>
            <a:r>
              <a:t>X_t            0.0741      0.062      1.186      0.236      -0.048       0.197</a:t>
            </a:r>
          </a:p>
          <a:p>
            <a:pPr>
              <a:defRPr sz="700">
                <a:latin typeface="Consolas"/>
              </a:defRPr>
            </a:pPr>
            <a:r>
              <a:t>post_time      0.0126      0.003      4.583      0.000       0.007       0.018</a:t>
            </a:r>
          </a:p>
          <a:p>
            <a:pPr>
              <a:defRPr sz="700">
                <a:latin typeface="Consolas"/>
              </a:defRPr>
            </a:pPr>
            <a:r>
              <a:t>alpha          0.0179      0.003      6.136      0.000       0.012       0.024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87045 - Stool culture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-9909.2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18974.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22:47:02   Pearson chi2:                 1.92e+04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-8.6038      0.003  -3096.461      0.000      -8.609      -8.598</a:t>
            </a:r>
          </a:p>
          <a:p>
            <a:pPr>
              <a:defRPr sz="700">
                <a:latin typeface="Consolas"/>
              </a:defRPr>
            </a:pPr>
            <a:r>
              <a:t>T             -0.0080      0.000    -59.128      0.000      -0.008      -0.008</a:t>
            </a:r>
          </a:p>
          <a:p>
            <a:pPr>
              <a:defRPr sz="700">
                <a:latin typeface="Consolas"/>
              </a:defRPr>
            </a:pPr>
            <a:r>
              <a:t>X_t            0.1393      0.004     33.198      0.000       0.131       0.148</a:t>
            </a:r>
          </a:p>
          <a:p>
            <a:pPr>
              <a:defRPr sz="700">
                <a:latin typeface="Consolas"/>
              </a:defRPr>
            </a:pPr>
            <a:r>
              <a:t>post_time      0.0016      0.000      8.742      0.000       0.001       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87045 - Stool culture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0.02640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22:47:02   Log-Likelihood:                -667.43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-685.52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6.825e-08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-8.5886      0.047   -181.060      0.000      -8.682      -8.496</a:t>
            </a:r>
          </a:p>
          <a:p>
            <a:pPr>
              <a:defRPr sz="700">
                <a:latin typeface="Consolas"/>
              </a:defRPr>
            </a:pPr>
            <a:r>
              <a:t>T             -0.0087      0.002     -3.775      0.000      -0.013      -0.004</a:t>
            </a:r>
          </a:p>
          <a:p>
            <a:pPr>
              <a:defRPr sz="700">
                <a:latin typeface="Consolas"/>
              </a:defRPr>
            </a:pPr>
            <a:r>
              <a:t>X_t            0.1473      0.068      2.170      0.030       0.014       0.280</a:t>
            </a:r>
          </a:p>
          <a:p>
            <a:pPr>
              <a:defRPr sz="700">
                <a:latin typeface="Consolas"/>
              </a:defRPr>
            </a:pPr>
            <a:r>
              <a:t>post_time      0.0023      0.003      0.771      0.441      -0.004       0.008</a:t>
            </a:r>
          </a:p>
          <a:p>
            <a:pPr>
              <a:defRPr sz="700">
                <a:latin typeface="Consolas"/>
              </a:defRPr>
            </a:pPr>
            <a:r>
              <a:t>alpha          0.0201      0.003      6.120      0.000       0.014       0.027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87177 - Ova and parasites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-10512.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20168.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22:47:04   Pearson chi2:                 2.05e+04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-8.6032      0.003  -3129.940      0.000      -8.609      -8.598</a:t>
            </a:r>
          </a:p>
          <a:p>
            <a:pPr>
              <a:defRPr sz="700">
                <a:latin typeface="Consolas"/>
              </a:defRPr>
            </a:pPr>
            <a:r>
              <a:t>T             -0.0056      0.000    -42.421      0.000      -0.006      -0.005</a:t>
            </a:r>
          </a:p>
          <a:p>
            <a:pPr>
              <a:defRPr sz="700">
                <a:latin typeface="Consolas"/>
              </a:defRPr>
            </a:pPr>
            <a:r>
              <a:t>X_t            0.1152      0.004     29.008      0.000       0.107       0.123</a:t>
            </a:r>
          </a:p>
          <a:p>
            <a:pPr>
              <a:defRPr sz="700">
                <a:latin typeface="Consolas"/>
              </a:defRPr>
            </a:pPr>
            <a:r>
              <a:t>post_time      0.0079      0.000     45.807      0.000       0.008       0.008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87177 - Ova and parasites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0.007258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22:47:04   Log-Likelihood:                -676.88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-681.83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0.01946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-8.5952      0.046   -186.633      0.000      -8.685      -8.505</a:t>
            </a:r>
          </a:p>
          <a:p>
            <a:pPr>
              <a:defRPr sz="700">
                <a:latin typeface="Consolas"/>
              </a:defRPr>
            </a:pPr>
            <a:r>
              <a:t>T             -0.0059      0.002     -2.635      0.008      -0.010      -0.002</a:t>
            </a:r>
          </a:p>
          <a:p>
            <a:pPr>
              <a:defRPr sz="700">
                <a:latin typeface="Consolas"/>
              </a:defRPr>
            </a:pPr>
            <a:r>
              <a:t>X_t            0.1168      0.066      1.766      0.077      -0.013       0.246</a:t>
            </a:r>
          </a:p>
          <a:p>
            <a:pPr>
              <a:defRPr sz="700">
                <a:latin typeface="Consolas"/>
              </a:defRPr>
            </a:pPr>
            <a:r>
              <a:t>post_time      0.0081      0.003      2.776      0.005       0.002       0.014</a:t>
            </a:r>
          </a:p>
          <a:p>
            <a:pPr>
              <a:defRPr sz="700">
                <a:latin typeface="Consolas"/>
              </a:defRPr>
            </a:pPr>
            <a:r>
              <a:t>alpha          0.0192      0.003      6.120      0.000       0.013       0.025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87338 - H. pylori stool antigen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-7263.3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13666.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22:47:05   Pearson chi2:                 1.38e+04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-8.8104      0.003  -3013.009      0.000      -8.816      -8.805</a:t>
            </a:r>
          </a:p>
          <a:p>
            <a:pPr>
              <a:defRPr sz="700">
                <a:latin typeface="Consolas"/>
              </a:defRPr>
            </a:pPr>
            <a:r>
              <a:t>T              0.0037      0.000     27.650      0.000       0.003       0.004</a:t>
            </a:r>
          </a:p>
          <a:p>
            <a:pPr>
              <a:defRPr sz="700">
                <a:latin typeface="Consolas"/>
              </a:defRPr>
            </a:pPr>
            <a:r>
              <a:t>X_t            0.0469      0.004     12.303      0.000       0.039       0.054</a:t>
            </a:r>
          </a:p>
          <a:p>
            <a:pPr>
              <a:defRPr sz="700">
                <a:latin typeface="Consolas"/>
              </a:defRPr>
            </a:pPr>
            <a:r>
              <a:t>post_time      0.0022      0.000     13.088      0.000       0.002       0.003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87338 - H. pylori stool antigen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0.05005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22:47:05   Log-Likelihood:                -662.11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-696.99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4.791e-15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-8.8156      0.035   -253.014      0.000      -8.884      -8.747</a:t>
            </a:r>
          </a:p>
          <a:p>
            <a:pPr>
              <a:defRPr sz="700">
                <a:latin typeface="Consolas"/>
              </a:defRPr>
            </a:pPr>
            <a:r>
              <a:t>T              0.0041      0.002      2.457      0.014       0.001       0.007</a:t>
            </a:r>
          </a:p>
          <a:p>
            <a:pPr>
              <a:defRPr sz="700">
                <a:latin typeface="Consolas"/>
              </a:defRPr>
            </a:pPr>
            <a:r>
              <a:t>X_t            0.0438      0.050      0.871      0.384      -0.055       0.142</a:t>
            </a:r>
          </a:p>
          <a:p>
            <a:pPr>
              <a:defRPr sz="700">
                <a:latin typeface="Consolas"/>
              </a:defRPr>
            </a:pPr>
            <a:r>
              <a:t>post_time      0.0016      0.002      0.710      0.478      -0.003       0.006</a:t>
            </a:r>
          </a:p>
          <a:p>
            <a:pPr>
              <a:defRPr sz="700">
                <a:latin typeface="Consolas"/>
              </a:defRPr>
            </a:pPr>
            <a:r>
              <a:t>alpha          0.0114      0.002      6.100      0.000       0.008       0.015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82653 - Pancreatic elastase (30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30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28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-458.10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630.85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22:47:06   Pearson chi2:                     633.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0.9961      0.001    864.107      0.000       0.994       0.998</a:t>
            </a:r>
          </a:p>
          <a:p>
            <a:pPr>
              <a:defRPr sz="700">
                <a:latin typeface="Consolas"/>
              </a:defRPr>
            </a:pPr>
            <a:r>
              <a:t>X_t           -0.1795      0.000  -1054.930      0.000      -0.180      -0.179</a:t>
            </a:r>
          </a:p>
          <a:p>
            <a:pPr>
              <a:defRPr sz="700">
                <a:latin typeface="Consolas"/>
              </a:defRPr>
            </a:pPr>
            <a:r>
              <a:t>post_time     -0.9784      0.001  -1345.331      0.000      -0.980      -0.977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82653 - Pancreatic elastase (30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30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28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0.08241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22:47:06   Log-Likelihood:                -203.77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-222.07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1.448e-09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0.0423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X_t          -10.6788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post_time     -0.0243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alpha          0.0095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91065 - Lactulose/glucose breath test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-1107.6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1624.1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22:47:07   Pearson chi2:                 1.63e+03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-11.9028      0.015   -804.263      0.000     -11.932     -11.874</a:t>
            </a:r>
          </a:p>
          <a:p>
            <a:pPr>
              <a:defRPr sz="700">
                <a:latin typeface="Consolas"/>
              </a:defRPr>
            </a:pPr>
            <a:r>
              <a:t>T             -0.0135      0.001    -18.018      0.000      -0.015      -0.012</a:t>
            </a:r>
          </a:p>
          <a:p>
            <a:pPr>
              <a:defRPr sz="700">
                <a:latin typeface="Consolas"/>
              </a:defRPr>
            </a:pPr>
            <a:r>
              <a:t>X_t           -0.0978      0.024     -4.077      0.000      -0.145      -0.051</a:t>
            </a:r>
          </a:p>
          <a:p>
            <a:pPr>
              <a:defRPr sz="700">
                <a:latin typeface="Consolas"/>
              </a:defRPr>
            </a:pPr>
            <a:r>
              <a:t>post_time      0.0262      0.001     26.343      0.000       0.024       0.028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91065 - Lactulose/glucose breath test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0.03233</a:t>
            </a:r>
          </a:p>
          <a:p>
            <a:pPr>
              <a:defRPr sz="700">
                <a:latin typeface="Consolas"/>
              </a:defRPr>
            </a:pPr>
            <a:r>
              <a:t>Time:                        22:47:07   Log-Likelihood:                -449.69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-464.71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1.350e-06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-11.8631      0.078   -152.919      0.000     -12.015     -11.711</a:t>
            </a:r>
          </a:p>
          <a:p>
            <a:pPr>
              <a:defRPr sz="700">
                <a:latin typeface="Consolas"/>
              </a:defRPr>
            </a:pPr>
            <a:r>
              <a:t>T             -0.0155      0.004     -4.072      0.000      -0.023      -0.008</a:t>
            </a:r>
          </a:p>
          <a:p>
            <a:pPr>
              <a:defRPr sz="700">
                <a:latin typeface="Consolas"/>
              </a:defRPr>
            </a:pPr>
            <a:r>
              <a:t>X_t           -0.0679      0.111     -0.610      0.542      -0.286       0.150</a:t>
            </a:r>
          </a:p>
          <a:p>
            <a:pPr>
              <a:defRPr sz="700">
                <a:latin typeface="Consolas"/>
              </a:defRPr>
            </a:pPr>
            <a:r>
              <a:t>post_time      0.0284      0.005      5.743      0.000       0.019       0.038</a:t>
            </a:r>
          </a:p>
          <a:p>
            <a:pPr>
              <a:defRPr sz="700">
                <a:latin typeface="Consolas"/>
              </a:defRPr>
            </a:pPr>
            <a:r>
              <a:t>alpha          0.0499      0.008      5.878      0.000       0.033       0.066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