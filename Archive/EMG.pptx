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1" r:id="rId8"/>
    <p:sldId id="256" r:id="rId9"/>
    <p:sldId id="257" r:id="rId10"/>
    <p:sldId id="259" r:id="rId11"/>
    <p:sldId id="260" r:id="rId12"/>
    <p:sldId id="268" r:id="rId13"/>
    <p:sldId id="26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95867 - Needle EMG; cranial nerve supplied muscles, unilateral (73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-448.76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676.09</a:t>
            </a:r>
          </a:p>
          <a:p>
            <a:pPr>
              <a:defRPr sz="700">
                <a:latin typeface="Consolas"/>
              </a:defRPr>
            </a:pPr>
            <a:r>
              <a:t>Time:                        21:44:55   Pearson chi2:                     533.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0.8650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-17.1455      0.148   -115.708      0.000     -17.436     -16.855</a:t>
            </a:r>
          </a:p>
          <a:p>
            <a:pPr>
              <a:defRPr sz="700">
                <a:latin typeface="Consolas"/>
              </a:defRPr>
            </a:pPr>
            <a:r>
              <a:t>T              0.0597      0.006     10.354      0.000       0.048       0.071</a:t>
            </a:r>
          </a:p>
          <a:p>
            <a:pPr>
              <a:defRPr sz="700">
                <a:latin typeface="Consolas"/>
              </a:defRPr>
            </a:pPr>
            <a:r>
              <a:t>X_t           -0.3385      0.119     -2.851      0.004      -0.571      -0.106</a:t>
            </a:r>
          </a:p>
          <a:p>
            <a:pPr>
              <a:defRPr sz="700">
                <a:latin typeface="Consolas"/>
              </a:defRPr>
            </a:pPr>
            <a:r>
              <a:t>post_time     -0.0760      0.007    -11.026      0.000      -0.089      -0.062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95867 - Needle EMG; cranial nerve supplied muscles, unilateral (73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0.01298</a:t>
            </a:r>
          </a:p>
          <a:p>
            <a:pPr>
              <a:defRPr sz="700">
                <a:latin typeface="Consolas"/>
              </a:defRPr>
            </a:pPr>
            <a:r>
              <a:t>Time:                        21:44:55   Log-Likelihood:                -243.16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-246.36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0.09378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-17.0256      0.472    -36.099      0.000     -17.950     -16.101</a:t>
            </a:r>
          </a:p>
          <a:p>
            <a:pPr>
              <a:defRPr sz="700">
                <a:latin typeface="Consolas"/>
              </a:defRPr>
            </a:pPr>
            <a:r>
              <a:t>T              0.0536      0.023      2.325      0.020       0.008       0.099</a:t>
            </a:r>
          </a:p>
          <a:p>
            <a:pPr>
              <a:defRPr sz="700">
                <a:latin typeface="Consolas"/>
              </a:defRPr>
            </a:pPr>
            <a:r>
              <a:t>X_t           -0.2035      0.680     -0.299      0.765      -1.537       1.130</a:t>
            </a:r>
          </a:p>
          <a:p>
            <a:pPr>
              <a:defRPr sz="700">
                <a:latin typeface="Consolas"/>
              </a:defRPr>
            </a:pPr>
            <a:r>
              <a:t>post_time     -0.0724      0.031     -2.333      0.020      -0.133      -0.012</a:t>
            </a:r>
          </a:p>
          <a:p>
            <a:pPr>
              <a:defRPr sz="700">
                <a:latin typeface="Consolas"/>
              </a:defRPr>
            </a:pPr>
            <a:r>
              <a:t>alpha          1.9693      0.416      4.733      0.000       1.154       2.785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95868 - Needle EMG; cranial nerve supplied muscles, bilateral (69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65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-610.32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1077.5</a:t>
            </a:r>
          </a:p>
          <a:p>
            <a:pPr>
              <a:defRPr sz="700">
                <a:latin typeface="Consolas"/>
              </a:defRPr>
            </a:pPr>
            <a:r>
              <a:t>Time:                        21:44:56   Pearson chi2:                 1.08e+03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0.9658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-15.8087      0.126   -125.016      0.000     -16.057     -15.561</a:t>
            </a:r>
          </a:p>
          <a:p>
            <a:pPr>
              <a:defRPr sz="700">
                <a:latin typeface="Consolas"/>
              </a:defRPr>
            </a:pPr>
            <a:r>
              <a:t>T             -0.0489      0.009     -5.462      0.000      -0.066      -0.031</a:t>
            </a:r>
          </a:p>
          <a:p>
            <a:pPr>
              <a:defRPr sz="700">
                <a:latin typeface="Consolas"/>
              </a:defRPr>
            </a:pPr>
            <a:r>
              <a:t>X_t            2.3816      0.209     11.379      0.000       1.971       2.792</a:t>
            </a:r>
          </a:p>
          <a:p>
            <a:pPr>
              <a:defRPr sz="700">
                <a:latin typeface="Consolas"/>
              </a:defRPr>
            </a:pPr>
            <a:r>
              <a:t>post_time      0.0040      0.010      0.405      0.685      -0.015       0.023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95868 - Needle EMG; cranial nerve supplied muscles, bilateral (69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69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65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0.01315</a:t>
            </a:r>
          </a:p>
          <a:p>
            <a:pPr>
              <a:defRPr sz="700">
                <a:latin typeface="Consolas"/>
              </a:defRPr>
            </a:pPr>
            <a:r>
              <a:t>Time:                        21:44:56   Log-Likelihood:                -180.53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-182.94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0.1861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-16.0624      0.704    -22.812      0.000     -17.442     -14.682</a:t>
            </a:r>
          </a:p>
          <a:p>
            <a:pPr>
              <a:defRPr sz="700">
                <a:latin typeface="Consolas"/>
              </a:defRPr>
            </a:pPr>
            <a:r>
              <a:t>T             -0.0312      0.036     -0.854      0.393      -0.103       0.040</a:t>
            </a:r>
          </a:p>
          <a:p>
            <a:pPr>
              <a:defRPr sz="700">
                <a:latin typeface="Consolas"/>
              </a:defRPr>
            </a:pPr>
            <a:r>
              <a:t>X_t            2.6508      1.240      2.138      0.033       0.220       5.081</a:t>
            </a:r>
          </a:p>
          <a:p>
            <a:pPr>
              <a:defRPr sz="700">
                <a:latin typeface="Consolas"/>
              </a:defRPr>
            </a:pPr>
            <a:r>
              <a:t>post_time     -0.0466      0.058     -0.806      0.420      -0.160       0.067</a:t>
            </a:r>
          </a:p>
          <a:p>
            <a:pPr>
              <a:defRPr sz="700">
                <a:latin typeface="Consolas"/>
              </a:defRPr>
            </a:pPr>
            <a:r>
              <a:t>alpha          5.7426      1.337      4.295      0.000       3.122       8.363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HCPCS 95869 - Needle EMG; thoracic paraspinal muscles (12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12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10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-35.485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61.933</a:t>
            </a:r>
          </a:p>
          <a:p>
            <a:pPr>
              <a:defRPr sz="700">
                <a:latin typeface="Consolas"/>
              </a:defRPr>
            </a:pPr>
            <a:r>
              <a:t>Time:                        21:46:36   Pearson chi2:                     81.8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6   Pseudo R-squ. (CS):             0.9628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 0.1034      0.098      1.058      0.290      -0.088       0.295</a:t>
            </a:r>
          </a:p>
          <a:p>
            <a:pPr>
              <a:defRPr sz="700">
                <a:latin typeface="Consolas"/>
              </a:defRPr>
            </a:pPr>
            <a:r>
              <a:t>X_t           -0.0226      0.004     -6.333      0.000      -0.030      -0.016</a:t>
            </a:r>
          </a:p>
          <a:p>
            <a:pPr>
              <a:defRPr sz="700">
                <a:latin typeface="Consolas"/>
              </a:defRPr>
            </a:pPr>
            <a:r>
              <a:t>post_time     -0.5517      0.008    -67.239      0.000      -0.568      -0.536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HCPCS 95869 - Needle EMG; thoracic paraspinal muscles (12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12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10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 0.1117</a:t>
            </a:r>
          </a:p>
          <a:p>
            <a:pPr>
              <a:defRPr sz="700">
                <a:latin typeface="Consolas"/>
              </a:defRPr>
            </a:pPr>
            <a:r>
              <a:t>Time:                        21:46:37   Log-Likelihood:                -12.361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-13.916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0.07785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T             -1.1689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X_t          -17.4489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post_time      0.1097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alpha          8.4992        nan        nan        nan         nan         nan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16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Aggregate EMG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-1453.1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2326.8</a:t>
            </a:r>
          </a:p>
          <a:p>
            <a:pPr>
              <a:defRPr sz="700">
                <a:latin typeface="Consolas"/>
              </a:defRPr>
            </a:pPr>
            <a:r>
              <a:t>Time:                        21:42:41   Pearson chi2:                 2.35e+03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-12.5833      0.019   -662.499      0.000     -12.621     -12.546</a:t>
            </a:r>
          </a:p>
          <a:p>
            <a:pPr>
              <a:defRPr sz="700">
                <a:latin typeface="Consolas"/>
              </a:defRPr>
            </a:pPr>
            <a:r>
              <a:t>T              0.0071      0.001      8.226      0.000       0.005       0.009</a:t>
            </a:r>
          </a:p>
          <a:p>
            <a:pPr>
              <a:defRPr sz="700">
                <a:latin typeface="Consolas"/>
              </a:defRPr>
            </a:pPr>
            <a:r>
              <a:t>X_t           -0.1818      0.025     -7.414      0.000      -0.230      -0.134</a:t>
            </a:r>
          </a:p>
          <a:p>
            <a:pPr>
              <a:defRPr sz="700">
                <a:latin typeface="Consolas"/>
              </a:defRPr>
            </a:pPr>
            <a:r>
              <a:t>post_time      0.0067      0.001      6.177      0.000       0.005       0.009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95860, 95861, 95864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Aggregate EMG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0.02370</a:t>
            </a:r>
          </a:p>
          <a:p>
            <a:pPr>
              <a:defRPr sz="700">
                <a:latin typeface="Consolas"/>
              </a:defRPr>
            </a:pPr>
            <a:r>
              <a:t>Time:                        21:42:41   Log-Likelihood:                -457.36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-468.46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5.910e-05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-12.5724      0.091   -138.331      0.000     -12.750     -12.394</a:t>
            </a:r>
          </a:p>
          <a:p>
            <a:pPr>
              <a:defRPr sz="700">
                <a:latin typeface="Consolas"/>
              </a:defRPr>
            </a:pPr>
            <a:r>
              <a:t>T              0.0063      0.004      1.472      0.141      -0.002       0.015</a:t>
            </a:r>
          </a:p>
          <a:p>
            <a:pPr>
              <a:defRPr sz="700">
                <a:latin typeface="Consolas"/>
              </a:defRPr>
            </a:pPr>
            <a:r>
              <a:t>X_t           -0.1143      0.131     -0.870      0.384      -0.372       0.143</a:t>
            </a:r>
          </a:p>
          <a:p>
            <a:pPr>
              <a:defRPr sz="700">
                <a:latin typeface="Consolas"/>
              </a:defRPr>
            </a:pPr>
            <a:r>
              <a:t>post_time      0.0054      0.006      0.956      0.339      -0.006       0.017</a:t>
            </a:r>
          </a:p>
          <a:p>
            <a:pPr>
              <a:defRPr sz="700">
                <a:latin typeface="Consolas"/>
              </a:defRPr>
            </a:pPr>
            <a:r>
              <a:t>alpha          0.0836      0.014      5.987      0.000       0.056       0.111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95860, 95861, 95864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Aggregate EMG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-673.91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1074.4</a:t>
            </a:r>
          </a:p>
          <a:p>
            <a:pPr>
              <a:defRPr sz="700">
                <a:latin typeface="Consolas"/>
              </a:defRPr>
            </a:pPr>
            <a:r>
              <a:t>Time:                        21:44:13   Pearson chi2:                     950.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0.9685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-16.0983      0.101   -158.741      0.000     -16.297     -15.900</a:t>
            </a:r>
          </a:p>
          <a:p>
            <a:pPr>
              <a:defRPr sz="700">
                <a:latin typeface="Consolas"/>
              </a:defRPr>
            </a:pPr>
            <a:r>
              <a:t>T              0.0314      0.004      7.229      0.000       0.023       0.040</a:t>
            </a:r>
          </a:p>
          <a:p>
            <a:pPr>
              <a:defRPr sz="700">
                <a:latin typeface="Consolas"/>
              </a:defRPr>
            </a:pPr>
            <a:r>
              <a:t>X_t            0.5233      0.095      5.518      0.000       0.337       0.709</a:t>
            </a:r>
          </a:p>
          <a:p>
            <a:pPr>
              <a:defRPr sz="700">
                <a:latin typeface="Consolas"/>
              </a:defRPr>
            </a:pPr>
            <a:r>
              <a:t>post_time     -0.0614      0.005    -11.937      0.000      -0.071      -0.051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95867, 95868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Aggregate EMG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 0.01312</a:t>
            </a:r>
          </a:p>
          <a:p>
            <a:pPr>
              <a:defRPr sz="700">
                <a:latin typeface="Consolas"/>
              </a:defRPr>
            </a:pPr>
            <a:r>
              <a:t>Time:                        21:44:13   Log-Likelihood:                -287.09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-290.91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0.05429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-16.0056      0.404    -39.577      0.000     -16.798     -15.213</a:t>
            </a:r>
          </a:p>
          <a:p>
            <a:pPr>
              <a:defRPr sz="700">
                <a:latin typeface="Consolas"/>
              </a:defRPr>
            </a:pPr>
            <a:r>
              <a:t>T              0.0260      0.020      1.311      0.190      -0.013       0.065</a:t>
            </a:r>
          </a:p>
          <a:p>
            <a:pPr>
              <a:defRPr sz="700">
                <a:latin typeface="Consolas"/>
              </a:defRPr>
            </a:pPr>
            <a:r>
              <a:t>X_t            0.7797      0.621      1.256      0.209      -0.437       1.996</a:t>
            </a:r>
          </a:p>
          <a:p>
            <a:pPr>
              <a:defRPr sz="700">
                <a:latin typeface="Consolas"/>
              </a:defRPr>
            </a:pPr>
            <a:r>
              <a:t>post_time     -0.0651      0.028     -2.308      0.021      -0.120      -0.010</a:t>
            </a:r>
          </a:p>
          <a:p>
            <a:pPr>
              <a:defRPr sz="700">
                <a:latin typeface="Consolas"/>
              </a:defRPr>
            </a:pPr>
            <a:r>
              <a:t>alpha          1.5736      0.306      5.149      0.000       0.975       2.173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95867, 95868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Aggregate EMG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-24624.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Deviance:                       48320.</a:t>
            </a:r>
          </a:p>
          <a:p>
            <a:pPr>
              <a:defRPr sz="700">
                <a:latin typeface="Consolas"/>
              </a:defRPr>
            </a:pPr>
            <a:r>
              <a:t>Time:                        21:48:07   Pearson chi2:                 4.79e+04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-7.8128      0.002  -4356.798      0.000      -7.816      -7.809</a:t>
            </a:r>
          </a:p>
          <a:p>
            <a:pPr>
              <a:defRPr sz="700">
                <a:latin typeface="Consolas"/>
              </a:defRPr>
            </a:pPr>
            <a:r>
              <a:t>T              0.0015   8.34e-05     18.556      0.000       0.001       0.002</a:t>
            </a:r>
          </a:p>
          <a:p>
            <a:pPr>
              <a:defRPr sz="700">
                <a:latin typeface="Consolas"/>
              </a:defRPr>
            </a:pPr>
            <a:r>
              <a:t>X_t            0.0508      0.002     20.953      0.000       0.046       0.055</a:t>
            </a:r>
          </a:p>
          <a:p>
            <a:pPr>
              <a:defRPr sz="700">
                <a:latin typeface="Consolas"/>
              </a:defRPr>
            </a:pPr>
            <a:r>
              <a:t>post_time     -0.0005      0.000     -4.920      0.000      -0.001      -0.000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95885, 95886, 95887, 95907, 95908, 95909, 95910, 95911, 95912, 95913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Aggregate EMG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Thu, 07 May 2026   Pseudo R-squ.:                0.007508</a:t>
            </a:r>
          </a:p>
          <a:p>
            <a:pPr>
              <a:defRPr sz="700">
                <a:latin typeface="Consolas"/>
              </a:defRPr>
            </a:pPr>
            <a:r>
              <a:t>Time:                        21:48:07   Log-Likelihood:                -743.57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-749.20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0.01045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-7.8138      0.042   -186.264      0.000      -7.896      -7.732</a:t>
            </a:r>
          </a:p>
          <a:p>
            <a:pPr>
              <a:defRPr sz="700">
                <a:latin typeface="Consolas"/>
              </a:defRPr>
            </a:pPr>
            <a:r>
              <a:t>T              0.0016      0.002      0.807      0.419      -0.002       0.006</a:t>
            </a:r>
          </a:p>
          <a:p>
            <a:pPr>
              <a:defRPr sz="700">
                <a:latin typeface="Consolas"/>
              </a:defRPr>
            </a:pPr>
            <a:r>
              <a:t>X_t            0.0540      0.061      0.885      0.376      -0.066       0.174</a:t>
            </a:r>
          </a:p>
          <a:p>
            <a:pPr>
              <a:defRPr sz="700">
                <a:latin typeface="Consolas"/>
              </a:defRPr>
            </a:pPr>
            <a:r>
              <a:t>post_time     -0.0008      0.003     -0.290      0.772      -0.006       0.004</a:t>
            </a:r>
          </a:p>
          <a:p>
            <a:pPr>
              <a:defRPr sz="700">
                <a:latin typeface="Consolas"/>
              </a:defRPr>
            </a:pPr>
            <a:r>
              <a:t>alpha          0.0173      0.003      6.131      0.000       0.012       0.023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95885, 95886, 95887, 95907, 95908, 95909, 95910, 95911, 95912, 95913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EB75B-210F-233D-F7B0-182456C53AEB}"/>
              </a:ext>
            </a:extLst>
          </p:cNvPr>
          <p:cNvSpPr txBox="1"/>
          <p:nvPr/>
        </p:nvSpPr>
        <p:spPr>
          <a:xfrm>
            <a:off x="1070811" y="1082842"/>
            <a:ext cx="7435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Codes not found:</a:t>
            </a:r>
          </a:p>
          <a:p>
            <a:endParaRPr lang="en-CA" dirty="0"/>
          </a:p>
          <a:p>
            <a:r>
              <a:rPr lang="en-CA" dirty="0"/>
              <a:t>95863</a:t>
            </a:r>
          </a:p>
        </p:txBody>
      </p:sp>
    </p:spTree>
    <p:extLst>
      <p:ext uri="{BB962C8B-B14F-4D97-AF65-F5344CB8AC3E}">
        <p14:creationId xmlns:p14="http://schemas.microsoft.com/office/powerpoint/2010/main" val="661378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1882</Words>
  <Application>Microsoft Office PowerPoint</Application>
  <PresentationFormat>Widescreen</PresentationFormat>
  <Paragraphs>241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</dc:creator>
  <cp:keywords/>
  <dc:description>generated using python-pptx</dc:description>
  <cp:lastModifiedBy>David Izrailov</cp:lastModifiedBy>
  <cp:revision>3</cp:revision>
  <dcterms:created xsi:type="dcterms:W3CDTF">2013-01-27T09:14:16Z</dcterms:created>
  <dcterms:modified xsi:type="dcterms:W3CDTF">2026-05-08T01:49:53Z</dcterms:modified>
  <cp:category/>
</cp:coreProperties>
</file>