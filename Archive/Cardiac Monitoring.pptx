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0" d="100"/>
          <a:sy n="110" d="100"/>
        </p:scale>
        <p:origin x="552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Poisson ITS (per 100,000 enrollees): Custom Aggregate Cardiac Monitoring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73</a:t>
            </a:r>
          </a:p>
          <a:p>
            <a:pPr>
              <a:defRPr sz="700">
                <a:latin typeface="Consolas"/>
              </a:defRPr>
            </a:pPr>
            <a:r>
              <a:t>Model:                            GLM   Df Residuals:                       69</a:t>
            </a:r>
          </a:p>
          <a:p>
            <a:pPr>
              <a:defRPr sz="7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700">
                <a:latin typeface="Consolas"/>
              </a:defRPr>
            </a:pPr>
            <a:r>
              <a:t>Method:                          IRLS   Log-Likelihood:                -1016.9</a:t>
            </a:r>
          </a:p>
          <a:p>
            <a:pPr>
              <a:defRPr sz="700">
                <a:latin typeface="Consolas"/>
              </a:defRPr>
            </a:pPr>
            <a:r>
              <a:t>Date:                Sun, 17 May 2026   Deviance:                       1601.9</a:t>
            </a:r>
          </a:p>
          <a:p>
            <a:pPr>
              <a:defRPr sz="700">
                <a:latin typeface="Consolas"/>
              </a:defRPr>
            </a:pPr>
            <a:r>
              <a:t>Time:                        22:52:17   Pearson chi2:                 1.70e+03</a:t>
            </a:r>
          </a:p>
          <a:p>
            <a:pPr>
              <a:defRPr sz="700">
                <a:latin typeface="Consolas"/>
              </a:defRPr>
            </a:pPr>
            <a:r>
              <a:t>No. Iterations:                     5   Pseudo R-squ. (CS):              1.000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-14.0178      0.045   -310.654      0.000     -14.106     -13.929</a:t>
            </a:r>
          </a:p>
          <a:p>
            <a:pPr>
              <a:defRPr sz="700">
                <a:latin typeface="Consolas"/>
              </a:defRPr>
            </a:pPr>
            <a:r>
              <a:t>T             -0.0221      0.003     -8.793      0.000      -0.027      -0.017</a:t>
            </a:r>
          </a:p>
          <a:p>
            <a:pPr>
              <a:defRPr sz="700">
                <a:latin typeface="Consolas"/>
              </a:defRPr>
            </a:pPr>
            <a:r>
              <a:t>X_t           -0.0145      0.067     -0.217      0.828      -0.146       0.117</a:t>
            </a:r>
          </a:p>
          <a:p>
            <a:pPr>
              <a:defRPr sz="700">
                <a:latin typeface="Consolas"/>
              </a:defRPr>
            </a:pPr>
            <a:r>
              <a:t>post_time      0.0953      0.003     34.558      0.000       0.090       0.101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7400" y="6118000"/>
            <a:ext cx="4376198" cy="5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00">
                <a:latin typeface="Aptos"/>
              </a:defRPr>
            </a:pPr>
            <a:r>
              <a:t>Codes in aggregation: 0295T, 93241, 93245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Negative Binomial ITS (per 100,000 enrollees): Custom Aggregate Cardiac Monitoring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73</a:t>
            </a:r>
          </a:p>
          <a:p>
            <a:pPr>
              <a:defRPr sz="700">
                <a:latin typeface="Consolas"/>
              </a:defRPr>
            </a:pPr>
            <a:r>
              <a:t>Model:               NegativeBinomial   Df Residuals:                       69</a:t>
            </a:r>
          </a:p>
          <a:p>
            <a:pPr>
              <a:defRPr sz="7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Date:                Sun, 17 May 2026   Pseudo R-squ.:                 0.08133</a:t>
            </a:r>
          </a:p>
          <a:p>
            <a:pPr>
              <a:defRPr sz="700">
                <a:latin typeface="Consolas"/>
              </a:defRPr>
            </a:pPr>
            <a:r>
              <a:t>Time:                        22:52:17   Log-Likelihood:                -393.39</a:t>
            </a:r>
          </a:p>
          <a:p>
            <a:pPr>
              <a:defRPr sz="700">
                <a:latin typeface="Consolas"/>
              </a:defRPr>
            </a:pPr>
            <a:r>
              <a:t>converged:                       True   LL-Null:                       -428.22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LLR p-value:                 5.068e-15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-13.8615      0.266    -52.169      0.000     -14.382     -13.341</a:t>
            </a:r>
          </a:p>
          <a:p>
            <a:pPr>
              <a:defRPr sz="700">
                <a:latin typeface="Consolas"/>
              </a:defRPr>
            </a:pPr>
            <a:r>
              <a:t>T             -0.0316      0.014     -2.258      0.024      -0.059      -0.004</a:t>
            </a:r>
          </a:p>
          <a:p>
            <a:pPr>
              <a:defRPr sz="700">
                <a:latin typeface="Consolas"/>
              </a:defRPr>
            </a:pPr>
            <a:r>
              <a:t>X_t            0.1959      0.366      0.535      0.592      -0.521       0.913</a:t>
            </a:r>
          </a:p>
          <a:p>
            <a:pPr>
              <a:defRPr sz="700">
                <a:latin typeface="Consolas"/>
              </a:defRPr>
            </a:pPr>
            <a:r>
              <a:t>post_time      0.1033      0.017      6.086      0.000       0.070       0.137</a:t>
            </a:r>
          </a:p>
          <a:p>
            <a:pPr>
              <a:defRPr sz="700">
                <a:latin typeface="Consolas"/>
              </a:defRPr>
            </a:pPr>
            <a:r>
              <a:t>alpha          0.5044      0.090      5.582      0.000       0.327       0.681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7400" y="6118000"/>
            <a:ext cx="4376198" cy="5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00">
                <a:latin typeface="Aptos"/>
              </a:defRPr>
            </a:pPr>
            <a:r>
              <a:t>Codes in aggregation: 0295T, 93241, 93245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Poisson ITS (per 100,000 enrollees): Custom Aggregate Cardiac Monitoring 2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             GLM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700">
                <a:latin typeface="Consolas"/>
              </a:defRPr>
            </a:pPr>
            <a:r>
              <a:t>Method:                          IRLS   Log-Likelihood:                -2995.0</a:t>
            </a:r>
          </a:p>
          <a:p>
            <a:pPr>
              <a:defRPr sz="700">
                <a:latin typeface="Consolas"/>
              </a:defRPr>
            </a:pPr>
            <a:r>
              <a:t>Date:                Sun, 17 May 2026   Deviance:                       5255.9</a:t>
            </a:r>
          </a:p>
          <a:p>
            <a:pPr>
              <a:defRPr sz="700">
                <a:latin typeface="Consolas"/>
              </a:defRPr>
            </a:pPr>
            <a:r>
              <a:t>Time:                        22:53:31   Pearson chi2:                 4.95e+03</a:t>
            </a:r>
          </a:p>
          <a:p>
            <a:pPr>
              <a:defRPr sz="700">
                <a:latin typeface="Consolas"/>
              </a:defRPr>
            </a:pPr>
            <a:r>
              <a:t>No. Iterations:                     5   Pseudo R-squ. (CS):              1.000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-11.3429      0.009  -1288.092      0.000     -11.360     -11.326</a:t>
            </a:r>
          </a:p>
          <a:p>
            <a:pPr>
              <a:defRPr sz="700">
                <a:latin typeface="Consolas"/>
              </a:defRPr>
            </a:pPr>
            <a:r>
              <a:t>T              0.0371      0.000    106.496      0.000       0.036       0.038</a:t>
            </a:r>
          </a:p>
          <a:p>
            <a:pPr>
              <a:defRPr sz="700">
                <a:latin typeface="Consolas"/>
              </a:defRPr>
            </a:pPr>
            <a:r>
              <a:t>X_t           -0.4838      0.008    -58.051      0.000      -0.500      -0.468</a:t>
            </a:r>
          </a:p>
          <a:p>
            <a:pPr>
              <a:defRPr sz="700">
                <a:latin typeface="Consolas"/>
              </a:defRPr>
            </a:pPr>
            <a:r>
              <a:t>post_time     -0.0126      0.000    -30.854      0.000      -0.013      -0.012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7400" y="6118000"/>
            <a:ext cx="4376198" cy="5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00">
                <a:latin typeface="Aptos"/>
              </a:defRPr>
            </a:pPr>
            <a:r>
              <a:t>Codes in aggregation: 0295T, 0297T, 93241, 93243, 93245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Negative Binomial ITS (per 100,000 enrollees): Custom Aggregate Cardiac Monitoring 2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NegativeBinomial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Date:                Sun, 17 May 2026   Pseudo R-squ.:                  0.1382</a:t>
            </a:r>
          </a:p>
          <a:p>
            <a:pPr>
              <a:defRPr sz="700">
                <a:latin typeface="Consolas"/>
              </a:defRPr>
            </a:pPr>
            <a:r>
              <a:t>Time:                        22:53:31   Log-Likelihood:                -564.97</a:t>
            </a:r>
          </a:p>
          <a:p>
            <a:pPr>
              <a:defRPr sz="700">
                <a:latin typeface="Consolas"/>
              </a:defRPr>
            </a:pPr>
            <a:r>
              <a:t>converged:                      False   LL-Null:                       -655.60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LLR p-value:                 4.698e-39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-11.4478      0.053   -215.171      0.000     -11.552     -11.344</a:t>
            </a:r>
          </a:p>
          <a:p>
            <a:pPr>
              <a:defRPr sz="700">
                <a:latin typeface="Consolas"/>
              </a:defRPr>
            </a:pPr>
            <a:r>
              <a:t>T              0.0425      0.003     16.552      0.000       0.037       0.047</a:t>
            </a:r>
          </a:p>
          <a:p>
            <a:pPr>
              <a:defRPr sz="700">
                <a:latin typeface="Consolas"/>
              </a:defRPr>
            </a:pPr>
            <a:r>
              <a:t>X_t           -0.5896      0.076     -7.759      0.000      -0.739      -0.441</a:t>
            </a:r>
          </a:p>
          <a:p>
            <a:pPr>
              <a:defRPr sz="700">
                <a:latin typeface="Consolas"/>
              </a:defRPr>
            </a:pPr>
            <a:r>
              <a:t>post_time     -0.0174      0.003     -5.175      0.000      -0.024      -0.011</a:t>
            </a:r>
          </a:p>
          <a:p>
            <a:pPr>
              <a:defRPr sz="700">
                <a:latin typeface="Consolas"/>
              </a:defRPr>
            </a:pPr>
            <a:r>
              <a:t>alpha          0.0248      0.004      6.035      0.000       0.017       0.033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7400" y="6118000"/>
            <a:ext cx="4376198" cy="5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00">
                <a:latin typeface="Aptos"/>
              </a:defRPr>
            </a:pPr>
            <a:r>
              <a:t>Codes in aggregation: 0295T, 0297T, 93241, 93243, 93245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Poisson ITS (per 100,000 enrollees): Custom Aggregate Cardiac Monitoring 3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             GLM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700">
                <a:latin typeface="Consolas"/>
              </a:defRPr>
            </a:pPr>
            <a:r>
              <a:t>Method:                          IRLS   Log-Likelihood:                -3450.4</a:t>
            </a:r>
          </a:p>
          <a:p>
            <a:pPr>
              <a:defRPr sz="700">
                <a:latin typeface="Consolas"/>
              </a:defRPr>
            </a:pPr>
            <a:r>
              <a:t>Date:                Sun, 17 May 2026   Deviance:                       6145.0</a:t>
            </a:r>
          </a:p>
          <a:p>
            <a:pPr>
              <a:defRPr sz="700">
                <a:latin typeface="Consolas"/>
              </a:defRPr>
            </a:pPr>
            <a:r>
              <a:t>Time:                        22:54:24   Pearson chi2:                 6.20e+03</a:t>
            </a:r>
          </a:p>
          <a:p>
            <a:pPr>
              <a:defRPr sz="700">
                <a:latin typeface="Consolas"/>
              </a:defRPr>
            </a:pPr>
            <a:r>
              <a:t>No. Iterations:                     4   Pseudo R-squ. (CS):              1.000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 -9.9922      0.005  -1830.531      0.000     -10.003      -9.982</a:t>
            </a:r>
          </a:p>
          <a:p>
            <a:pPr>
              <a:defRPr sz="700">
                <a:latin typeface="Consolas"/>
              </a:defRPr>
            </a:pPr>
            <a:r>
              <a:t>T             -0.0037      0.000    -14.223      0.000      -0.004      -0.003</a:t>
            </a:r>
          </a:p>
          <a:p>
            <a:pPr>
              <a:defRPr sz="700">
                <a:latin typeface="Consolas"/>
              </a:defRPr>
            </a:pPr>
            <a:r>
              <a:t>X_t            0.0289      0.008      3.714      0.000       0.014       0.044</a:t>
            </a:r>
          </a:p>
          <a:p>
            <a:pPr>
              <a:defRPr sz="700">
                <a:latin typeface="Consolas"/>
              </a:defRPr>
            </a:pPr>
            <a:r>
              <a:t>post_time      0.0100      0.000     29.759      0.000       0.009       0.011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7400" y="6118000"/>
            <a:ext cx="4376198" cy="5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00">
                <a:latin typeface="Aptos"/>
              </a:defRPr>
            </a:pPr>
            <a:r>
              <a:t>Codes in aggregation: 0295T, 93224, 93241, 93245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Negative Binomial ITS (per 100,000 enrollees): Custom Aggregate Cardiac Monitoring 3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NegativeBinomial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Date:                Sun, 17 May 2026   Pseudo R-squ.:                 0.01388</a:t>
            </a:r>
          </a:p>
          <a:p>
            <a:pPr>
              <a:defRPr sz="700">
                <a:latin typeface="Consolas"/>
              </a:defRPr>
            </a:pPr>
            <a:r>
              <a:t>Time:                        22:54:24   Log-Likelihood:                -581.52</a:t>
            </a:r>
          </a:p>
          <a:p>
            <a:pPr>
              <a:defRPr sz="700">
                <a:latin typeface="Consolas"/>
              </a:defRPr>
            </a:pPr>
            <a:r>
              <a:t>converged:                       True   LL-Null:                       -589.71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LLR p-value:                 0.0009533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 -9.9895      0.048   -207.152      0.000     -10.084      -9.895</a:t>
            </a:r>
          </a:p>
          <a:p>
            <a:pPr>
              <a:defRPr sz="700">
                <a:latin typeface="Consolas"/>
              </a:defRPr>
            </a:pPr>
            <a:r>
              <a:t>T             -0.0038      0.002     -1.634      0.102      -0.008       0.001</a:t>
            </a:r>
          </a:p>
          <a:p>
            <a:pPr>
              <a:defRPr sz="700">
                <a:latin typeface="Consolas"/>
              </a:defRPr>
            </a:pPr>
            <a:r>
              <a:t>X_t            0.0397      0.069      0.573      0.567      -0.096       0.176</a:t>
            </a:r>
          </a:p>
          <a:p>
            <a:pPr>
              <a:defRPr sz="700">
                <a:latin typeface="Consolas"/>
              </a:defRPr>
            </a:pPr>
            <a:r>
              <a:t>post_time      0.0097      0.003      3.177      0.001       0.004       0.016</a:t>
            </a:r>
          </a:p>
          <a:p>
            <a:pPr>
              <a:defRPr sz="700">
                <a:latin typeface="Consolas"/>
              </a:defRPr>
            </a:pPr>
            <a:r>
              <a:t>alpha          0.0217      0.004      6.069      0.000       0.015       0.029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7400" y="6118000"/>
            <a:ext cx="4376198" cy="5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00">
                <a:latin typeface="Aptos"/>
              </a:defRPr>
            </a:pPr>
            <a:r>
              <a:t>Codes in aggregation: 0295T, 93224, 93241, 93245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Poisson ITS (per 100,000 enrollees): Custom Aggregate Cardiac Monitoring 4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             GLM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700">
                <a:latin typeface="Consolas"/>
              </a:defRPr>
            </a:pPr>
            <a:r>
              <a:t>Method:                          IRLS   Log-Likelihood:                -6193.4</a:t>
            </a:r>
          </a:p>
          <a:p>
            <a:pPr>
              <a:defRPr sz="700">
                <a:latin typeface="Consolas"/>
              </a:defRPr>
            </a:pPr>
            <a:r>
              <a:t>Date:                Sun, 17 May 2026   Deviance:                       11547.</a:t>
            </a:r>
          </a:p>
          <a:p>
            <a:pPr>
              <a:defRPr sz="700">
                <a:latin typeface="Consolas"/>
              </a:defRPr>
            </a:pPr>
            <a:r>
              <a:t>Time:                        22:55:11   Pearson chi2:                 1.15e+04</a:t>
            </a:r>
          </a:p>
          <a:p>
            <a:pPr>
              <a:defRPr sz="700">
                <a:latin typeface="Consolas"/>
              </a:defRPr>
            </a:pPr>
            <a:r>
              <a:t>No. Iterations:                     4   Pseudo R-squ. (CS):              1.000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 -9.0893      0.003  -2755.460      0.000      -9.096      -9.083</a:t>
            </a:r>
          </a:p>
          <a:p>
            <a:pPr>
              <a:defRPr sz="700">
                <a:latin typeface="Consolas"/>
              </a:defRPr>
            </a:pPr>
            <a:r>
              <a:t>T              0.0078      0.000     52.759      0.000       0.008       0.008</a:t>
            </a:r>
          </a:p>
          <a:p>
            <a:pPr>
              <a:defRPr sz="700">
                <a:latin typeface="Consolas"/>
              </a:defRPr>
            </a:pPr>
            <a:r>
              <a:t>X_t           -0.1385      0.004    -32.352      0.000      -0.147      -0.130</a:t>
            </a:r>
          </a:p>
          <a:p>
            <a:pPr>
              <a:defRPr sz="700">
                <a:latin typeface="Consolas"/>
              </a:defRPr>
            </a:pPr>
            <a:r>
              <a:t>post_time     -0.0035      0.000    -18.063      0.000      -0.004      -0.003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7400" y="6118000"/>
            <a:ext cx="4376198" cy="5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00">
                <a:latin typeface="Aptos"/>
              </a:defRPr>
            </a:pPr>
            <a:r>
              <a:t>Codes in aggregation: 93224, 93226, 0295T, 0297T, 93241, 93243, 93245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Normalized Negative Binomial ITS (per 100,000 enrollees): Custom Aggregate Cardiac Monitoring 4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NegativeBinomial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Date:                Sun, 17 May 2026   Pseudo R-squ.:                 0.02523</a:t>
            </a:r>
          </a:p>
          <a:p>
            <a:pPr>
              <a:defRPr sz="700">
                <a:latin typeface="Consolas"/>
              </a:defRPr>
            </a:pPr>
            <a:r>
              <a:t>Time:                        22:55:11   Log-Likelihood:                -646.92</a:t>
            </a:r>
          </a:p>
          <a:p>
            <a:pPr>
              <a:defRPr sz="700">
                <a:latin typeface="Consolas"/>
              </a:defRPr>
            </a:pPr>
            <a:r>
              <a:t>converged:                      False   LL-Null:                       -663.67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LLR p-value:                 2.542e-07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 -9.0970      0.037   -242.795      0.000      -9.170      -9.024</a:t>
            </a:r>
          </a:p>
          <a:p>
            <a:pPr>
              <a:defRPr sz="700">
                <a:latin typeface="Consolas"/>
              </a:defRPr>
            </a:pPr>
            <a:r>
              <a:t>T              0.0083      0.002      4.638      0.000       0.005       0.012</a:t>
            </a:r>
          </a:p>
          <a:p>
            <a:pPr>
              <a:defRPr sz="700">
                <a:latin typeface="Consolas"/>
              </a:defRPr>
            </a:pPr>
            <a:r>
              <a:t>X_t           -0.1427      0.054     -2.633      0.008      -0.249      -0.036</a:t>
            </a:r>
          </a:p>
          <a:p>
            <a:pPr>
              <a:defRPr sz="700">
                <a:latin typeface="Consolas"/>
              </a:defRPr>
            </a:pPr>
            <a:r>
              <a:t>post_time     -0.0042      0.002     -1.768      0.077      -0.009       0.000</a:t>
            </a:r>
          </a:p>
          <a:p>
            <a:pPr>
              <a:defRPr sz="700">
                <a:latin typeface="Consolas"/>
              </a:defRPr>
            </a:pPr>
            <a:r>
              <a:t>alpha          0.0133      0.002      6.096      0.000       0.009       0.018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7400" y="6118000"/>
            <a:ext cx="4376198" cy="5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00">
                <a:latin typeface="Aptos"/>
              </a:defRPr>
            </a:pPr>
            <a:r>
              <a:t>Codes in aggregation: 93224, 93226, 0295T, 0297T, 93241, 93243, 93245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1274</Words>
  <Application>Microsoft Office PowerPoint</Application>
  <PresentationFormat>Widescreen</PresentationFormat>
  <Paragraphs>164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David</dc:creator>
  <cp:keywords/>
  <dc:description>generated using python-pptx</dc:description>
  <cp:lastModifiedBy>David Izrailov</cp:lastModifiedBy>
  <cp:revision>4</cp:revision>
  <dcterms:created xsi:type="dcterms:W3CDTF">2013-01-27T09:14:16Z</dcterms:created>
  <dcterms:modified xsi:type="dcterms:W3CDTF">2026-05-18T02:55:36Z</dcterms:modified>
  <cp:category/>
</cp:coreProperties>
</file>