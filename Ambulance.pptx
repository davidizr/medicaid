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A0428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-25985.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    50982.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10:08:34   Pearson chi2:                 5.09e+04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-5.5751      0.001  -9291.778      0.000      -5.576      -5.574</a:t>
            </a:r>
          </a:p>
          <a:p>
            <a:pPr>
              <a:defRPr sz="800">
                <a:latin typeface="Consolas"/>
              </a:defRPr>
            </a:pPr>
            <a:r>
              <a:t>T             -0.0038   2.87e-05   -133.531      0.000      -0.004      -0.004</a:t>
            </a:r>
          </a:p>
          <a:p>
            <a:pPr>
              <a:defRPr sz="800">
                <a:latin typeface="Consolas"/>
              </a:defRPr>
            </a:pPr>
            <a:r>
              <a:t>X_t           -0.0912      0.001    -96.290      0.000      -0.093      -0.089</a:t>
            </a:r>
          </a:p>
          <a:p>
            <a:pPr>
              <a:defRPr sz="800">
                <a:latin typeface="Consolas"/>
              </a:defRPr>
            </a:pPr>
            <a:r>
              <a:t>post_time     -0.0020   4.53e-05    -43.107      0.000      -0.002      -0.002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A0428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 0.08792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10:08:34   Log-Likelihood:                -756.09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-828.98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2.155e-31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-5.5738      0.017   -327.726      0.000      -5.607      -5.540</a:t>
            </a:r>
          </a:p>
          <a:p>
            <a:pPr>
              <a:defRPr sz="800">
                <a:latin typeface="Consolas"/>
              </a:defRPr>
            </a:pPr>
            <a:r>
              <a:t>T             -0.0038      0.001     -4.697      0.000      -0.005      -0.002</a:t>
            </a:r>
          </a:p>
          <a:p>
            <a:pPr>
              <a:defRPr sz="800">
                <a:latin typeface="Consolas"/>
              </a:defRPr>
            </a:pPr>
            <a:r>
              <a:t>X_t           -0.0934      0.026     -3.637      0.000      -0.144      -0.043</a:t>
            </a:r>
          </a:p>
          <a:p>
            <a:pPr>
              <a:defRPr sz="800">
                <a:latin typeface="Consolas"/>
              </a:defRPr>
            </a:pPr>
            <a:r>
              <a:t>post_time     -0.0019      0.001     -1.537      0.124      -0.004       0.001</a:t>
            </a:r>
          </a:p>
          <a:p>
            <a:pPr>
              <a:defRPr sz="800">
                <a:latin typeface="Consolas"/>
              </a:defRPr>
            </a:pPr>
            <a:r>
              <a:t>alpha          0.0028      0.000      5.868      0.000       0.002       0.004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A0428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361.00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370.74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335.57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297.53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264.70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259.07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360.61–361.39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370.34–371.14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335.15–335.99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297.21–297.86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264.40–265.00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258.78–259.36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A0429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-77669.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1.5433e+05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10:08:35   Pearson chi2:                 1.58e+05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-5.4650      0.001  -9858.036      0.000      -5.466      -5.464</a:t>
            </a:r>
          </a:p>
          <a:p>
            <a:pPr>
              <a:defRPr sz="800">
                <a:latin typeface="Consolas"/>
              </a:defRPr>
            </a:pPr>
            <a:r>
              <a:t>T              0.0016   2.58e-05     60.456      0.000       0.002       0.002</a:t>
            </a:r>
          </a:p>
          <a:p>
            <a:pPr>
              <a:defRPr sz="800">
                <a:latin typeface="Consolas"/>
              </a:defRPr>
            </a:pPr>
            <a:r>
              <a:t>X_t           -0.0544      0.001    -68.300      0.000      -0.056      -0.053</a:t>
            </a:r>
          </a:p>
          <a:p>
            <a:pPr>
              <a:defRPr sz="800">
                <a:latin typeface="Consolas"/>
              </a:defRPr>
            </a:pPr>
            <a:r>
              <a:t>post_time      0.0007   3.77e-05     18.052      0.000       0.001       0.001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A0429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0.003295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10:08:35   Log-Likelihood:                -808.15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-810.82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 0.1483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-5.4695      0.026   -211.242      0.000      -5.520      -5.419</a:t>
            </a:r>
          </a:p>
          <a:p>
            <a:pPr>
              <a:defRPr sz="800">
                <a:latin typeface="Consolas"/>
              </a:defRPr>
            </a:pPr>
            <a:r>
              <a:t>T              0.0020      0.001      1.575      0.115      -0.000       0.004</a:t>
            </a:r>
          </a:p>
          <a:p>
            <a:pPr>
              <a:defRPr sz="800">
                <a:latin typeface="Consolas"/>
              </a:defRPr>
            </a:pPr>
            <a:r>
              <a:t>X_t           -0.0648      0.039     -1.657      0.097      -0.141       0.012</a:t>
            </a:r>
          </a:p>
          <a:p>
            <a:pPr>
              <a:defRPr sz="800">
                <a:latin typeface="Consolas"/>
              </a:defRPr>
            </a:pPr>
            <a:r>
              <a:t>post_time      0.0003      0.002      0.158      0.874      -0.003       0.004</a:t>
            </a:r>
          </a:p>
          <a:p>
            <a:pPr>
              <a:defRPr sz="800">
                <a:latin typeface="Consolas"/>
              </a:defRPr>
            </a:pPr>
            <a:r>
              <a:t>alpha          0.0063      0.001      5.877      0.000       0.004       0.008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A0429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405.04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470.20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439.78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427.30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441.25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449.50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404.63–405.46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469.75–470.64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439.30–440.27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426.91–427.69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440.86–441.64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449.11–449.88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A0426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-61132.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1.2144e+05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10:08:35   Pearson chi2:                 1.21e+05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-6.7967      0.001  -5332.454      0.000      -6.799      -6.794</a:t>
            </a:r>
          </a:p>
          <a:p>
            <a:pPr>
              <a:defRPr sz="800">
                <a:latin typeface="Consolas"/>
              </a:defRPr>
            </a:pPr>
            <a:r>
              <a:t>T             -0.0386   7.49e-05   -515.816      0.000      -0.039      -0.038</a:t>
            </a:r>
          </a:p>
          <a:p>
            <a:pPr>
              <a:defRPr sz="800">
                <a:latin typeface="Consolas"/>
              </a:defRPr>
            </a:pPr>
            <a:r>
              <a:t>X_t           -0.3496      0.003   -102.648      0.000      -0.356      -0.343</a:t>
            </a:r>
          </a:p>
          <a:p>
            <a:pPr>
              <a:defRPr sz="800">
                <a:latin typeface="Consolas"/>
              </a:defRPr>
            </a:pPr>
            <a:r>
              <a:t>post_time      0.0299      0.000    184.765      0.000       0.030       0.030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A0426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  0.1170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10:08:36   Log-Likelihood:                -688.92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-780.24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2.373e-39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-6.7168      0.069    -97.055      0.000      -6.852      -6.581</a:t>
            </a:r>
          </a:p>
          <a:p>
            <a:pPr>
              <a:defRPr sz="800">
                <a:latin typeface="Consolas"/>
              </a:defRPr>
            </a:pPr>
            <a:r>
              <a:t>T             -0.0434      0.003    -12.916      0.000      -0.050      -0.037</a:t>
            </a:r>
          </a:p>
          <a:p>
            <a:pPr>
              <a:defRPr sz="800">
                <a:latin typeface="Consolas"/>
              </a:defRPr>
            </a:pPr>
            <a:r>
              <a:t>X_t           -0.2558      0.102     -2.505      0.012      -0.456      -0.056</a:t>
            </a:r>
          </a:p>
          <a:p>
            <a:pPr>
              <a:defRPr sz="800">
                <a:latin typeface="Consolas"/>
              </a:defRPr>
            </a:pPr>
            <a:r>
              <a:t>post_time      0.0350      0.005      7.210      0.000       0.026       0.045</a:t>
            </a:r>
          </a:p>
          <a:p>
            <a:pPr>
              <a:defRPr sz="800">
                <a:latin typeface="Consolas"/>
              </a:defRPr>
            </a:pPr>
            <a:r>
              <a:t>alpha          0.0426      0.007      5.911      0.000       0.028       0.057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A0426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92.40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58.17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34.43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18.64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15.27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15.18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92.20–92.60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58.01–58.33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34.29–34.56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18.56–18.73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15.20–15.34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15.11–15.25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A0427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-41367.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    81716.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10:08:36   Pearson chi2:                 8.13e+04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-5.2959      0.001  -1.03e+04      0.000      -5.297      -5.295</a:t>
            </a:r>
          </a:p>
          <a:p>
            <a:pPr>
              <a:defRPr sz="800">
                <a:latin typeface="Consolas"/>
              </a:defRPr>
            </a:pPr>
            <a:r>
              <a:t>T             -0.0002   2.41e-05     -9.329      0.000      -0.000      -0.000</a:t>
            </a:r>
          </a:p>
          <a:p>
            <a:pPr>
              <a:defRPr sz="800">
                <a:latin typeface="Consolas"/>
              </a:defRPr>
            </a:pPr>
            <a:r>
              <a:t>X_t           -0.0130      0.001    -17.177      0.000      -0.014      -0.011</a:t>
            </a:r>
          </a:p>
          <a:p>
            <a:pPr>
              <a:defRPr sz="800">
                <a:latin typeface="Consolas"/>
              </a:defRPr>
            </a:pPr>
            <a:r>
              <a:t>post_time     -0.0025    3.6e-05    -68.518      0.000      -0.003      -0.002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A0427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 0.01680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10:08:36   Log-Likelihood:                -788.67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-802.14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6.035e-06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-5.2972      0.018   -302.336      0.000      -5.332      -5.263</a:t>
            </a:r>
          </a:p>
          <a:p>
            <a:pPr>
              <a:defRPr sz="800">
                <a:latin typeface="Consolas"/>
              </a:defRPr>
            </a:pPr>
            <a:r>
              <a:t>T          -6.529e-05      0.001     -0.078      0.938      -0.002       0.002</a:t>
            </a:r>
          </a:p>
          <a:p>
            <a:pPr>
              <a:defRPr sz="800">
                <a:latin typeface="Consolas"/>
              </a:defRPr>
            </a:pPr>
            <a:r>
              <a:t>X_t           -0.0172      0.027     -0.650      0.516      -0.069       0.035</a:t>
            </a:r>
          </a:p>
          <a:p>
            <a:pPr>
              <a:defRPr sz="800">
                <a:latin typeface="Consolas"/>
              </a:defRPr>
            </a:pPr>
            <a:r>
              <a:t>post_time     -0.0026      0.001     -2.075      0.038      -0.005      -0.000</a:t>
            </a:r>
          </a:p>
          <a:p>
            <a:pPr>
              <a:defRPr sz="800">
                <a:latin typeface="Consolas"/>
              </a:defRPr>
            </a:pPr>
            <a:r>
              <a:t>alpha          0.0029      0.001      5.872      0.000       0.002       0.004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A0427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483.25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525.04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497.44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485.84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460.71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456.72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482.80–483.70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524.56–525.51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496.92–497.95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485.42–486.27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460.31–461.10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456.33–457.11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A0433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-983.25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    1291.5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10:08:37   Pearson chi2:                 1.30e+03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-10.6413      0.007  -1508.760      0.000     -10.655     -10.627</a:t>
            </a:r>
          </a:p>
          <a:p>
            <a:pPr>
              <a:defRPr sz="800">
                <a:latin typeface="Consolas"/>
              </a:defRPr>
            </a:pPr>
            <a:r>
              <a:t>T              0.0113      0.000     36.097      0.000       0.011       0.012</a:t>
            </a:r>
          </a:p>
          <a:p>
            <a:pPr>
              <a:defRPr sz="800">
                <a:latin typeface="Consolas"/>
              </a:defRPr>
            </a:pPr>
            <a:r>
              <a:t>X_t            0.1217      0.009     13.865      0.000       0.105       0.139</a:t>
            </a:r>
          </a:p>
          <a:p>
            <a:pPr>
              <a:defRPr sz="800">
                <a:latin typeface="Consolas"/>
              </a:defRPr>
            </a:pPr>
            <a:r>
              <a:t>post_time     -0.0154      0.000    -35.723      0.000      -0.016      -0.015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A0433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  0.1030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10:08:37   Log-Likelihood:                -473.61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-527.99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2.022e-23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-10.6400      0.026   -404.970      0.000     -10.691     -10.588</a:t>
            </a:r>
          </a:p>
          <a:p>
            <a:pPr>
              <a:defRPr sz="800">
                <a:latin typeface="Consolas"/>
              </a:defRPr>
            </a:pPr>
            <a:r>
              <a:t>T              0.0112      0.001      8.999      0.000       0.009       0.014</a:t>
            </a:r>
          </a:p>
          <a:p>
            <a:pPr>
              <a:defRPr sz="800">
                <a:latin typeface="Consolas"/>
              </a:defRPr>
            </a:pPr>
            <a:r>
              <a:t>X_t            0.1222      0.039      3.095      0.002       0.045       0.200</a:t>
            </a:r>
          </a:p>
          <a:p>
            <a:pPr>
              <a:defRPr sz="800">
                <a:latin typeface="Consolas"/>
              </a:defRPr>
            </a:pPr>
            <a:r>
              <a:t>post_time     -0.0152      0.002     -8.109      0.000      -0.019      -0.012</a:t>
            </a:r>
          </a:p>
          <a:p>
            <a:pPr>
              <a:defRPr sz="800">
                <a:latin typeface="Consolas"/>
              </a:defRPr>
            </a:pPr>
            <a:r>
              <a:t>alpha          0.0063      0.001      5.546      0.000       0.004       0.009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A0433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2.49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2.99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3.31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4.05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3.74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3.67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2.46–2.53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2.95–3.02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3.26–3.35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4.01–4.09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3.71–3.78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3.63–3.70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A0434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-2.0012e+05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3.9943e+05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10:08:37   Pearson chi2:                 3.48e+05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-7.5583      0.002  -4322.336      0.000      -7.562      -7.555</a:t>
            </a:r>
          </a:p>
          <a:p>
            <a:pPr>
              <a:defRPr sz="800">
                <a:latin typeface="Consolas"/>
              </a:defRPr>
            </a:pPr>
            <a:r>
              <a:t>T             -0.0223   9.29e-05   -239.480      0.000      -0.022      -0.022</a:t>
            </a:r>
          </a:p>
          <a:p>
            <a:pPr>
              <a:defRPr sz="800">
                <a:latin typeface="Consolas"/>
              </a:defRPr>
            </a:pPr>
            <a:r>
              <a:t>X_t            0.1389      0.003     43.447      0.000       0.133       0.145</a:t>
            </a:r>
          </a:p>
          <a:p>
            <a:pPr>
              <a:defRPr sz="800">
                <a:latin typeface="Consolas"/>
              </a:defRPr>
            </a:pPr>
            <a:r>
              <a:t>post_time      0.0239      0.000    165.029      0.000       0.024       0.024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A0434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0.008732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10:08:37   Log-Likelihood:                -747.52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-754.11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0.004284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-7.5137      0.171    -43.916      0.000      -7.849      -7.178</a:t>
            </a:r>
          </a:p>
          <a:p>
            <a:pPr>
              <a:defRPr sz="800">
                <a:latin typeface="Consolas"/>
              </a:defRPr>
            </a:pPr>
            <a:r>
              <a:t>T             -0.0247      0.008     -2.974      0.003      -0.041      -0.008</a:t>
            </a:r>
          </a:p>
          <a:p>
            <a:pPr>
              <a:defRPr sz="800">
                <a:latin typeface="Consolas"/>
              </a:defRPr>
            </a:pPr>
            <a:r>
              <a:t>X_t            0.1813      0.256      0.707      0.479      -0.321       0.684</a:t>
            </a:r>
          </a:p>
          <a:p>
            <a:pPr>
              <a:defRPr sz="800">
                <a:latin typeface="Consolas"/>
              </a:defRPr>
            </a:pPr>
            <a:r>
              <a:t>post_time      0.0264      0.012      2.154      0.031       0.002       0.050</a:t>
            </a:r>
          </a:p>
          <a:p>
            <a:pPr>
              <a:defRPr sz="800">
                <a:latin typeface="Consolas"/>
              </a:defRPr>
            </a:pPr>
            <a:r>
              <a:t>alpha          0.2636      0.043      6.122      0.000       0.179       0.348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A0434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41.23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42.85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23.82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24.83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27.67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27.99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41.10–41.37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42.72–42.99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23.71–23.94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24.74–24.93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27.57–27.77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27.89–28.09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A0425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-3.7639e+05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7.5168e+05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10:08:38   Pearson chi2:                 7.69e+05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-4.0169      0.000  -1.48e+04      0.000      -4.017      -4.016</a:t>
            </a:r>
          </a:p>
          <a:p>
            <a:pPr>
              <a:defRPr sz="800">
                <a:latin typeface="Consolas"/>
              </a:defRPr>
            </a:pPr>
            <a:r>
              <a:t>T             -0.0009   1.28e-05    -68.240      0.000      -0.001      -0.001</a:t>
            </a:r>
          </a:p>
          <a:p>
            <a:pPr>
              <a:defRPr sz="800">
                <a:latin typeface="Consolas"/>
              </a:defRPr>
            </a:pPr>
            <a:r>
              <a:t>X_t           -0.1271      0.000   -311.311      0.000      -0.128      -0.126</a:t>
            </a:r>
          </a:p>
          <a:p>
            <a:pPr>
              <a:defRPr sz="800">
                <a:latin typeface="Consolas"/>
              </a:defRPr>
            </a:pPr>
            <a:r>
              <a:t>post_time      0.0045   1.92e-05    234.571      0.000       0.004       0.005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A0425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0.009879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10:08:38   Log-Likelihood:                -908.91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-917.98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0.0004119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-4.0188      0.029   -139.192      0.000      -4.075      -3.962</a:t>
            </a:r>
          </a:p>
          <a:p>
            <a:pPr>
              <a:defRPr sz="800">
                <a:latin typeface="Consolas"/>
              </a:defRPr>
            </a:pPr>
            <a:r>
              <a:t>T             -0.0006      0.001     -0.421      0.674      -0.003       0.002</a:t>
            </a:r>
          </a:p>
          <a:p>
            <a:pPr>
              <a:defRPr sz="800">
                <a:latin typeface="Consolas"/>
              </a:defRPr>
            </a:pPr>
            <a:r>
              <a:t>X_t           -0.1340      0.043     -3.089      0.002      -0.219      -0.049</a:t>
            </a:r>
          </a:p>
          <a:p>
            <a:pPr>
              <a:defRPr sz="800">
                <a:latin typeface="Consolas"/>
              </a:defRPr>
            </a:pPr>
            <a:r>
              <a:t>post_time      0.0041      0.002      1.999      0.046       8e-05       0.008</a:t>
            </a:r>
          </a:p>
          <a:p>
            <a:pPr>
              <a:defRPr sz="800">
                <a:latin typeface="Consolas"/>
              </a:defRPr>
            </a:pPr>
            <a:r>
              <a:t>alpha          0.0077      0.001      5.881      0.000       0.005       0.010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A0425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1675.06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1963.12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1726.19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1573.19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1609.47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1706.05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1674.22–1675.90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1962.20–1964.03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1725.23–1727.15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1572.44–1573.95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1608.73–1610.20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1705.30–1706.80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Ambulance Services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-4.8039e+05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Deviance:                   9.5963e+05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10:08:38   Pearson chi2:                 9.76e+05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-3.4119      0.000  -1.69e+04      0.000      -3.412      -3.412</a:t>
            </a:r>
          </a:p>
          <a:p>
            <a:pPr>
              <a:defRPr sz="800">
                <a:latin typeface="Consolas"/>
              </a:defRPr>
            </a:pPr>
            <a:r>
              <a:t>T             -0.0017   9.53e-06   -177.794      0.000      -0.002      -0.002</a:t>
            </a:r>
          </a:p>
          <a:p>
            <a:pPr>
              <a:defRPr sz="800">
                <a:latin typeface="Consolas"/>
              </a:defRPr>
            </a:pPr>
            <a:r>
              <a:t>X_t           -0.0883      0.000   -289.941      0.000      -0.089      -0.088</a:t>
            </a:r>
          </a:p>
          <a:p>
            <a:pPr>
              <a:defRPr sz="800">
                <a:latin typeface="Consolas"/>
              </a:defRPr>
            </a:pPr>
            <a:r>
              <a:t>post_time      0.0030   1.43e-05    208.191      0.000       0.003       0.003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30936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Aptos"/>
              </a:defRPr>
            </a:pPr>
            <a:r>
              <a:t>Codes in aggregation: A0428, A0429, A0426, A0427, A0433, A0434, A0425, A0430, A0431, A0422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Ambulance Services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Mon, 10 Aug 2026   Pseudo R-squ.:                 0.01458</a:t>
            </a:r>
          </a:p>
          <a:p>
            <a:pPr>
              <a:defRPr sz="800">
                <a:latin typeface="Consolas"/>
              </a:defRPr>
            </a:pPr>
            <a:r>
              <a:t>Time:                        10:08:39   Log-Likelihood:                -937.41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-951.28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4.113e-06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-3.4125      0.024   -140.743      0.000      -3.460      -3.365</a:t>
            </a:r>
          </a:p>
          <a:p>
            <a:pPr>
              <a:defRPr sz="800">
                <a:latin typeface="Consolas"/>
              </a:defRPr>
            </a:pPr>
            <a:r>
              <a:t>T             -0.0015      0.001     -1.299      0.194      -0.004       0.001</a:t>
            </a:r>
          </a:p>
          <a:p>
            <a:pPr>
              <a:defRPr sz="800">
                <a:latin typeface="Consolas"/>
              </a:defRPr>
            </a:pPr>
            <a:r>
              <a:t>X_t           -0.0932      0.037     -2.551      0.011      -0.165      -0.022</a:t>
            </a:r>
          </a:p>
          <a:p>
            <a:pPr>
              <a:defRPr sz="800">
                <a:latin typeface="Consolas"/>
              </a:defRPr>
            </a:pPr>
            <a:r>
              <a:t>post_time      0.0028      0.002      1.588      0.112      -0.001       0.006</a:t>
            </a:r>
          </a:p>
          <a:p>
            <a:pPr>
              <a:defRPr sz="800">
                <a:latin typeface="Consolas"/>
              </a:defRPr>
            </a:pPr>
            <a:r>
              <a:t>alpha          0.0055      0.001      5.879      0.000       0.004       0.007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30936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Aptos"/>
              </a:defRPr>
            </a:pPr>
            <a:r>
              <a:t>Codes in aggregation: A0428, A0429, A0426, A0427, A0433, A0434, A0425, A0430, A0431, A0422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Ambulance Services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 Codes in aggregation: A0428, A0429, A0426, A0427, A0433, A0434, A0425, A0430, A0431, A0422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3098.64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3471.96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3097.03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2869.12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2856.85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2950.19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3097.50–3099.78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3470.74–3473.18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3095.75–3098.32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2868.09–2870.14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2855.87–2857.83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2949.20–2951.18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